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4.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4aa5d378f0e4ace" /><Relationship Type="http://schemas.openxmlformats.org/officeDocument/2006/relationships/extended-properties" Target="/docProps/app.xml" Id="R65b0bef012224564" /><Relationship Type="http://schemas.openxmlformats.org/officeDocument/2006/relationships/officeDocument" Target="/ppt/presentation.xml" Id="R695e808683564500" /></Relationships>
</file>

<file path=ppt/presentation.xml><?xml version="1.0" encoding="utf-8"?>
<p:presentation xmlns:p="http://schemas.openxmlformats.org/presentationml/2006/main">
  <p:sldMasterIdLst>
    <p:sldMasterId xmlns:r="http://schemas.openxmlformats.org/officeDocument/2006/relationships" id="2147483648" r:id="Rcdf260ac51b14326"/>
  </p:sldMasterIdLst>
  <p:notesMasterIdLst>
    <p:notesMasterId xmlns:r="http://schemas.openxmlformats.org/officeDocument/2006/relationships" r:id="R24e29c83f1b44131"/>
  </p:notesMasterIdLst>
  <p:sldIdLst>
    <p:sldId xmlns:r="http://schemas.openxmlformats.org/officeDocument/2006/relationships" id="256" r:id="Ra997826042024c42"/>
    <p:sldId xmlns:r="http://schemas.openxmlformats.org/officeDocument/2006/relationships" id="257" r:id="R871c2015f3b34efa"/>
    <p:sldId xmlns:r="http://schemas.openxmlformats.org/officeDocument/2006/relationships" id="258" r:id="Rb5e7a20e01454033"/>
    <p:sldId xmlns:r="http://schemas.openxmlformats.org/officeDocument/2006/relationships" id="259" r:id="R516ab71c6c714e2c"/>
    <p:sldId xmlns:r="http://schemas.openxmlformats.org/officeDocument/2006/relationships" id="260" r:id="R5eb7d397784f4791"/>
    <p:sldId xmlns:r="http://schemas.openxmlformats.org/officeDocument/2006/relationships" id="261" r:id="Rb8f90ada27e54dbe"/>
    <p:sldId xmlns:r="http://schemas.openxmlformats.org/officeDocument/2006/relationships" id="262" r:id="Rf1a10ffaf59b4629"/>
    <p:sldId xmlns:r="http://schemas.openxmlformats.org/officeDocument/2006/relationships" id="263" r:id="R337b93ef1f734e1d"/>
    <p:sldId xmlns:r="http://schemas.openxmlformats.org/officeDocument/2006/relationships" id="264" r:id="R2ae4bcb003ce4001"/>
    <p:sldId xmlns:r="http://schemas.openxmlformats.org/officeDocument/2006/relationships" id="265" r:id="Re6128e6f074a49b0"/>
    <p:sldId xmlns:r="http://schemas.openxmlformats.org/officeDocument/2006/relationships" id="266" r:id="R64163286c7794f23"/>
    <p:sldId xmlns:r="http://schemas.openxmlformats.org/officeDocument/2006/relationships" id="267" r:id="Rcaa19f3d77af46f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59486639892409e" /><Relationship Type="http://schemas.openxmlformats.org/officeDocument/2006/relationships/slideMaster" Target="/ppt/slideMasters/slideMaster1.xml" Id="Rcdf260ac51b14326" /><Relationship Type="http://schemas.openxmlformats.org/officeDocument/2006/relationships/notesMaster" Target="/ppt/notesMasters/notesMaster1.xml" Id="R24e29c83f1b44131" /><Relationship Type="http://schemas.openxmlformats.org/officeDocument/2006/relationships/presProps" Target="/ppt/presProps.xml" Id="R5045e2a4445a4518" /><Relationship Type="http://schemas.openxmlformats.org/officeDocument/2006/relationships/tableStyles" Target="/ppt/tableStyles.xml" Id="Rc10cc56a8e8a438e" /><Relationship Type="http://schemas.openxmlformats.org/officeDocument/2006/relationships/slide" Target="/ppt/slides/slide1.xml" Id="Ra997826042024c42" /><Relationship Type="http://schemas.openxmlformats.org/officeDocument/2006/relationships/slide" Target="/ppt/slides/slide2.xml" Id="R871c2015f3b34efa" /><Relationship Type="http://schemas.openxmlformats.org/officeDocument/2006/relationships/slide" Target="/ppt/slides/slide3.xml" Id="Rb5e7a20e01454033" /><Relationship Type="http://schemas.openxmlformats.org/officeDocument/2006/relationships/slide" Target="/ppt/slides/slide4.xml" Id="R516ab71c6c714e2c" /><Relationship Type="http://schemas.openxmlformats.org/officeDocument/2006/relationships/slide" Target="/ppt/slides/slide5.xml" Id="R5eb7d397784f4791" /><Relationship Type="http://schemas.openxmlformats.org/officeDocument/2006/relationships/slide" Target="/ppt/slides/slide6.xml" Id="Rb8f90ada27e54dbe" /><Relationship Type="http://schemas.openxmlformats.org/officeDocument/2006/relationships/slide" Target="/ppt/slides/slide7.xml" Id="Rf1a10ffaf59b4629" /><Relationship Type="http://schemas.openxmlformats.org/officeDocument/2006/relationships/slide" Target="/ppt/slides/slide8.xml" Id="R337b93ef1f734e1d" /><Relationship Type="http://schemas.openxmlformats.org/officeDocument/2006/relationships/slide" Target="/ppt/slides/slide9.xml" Id="R2ae4bcb003ce4001" /><Relationship Type="http://schemas.openxmlformats.org/officeDocument/2006/relationships/slide" Target="/ppt/slides/slide10.xml" Id="Re6128e6f074a49b0" /><Relationship Type="http://schemas.openxmlformats.org/officeDocument/2006/relationships/slide" Target="/ppt/slides/slide11.xml" Id="R64163286c7794f23" /><Relationship Type="http://schemas.openxmlformats.org/officeDocument/2006/relationships/slide" Target="/ppt/slides/slide12.xml" Id="Rcaa19f3d77af46f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dccc3cbaf48435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aab49a418ed4520" /><Relationship Type="http://schemas.openxmlformats.org/officeDocument/2006/relationships/notesMaster" Target="/ppt/notesMasters/notesMaster1.xml" Id="Rfb737ad81987469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79310b626f047ea" /><Relationship Type="http://schemas.openxmlformats.org/officeDocument/2006/relationships/notesMaster" Target="/ppt/notesMasters/notesMaster1.xml" Id="R8d56e6adcc1f483c" /></Relationships>
</file>

<file path=ppt/notesSlides/_rels/notesSlide3.xml.rels>&#65279;<?xml version="1.0" encoding="utf-8"?><Relationships xmlns="http://schemas.openxmlformats.org/package/2006/relationships"><Relationship Type="http://schemas.openxmlformats.org/officeDocument/2006/relationships/slide" Target="/ppt/slides/slide3.xml" Id="Rd684173cc87e4e7a" /><Relationship Type="http://schemas.openxmlformats.org/officeDocument/2006/relationships/notesMaster" Target="/ppt/notesMasters/notesMaster1.xml" Id="R9c753bc40e9c4253" /></Relationships>
</file>

<file path=ppt/notesSlides/_rels/notesSlide4.xml.rels>&#65279;<?xml version="1.0" encoding="utf-8"?><Relationships xmlns="http://schemas.openxmlformats.org/package/2006/relationships"><Relationship Type="http://schemas.openxmlformats.org/officeDocument/2006/relationships/slide" Target="/ppt/slides/slide4.xml" Id="Ra608ce696e6d4d1e" /><Relationship Type="http://schemas.openxmlformats.org/officeDocument/2006/relationships/notesMaster" Target="/ppt/notesMasters/notesMaster1.xml" Id="Rc4b0f895d54d4070" /></Relationships>
</file>

<file path=ppt/notesSlides/_rels/notesSlide5.xml.rels>&#65279;<?xml version="1.0" encoding="utf-8"?><Relationships xmlns="http://schemas.openxmlformats.org/package/2006/relationships"><Relationship Type="http://schemas.openxmlformats.org/officeDocument/2006/relationships/slide" Target="/ppt/slides/slide5.xml" Id="R1458051d8668417c" /><Relationship Type="http://schemas.openxmlformats.org/officeDocument/2006/relationships/notesMaster" Target="/ppt/notesMasters/notesMaster1.xml" Id="R0d83cf74c272401f" /></Relationships>
</file>

<file path=ppt/notesSlides/_rels/notesSlide6.xml.rels>&#65279;<?xml version="1.0" encoding="utf-8"?><Relationships xmlns="http://schemas.openxmlformats.org/package/2006/relationships"><Relationship Type="http://schemas.openxmlformats.org/officeDocument/2006/relationships/slide" Target="/ppt/slides/slide6.xml" Id="Re820ac25b5464df6" /><Relationship Type="http://schemas.openxmlformats.org/officeDocument/2006/relationships/notesMaster" Target="/ppt/notesMasters/notesMaster1.xml" Id="Rb1118b76c62a4b88" /></Relationships>
</file>

<file path=ppt/notesSlides/_rels/notesSlide7.xml.rels>&#65279;<?xml version="1.0" encoding="utf-8"?><Relationships xmlns="http://schemas.openxmlformats.org/package/2006/relationships"><Relationship Type="http://schemas.openxmlformats.org/officeDocument/2006/relationships/slide" Target="/ppt/slides/slide7.xml" Id="R4178e5ea5c7e4157" /><Relationship Type="http://schemas.openxmlformats.org/officeDocument/2006/relationships/notesMaster" Target="/ppt/notesMasters/notesMaster1.xml" Id="Rcc584ec1f6ad4b75" /></Relationships>
</file>

<file path=ppt/notesSlides/_rels/notesSlide8.xml.rels>&#65279;<?xml version="1.0" encoding="utf-8"?><Relationships xmlns="http://schemas.openxmlformats.org/package/2006/relationships"><Relationship Type="http://schemas.openxmlformats.org/officeDocument/2006/relationships/slide" Target="/ppt/slides/slide8.xml" Id="R1b24504062194ea3" /><Relationship Type="http://schemas.openxmlformats.org/officeDocument/2006/relationships/notesMaster" Target="/ppt/notesMasters/notesMaster1.xml" Id="Rf2418183ead945a4" /></Relationships>
</file>

<file path=ppt/notesSlides/_rels/notesSlide9.xml.rels>&#65279;<?xml version="1.0" encoding="utf-8"?><Relationships xmlns="http://schemas.openxmlformats.org/package/2006/relationships"><Relationship Type="http://schemas.openxmlformats.org/officeDocument/2006/relationships/slide" Target="/ppt/slides/slide9.xml" Id="R2ed34371543e433d" /><Relationship Type="http://schemas.openxmlformats.org/officeDocument/2006/relationships/notesMaster" Target="/ppt/notesMasters/notesMaster1.xml" Id="R6763ea16c254420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6774c2230144685" /><Relationship Type="http://schemas.openxmlformats.org/officeDocument/2006/relationships/notesMaster" Target="/ppt/notesMasters/notesMaster1.xml" Id="Rf766d5196f5f426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67ddd6d39e64689" /><Relationship Type="http://schemas.openxmlformats.org/officeDocument/2006/relationships/notesMaster" Target="/ppt/notesMasters/notesMaster1.xml" Id="R24f8411680e0403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4ba070ead4c46fe" /><Relationship Type="http://schemas.openxmlformats.org/officeDocument/2006/relationships/notesMaster" Target="/ppt/notesMasters/notesMaster1.xml" Id="Rd7c158f5a36f42b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giây. Nhóm Lương Công Hoàng Duy và Lê Nguyễn Gia Bảo. Đề tài Titanic với dữ liệu Kaggle 891 dòng. Bài A2 chỉ Pandas và trực quan hóa. Bìa là minh họa AI được giữ từ thiết kế cũ, không phải ảnh tư liệu.</a:t>
            </a:r>
          </a:p>
          <a:p xmlns:a="http://schemas.openxmlformats.org/drawingml/2006/main">
            <a:r>
              <a:t/>
            </a:r>
          </a:p>
          <a:p xmlns:a="http://schemas.openxmlformats.org/drawingml/2006/main">
            <a:r>
              <a:t>Nguồn: Kaggle Titanic train.csv, 891 dòng × 12 cột. https://www.kaggle.com/competitions/titanic/data . Điều kiện sử dụng: https://www.kaggle.com/competitions/titanic/rules . Bản CSV đã có trên máy, không khai báo tải trực tiếp trong lần sửa. SHA256: 4a437fde05fe5264e1701a7387ac6fb75393772ba38bb2c9c566405af5af4bd7. Đối chiếu notebook A2-02_Titanic_Kaggle891.ipynb. Chỉ EDA, không mô hình học máy.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giây. Nêu đúng ba câu hỏi theo đề. Câu một khảo sát các yếu tố. Câu hai kiểm tra giả thuyết phụ nữ và trẻ em trước. Câu ba dùng bảng chéo giới tính × hạng vé. Chữ ảnh hưởng trong đề không cho phép khẳng định nhân quả chỉ từ tỷ lệ mô tả.</a:t>
            </a:r>
          </a:p>
          <a:p xmlns:a="http://schemas.openxmlformats.org/drawingml/2006/main">
            <a:r>
              <a:t/>
            </a:r>
          </a:p>
          <a:p xmlns:a="http://schemas.openxmlformats.org/drawingml/2006/main">
            <a:r>
              <a:t>Nguồn: Kaggle Titanic train.csv, 891 dòng × 12 cột. https://www.kaggle.com/competitions/titanic/data . Điều kiện sử dụng: https://www.kaggle.com/competitions/titanic/rules . Bản CSV đã có trên máy, không khai báo tải trực tiếp trong lần sửa. SHA256: 4a437fde05fe5264e1701a7387ac6fb75393772ba38bb2c9c566405af5af4bd7. Đối chiếu notebook A2-02_Titanic_Kaggle891.ipynb. Chỉ EDA, không mô hình học máy.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giây. Đây là bản Kaggle 891, không còn dùng OpenML. Khảo sát shape/info/describe/isna. Giữ tất cả 891 hồ sơ. Đổi tên cột chữ thường, chuẩn hóa nhãn. Cabin thiếu 687, bỏ khỏi bảng phân tích. Bỏ thêm PassengerId, Name, Ticket, thêm family_size và age_group thành10cột. Giá vé trên65,6344 có116 dòng nhưng chưa có bằng chứng sai nên không xóa.15giá vé0 không phải thiếu. Embarked thiếu2 giữ nguyên vì không dùng trả lời3câu. Tuổi thiếu177, so sánh3chiến lược ở phụ lục.</a:t>
            </a:r>
          </a:p>
          <a:p xmlns:a="http://schemas.openxmlformats.org/drawingml/2006/main">
            <a:r>
              <a:t/>
            </a:r>
          </a:p>
          <a:p xmlns:a="http://schemas.openxmlformats.org/drawingml/2006/main">
            <a:r>
              <a:t>Nguồn: Kaggle Titanic train.csv, 891 dòng × 12 cột. https://www.kaggle.com/competitions/titanic/data . Điều kiện sử dụng: https://www.kaggle.com/competitions/titanic/rules . Bản CSV đã có trên máy, không khai báo tải trực tiếp trong lần sửa. SHA256: 4a437fde05fe5264e1701a7387ac6fb75393772ba38bb2c9c566405af5af4bd7. Đối chiếu notebook A2-02_Titanic_Kaggle891.ipynb. Chỉ EDA, không mô hình học máy.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giây. Câu1: nữ233/314=74,2%, nam109/577=18,9%, chênh55,3điểm%. Hạng vé1/2/3 là136/216=63%,87/184=47,3%,119/491=24,2%. Tuổi và gia đình cũng có khác biệt. Không xếp hạng tác động độc lập từ các phép so sánh đơn biến. Bảng hạng vé chi tiết ở phụ lục.</a:t>
            </a:r>
          </a:p>
          <a:p xmlns:a="http://schemas.openxmlformats.org/drawingml/2006/main">
            <a:r>
              <a:t/>
            </a:r>
          </a:p>
          <a:p xmlns:a="http://schemas.openxmlformats.org/drawingml/2006/main">
            <a:r>
              <a:t>Nguồn: Kaggle Titanic train.csv, 891 dòng × 12 cột. https://www.kaggle.com/competitions/titanic/data . Điều kiện sử dụng: https://www.kaggle.com/competitions/titanic/rules . Bản CSV đã có trên máy, không khai báo tải trực tiếp trong lần sửa. SHA256: 4a437fde05fe5264e1701a7387ac6fb75393772ba38bb2c9c566405af5af4bd7. Đối chiếu notebook A2-02_Titanic_Kaggle891.ipynb. Chỉ EDA, không mô hình học máy.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giây. Quy mô2,3,4 có tỷ lệ55,3%,57,8%,72,4%, cao hơn đi một mình30,4%. Nhưng quy mô5giảm20%, nên không phải càng đông càng tốt. Nhóm4 có65,5%nữ so với23,5%ở nhóm đơn. Nhóm5có80%hạng3 so với31%ở nhóm4. Khác thành phần gợi ý diễn giải, chưa giải thích toàn bộ chênh lệch. Family_size tínhSibSp+Parch+1, không nhận diện các gia đình độc lập. Quy mô8n6 và11n7 không vẽ theo ngưỡngn10, không bị xóa khỏi dữ liệu.</a:t>
            </a:r>
          </a:p>
          <a:p xmlns:a="http://schemas.openxmlformats.org/drawingml/2006/main">
            <a:r>
              <a:t/>
            </a:r>
          </a:p>
          <a:p xmlns:a="http://schemas.openxmlformats.org/drawingml/2006/main">
            <a:r>
              <a:t>Nguồn: Kaggle Titanic train.csv, 891 dòng × 12 cột. https://www.kaggle.com/competitions/titanic/data . Điều kiện sử dụng: https://www.kaggle.com/competitions/titanic/rules . Bản CSV đã có trên máy, không khai báo tải trực tiếp trong lần sửa. SHA256: 4a437fde05fe5264e1701a7387ac6fb75393772ba38bb2c9c566405af5af4bd7. Đối chiếu notebook A2-02_Titanic_Kaggle891.ipynb. Chỉ EDA, không mô hình học máy.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giây. Trong714tuổi quan sát, ≤12là40/69=58%, &gt;12là250/645=38,8%. Trong nam, trẻ21/37=56,8% so với72/416=17,3%. Trong nữ, trẻ19/32=59,4% thấp hơn178/229=77,7%. Vì vậy giả thuyết phụ nữ và trẻ em trước có hỗ trợ mô tả khi so sánh gộp, không đồng hướng ở mọi giới. Không có trình tự sơ tán để xác nhận ưu tiên thực tế. &gt;12vẫn gồm thiếu niên. Thiếu177tuổi có thể làm thiên lệch mẫu; phân tích chính không điền tuổi.</a:t>
            </a:r>
          </a:p>
          <a:p xmlns:a="http://schemas.openxmlformats.org/drawingml/2006/main">
            <a:r>
              <a:t/>
            </a:r>
          </a:p>
          <a:p xmlns:a="http://schemas.openxmlformats.org/drawingml/2006/main">
            <a:r>
              <a:t>Nguồn: Kaggle Titanic train.csv, 891 dòng × 12 cột. https://www.kaggle.com/competitions/titanic/data . Điều kiện sử dụng: https://www.kaggle.com/competitions/titanic/rules . Bản CSV đã có trên máy, không khai báo tải trực tiếp trong lần sửa. SHA256: 4a437fde05fe5264e1701a7387ac6fb75393772ba38bb2c9c566405af5af4bd7. Đối chiếu notebook A2-02_Titanic_Kaggle891.ipynb. Chỉ EDA, không mô hình học máy.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giây. So sánh theo hàng để giữ cùng giới. Hạng1 cao hơn3 trong cả nữ96,8%so50% và nam36,9%so13,5%. Chênh lệch hạng vé không biến mất khi chia giới, nên không chỉ là khác biệt giới ở mẫu gộp. Tuy nhiên chưa loại hết tuổi, vị trí, các yếu tố không quan sát. Bảng chéo không chứng minh độc lập thống kê toàn phần hoặc tác động nhân quả độc lập. Cũng chưa xác định biến trung gian; cần cơ chế và thứ tự nhân quả. Bài A2 không thực hiện mô hình nhân quả.</a:t>
            </a:r>
          </a:p>
          <a:p xmlns:a="http://schemas.openxmlformats.org/drawingml/2006/main">
            <a:r>
              <a:t/>
            </a:r>
          </a:p>
          <a:p xmlns:a="http://schemas.openxmlformats.org/drawingml/2006/main">
            <a:r>
              <a:t>Nguồn: Kaggle Titanic train.csv, 891 dòng × 12 cột. https://www.kaggle.com/competitions/titanic/data . Điều kiện sử dụng: https://www.kaggle.com/competitions/titanic/rules . Bản CSV đã có trên máy, không khai báo tải trực tiếp trong lần sửa. SHA256: 4a437fde05fe5264e1701a7387ac6fb75393772ba38bb2c9c566405af5af4bd7. Đối chiếu notebook A2-02_Titanic_Kaggle891.ipynb. Chỉ EDA, không mô hình học máy.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giây. Chốt3nhận định theo đúng3câu hỏi. Nhận định1nhiều yếu tố có liên hệ; nhận định2giả thuyết chỉ được hỗ trợ một phần; nhận định3liên hệ hạng vé còn sau phân tầng nhưng chưa có kết luận nhân quả/trung gian. Mỗi nhận định có số liệu và giới hạn trên slide.</a:t>
            </a:r>
          </a:p>
          <a:p xmlns:a="http://schemas.openxmlformats.org/drawingml/2006/main">
            <a:r>
              <a:t/>
            </a:r>
          </a:p>
          <a:p xmlns:a="http://schemas.openxmlformats.org/drawingml/2006/main">
            <a:r>
              <a:t>Nguồn: Kaggle Titanic train.csv, 891 dòng × 12 cột. https://www.kaggle.com/competitions/titanic/data . Điều kiện sử dụng: https://www.kaggle.com/competitions/titanic/rules . Bản CSV đã có trên máy, không khai báo tải trực tiếp trong lần sửa. SHA256: 4a437fde05fe5264e1701a7387ac6fb75393772ba38bb2c9c566405af5af4bd7. Đối chiếu notebook A2-02_Titanic_Kaggle891.ipynb. Chỉ EDA, không mô hình học máy.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giây. Tỷ lệ công việc Duy60/Bảo40. Codex hỗ trợ mã và soạn thảo, không là nguồn dữ liệu. Notebook đã chạy11ô mã trong kernel mới,0lỗi,14nhómassert,9biểu đồ. Hai thành viên cần tự chạy, hiểu và giải thích. Chuẩn bị5phút trình bày và2phút hỏi đáp cho mỗi sinh viên theo quy định lớp. Repo: https://github.com/hoangduydz/CNTT219-LuongCongHoangDuy/tree/main/A2</a:t>
            </a:r>
          </a:p>
          <a:p xmlns:a="http://schemas.openxmlformats.org/drawingml/2006/main">
            <a:r>
              <a:t/>
            </a:r>
          </a:p>
          <a:p xmlns:a="http://schemas.openxmlformats.org/drawingml/2006/main">
            <a:r>
              <a:t>Nguồn: Kaggle Titanic train.csv, 891 dòng × 12 cột. https://www.kaggle.com/competitions/titanic/data . Điều kiện sử dụng: https://www.kaggle.com/competitions/titanic/rules . Bản CSV đã có trên máy, không khai báo tải trực tiếp trong lần sửa. SHA256: 4a437fde05fe5264e1701a7387ac6fb75393772ba38bb2c9c566405af5af4bd7. Đối chiếu notebook A2-02_Titanic_Kaggle891.ipynb. Chỉ EDA, không mô hình học máy.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Phụ lục chỉ dùng hỏi đáp. Hạng1/2/3 tỷ lệ63%,47,3%,24,2%. Tổng891người. Giá vé trung vị hạng1/2/3 là60,2875;14,25;8,05. Giá vé không đo đầy đủ thu nhập; không biến tương quan hạng vé thành khẳng định nguyên nhân.</a:t>
            </a:r>
          </a:p>
          <a:p xmlns:a="http://schemas.openxmlformats.org/drawingml/2006/main">
            <a:r>
              <a:t/>
            </a:r>
          </a:p>
          <a:p xmlns:a="http://schemas.openxmlformats.org/drawingml/2006/main">
            <a:r>
              <a:t>Nguồn: Kaggle Titanic train.csv, 891 dòng × 12 cột. https://www.kaggle.com/competitions/titanic/data . Điều kiện sử dụng: https://www.kaggle.com/competitions/titanic/rules . Bản CSV đã có trên máy, không khai báo tải trực tiếp trong lần sửa. SHA256: 4a437fde05fe5264e1701a7387ac6fb75393772ba38bb2c9c566405af5af4bd7. Đối chiếu notebook A2-02_Titanic_Kaggle891.ipynb. Chỉ EDA, không mô hình học máy.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Phụ lục hỏi đáp. A714tuổi quan sát, không điền. B điền177bằngtrungvị28. C điền theo giới×hạng. Trung vị nhóm đều&gt;12nên trẻgiữ69nhưng&gt;12tăng645→822vàsốsống250→302. Tỷ lệ&gt;12thành36,7%. Không suy ra tất cả thiếu tuổi thực sự&gt;12. Độ lệch chuẩn giảm không có nghĩa chính xác hơn. Không dùngSurvivedđể điền tuổi.</a:t>
            </a:r>
          </a:p>
          <a:p xmlns:a="http://schemas.openxmlformats.org/drawingml/2006/main">
            <a:r>
              <a:t/>
            </a:r>
          </a:p>
          <a:p xmlns:a="http://schemas.openxmlformats.org/drawingml/2006/main">
            <a:r>
              <a:t>Nguồn: Kaggle Titanic train.csv, 891 dòng × 12 cột. https://www.kaggle.com/competitions/titanic/data . Điều kiện sử dụng: https://www.kaggle.com/competitions/titanic/rules . Bản CSV đã có trên máy, không khai báo tải trực tiếp trong lần sửa. SHA256: 4a437fde05fe5264e1701a7387ac6fb75393772ba38bb2c9c566405af5af4bd7. Đối chiếu notebook A2-02_Titanic_Kaggle891.ipynb. Chỉ EDA, không mô hình học máy.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Phụ lục hỏi đáp. Không trả lời rằng4người tự gây khả năng sống cao. Nhóm4n29nhỏ, nữ65,5%,hạng331%; nhóm1n537nữ23,5%; nhóm5n15hạng380%. Dữ liệu không đo trực tiếp hỗ trợ, phối hợp, đường thoát nạn. Chỉ gọi các cơ chế đó là giả thuyết chưa kiểm chứng nếu bị hỏi. Quy mô4không phải sốgiađình, không phải quy mô tối ưu cho chuyến tàu khác.</a:t>
            </a:r>
          </a:p>
          <a:p xmlns:a="http://schemas.openxmlformats.org/drawingml/2006/main">
            <a:r>
              <a:t/>
            </a:r>
          </a:p>
          <a:p xmlns:a="http://schemas.openxmlformats.org/drawingml/2006/main">
            <a:r>
              <a:t>Nguồn: Kaggle Titanic train.csv, 891 dòng × 12 cột. https://www.kaggle.com/competitions/titanic/data . Điều kiện sử dụng: https://www.kaggle.com/competitions/titanic/rules . Bản CSV đã có trên máy, không khai báo tải trực tiếp trong lần sửa. SHA256: 4a437fde05fe5264e1701a7387ac6fb75393772ba38bb2c9c566405af5af4bd7. Đối chiếu notebook A2-02_Titanic_Kaggle891.ipynb. Chỉ EDA, không mô hình học máy.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137152b5e7e4bb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0a2ccb89aaf495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d0469ea9c5340b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61c48f088934ab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cf63aaa57824c1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81acedb988c4cc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9DF6A76-973E-40A1-8ECD-86F689F6BF9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13D0BC2-94B0-4F37-B2E1-07755F961E6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9575B5F-0AEA-4AD4-B6E8-3F877D2FFF4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2F5E73C-A480-4CBB-B3E1-1EF3759E85B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4AD7B7F-6A18-44CD-9C6A-2AB2A3934F1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42D286A-63E5-45E8-968C-699D24C17F2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62E7E47-D7A2-4CAC-A664-21021B38EFD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AE8E258-117F-41E7-8187-6F2A5C47D9F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3170B31-0D36-4784-AC7E-CE20606C3B3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6FE950B-18B3-40DF-9A16-16414AAE3C2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1bb23b711ca42fb" /><Relationship Type="http://schemas.openxmlformats.org/officeDocument/2006/relationships/slideLayout" Target="/ppt/slideLayouts/slideLayout1.xml" Id="Rfa97d7aab642482c" /><Relationship Type="http://schemas.openxmlformats.org/officeDocument/2006/relationships/slideLayout" Target="/ppt/slideLayouts/slideLayout2.xml" Id="R084bcf5362c943d5" /><Relationship Type="http://schemas.openxmlformats.org/officeDocument/2006/relationships/slideLayout" Target="/ppt/slideLayouts/slideLayout3.xml" Id="R407cc8f1e3ec4b26" /><Relationship Type="http://schemas.openxmlformats.org/officeDocument/2006/relationships/slideLayout" Target="/ppt/slideLayouts/slideLayout4.xml" Id="Rd07a525f1b50449d" /><Relationship Type="http://schemas.openxmlformats.org/officeDocument/2006/relationships/slideLayout" Target="/ppt/slideLayouts/slideLayout5.xml" Id="Rb68f908557b74f30" /><Relationship Type="http://schemas.openxmlformats.org/officeDocument/2006/relationships/slideLayout" Target="/ppt/slideLayouts/slideLayout6.xml" Id="R6b4343d839f748d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a97d7aab642482c"/>
    <p:sldLayoutId xmlns:r="http://schemas.openxmlformats.org/officeDocument/2006/relationships" id="2147483650" r:id="R084bcf5362c943d5"/>
    <p:sldLayoutId xmlns:r="http://schemas.openxmlformats.org/officeDocument/2006/relationships" id="2147483651" r:id="R407cc8f1e3ec4b26"/>
    <p:sldLayoutId xmlns:r="http://schemas.openxmlformats.org/officeDocument/2006/relationships" id="2147483652" r:id="Rd07a525f1b50449d"/>
    <p:sldLayoutId xmlns:r="http://schemas.openxmlformats.org/officeDocument/2006/relationships" id="2147483653" r:id="Rb68f908557b74f30"/>
    <p:sldLayoutId xmlns:r="http://schemas.openxmlformats.org/officeDocument/2006/relationships" id="2147483654" r:id="R6b4343d839f748d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e1e025f23254749" /><Relationship Type="http://schemas.openxmlformats.org/officeDocument/2006/relationships/image" Target="/ppt/media/image.png" Id="R4e8e0b9f8ea34dd4" /><Relationship Type="http://schemas.openxmlformats.org/officeDocument/2006/relationships/notesSlide" Target="/ppt/notesSlides/notesSlide1.xml" Id="Rf406e5c7f00249e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057347cadbe4e6a" /><Relationship Type="http://schemas.openxmlformats.org/officeDocument/2006/relationships/notesSlide" Target="/ppt/notesSlides/notesSlide2.xml" Id="Rb1578fbea08744a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c5aebfd52cc4129" /><Relationship Type="http://schemas.openxmlformats.org/officeDocument/2006/relationships/notesSlide" Target="/ppt/notesSlides/notesSlide3.xml" Id="Rb1cf8f03d645484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3a1db42ce1943bb" /><Relationship Type="http://schemas.openxmlformats.org/officeDocument/2006/relationships/chart" Target="/ppt/slides/charts/chart1.xml" Id="R83e338e5122b4371" /><Relationship Type="http://schemas.openxmlformats.org/officeDocument/2006/relationships/notesSlide" Target="/ppt/notesSlides/notesSlide4.xml" Id="Rbb1be5dda5f04d7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9418266aa9a4cd6" /><Relationship Type="http://schemas.openxmlformats.org/officeDocument/2006/relationships/chart" Target="/ppt/slides/charts/chart2.xml" Id="R5a5db0b13e5446e7" /><Relationship Type="http://schemas.openxmlformats.org/officeDocument/2006/relationships/notesSlide" Target="/ppt/notesSlides/notesSlide5.xml" Id="R3b419c489c2c460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ccbc669a85e47a6" /><Relationship Type="http://schemas.openxmlformats.org/officeDocument/2006/relationships/chart" Target="/ppt/slides/charts/chart3.xml" Id="R1ccca76718a94efa" /><Relationship Type="http://schemas.openxmlformats.org/officeDocument/2006/relationships/notesSlide" Target="/ppt/notesSlides/notesSlide6.xml" Id="Rdab5db84106a454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6788655f1ba4879" /><Relationship Type="http://schemas.openxmlformats.org/officeDocument/2006/relationships/notesSlide" Target="/ppt/notesSlides/notesSlide7.xml" Id="Re50dd089336a455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5723b59d94c4a58" /><Relationship Type="http://schemas.openxmlformats.org/officeDocument/2006/relationships/notesSlide" Target="/ppt/notesSlides/notesSlide8.xml" Id="R191d4ab3c08c437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e564aea39734826" /><Relationship Type="http://schemas.openxmlformats.org/officeDocument/2006/relationships/notesSlide" Target="/ppt/notesSlides/notesSlide9.xml" Id="R976c633a97aa485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2668b24d51e4f0a" /><Relationship Type="http://schemas.openxmlformats.org/officeDocument/2006/relationships/chart" Target="/ppt/slides/charts/chart4.xml" Id="R762d2ff8eae94c2a" /><Relationship Type="http://schemas.openxmlformats.org/officeDocument/2006/relationships/notesSlide" Target="/ppt/notesSlides/notesSlide10.xml" Id="R18b453d7adaa472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046759a17a04b0c" /><Relationship Type="http://schemas.openxmlformats.org/officeDocument/2006/relationships/notesSlide" Target="/ppt/notesSlides/notesSlide11.xml" Id="R0a73476cea274ea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3d1e2a4888940e8" /><Relationship Type="http://schemas.openxmlformats.org/officeDocument/2006/relationships/notesSlide" Target="/ppt/notesSlides/notesSlide12.xml" Id="Raf7d59ea51b64178" /></Relationships>
</file>

<file path=ppt/slides/charts/chart1.xml><?xml version="1.0" encoding="utf-8"?>
<c:chartSpace xmlns:c="http://schemas.openxmlformats.org/drawingml/2006/chart">
  <c:lang val="en-US"/>
  <c:chart>
    <c:plotArea>
      <c:barChart>
        <c:barDir val="col"/>
        <c:grouping val="clustered"/>
        <c:varyColors val="0"/>
        <c:ser>
          <c:idx val="0"/>
          <c:order val="0"/>
          <c:tx>
            <c:v>Tỷ lệ sống</c:v>
          </c:tx>
          <c:spPr>
            <a:solidFill xmlns:a="http://schemas.openxmlformats.org/drawingml/2006/main">
              <a:srgbClr val="087F86"/>
            </a:solidFill>
          </c:spPr>
          <c:invertIfNegative val="0"/>
          <c:cat>
            <c:strLit>
              <c:ptCount val="2"/>
              <c:pt idx="0">
                <c:v>Nữ
(n=314)</c:v>
              </c:pt>
              <c:pt idx="1">
                <c:v>Nam
(n=577)</c:v>
              </c:pt>
            </c:strLit>
          </c:cat>
          <c:val>
            <c:numLit>
              <c:formatCode>0.0%</c:formatCode>
              <c:ptCount val="2"/>
              <c:pt idx="0">
                <c:v>0.7420382165605095</c:v>
              </c:pt>
              <c:pt idx="1">
                <c:v>0.18890814558058924</c:v>
              </c:pt>
            </c:numLit>
          </c:val>
        </c:ser>
        <c:dLbls>
          <c:numFmt formatCode="0.0%" sourceLinked="0"/>
          <c:txPr>
            <a:bodyPr xmlns:a="http://schemas.openxmlformats.org/drawingml/2006/main" anchorCtr="1"/>
            <a:lstStyle xmlns:a="http://schemas.openxmlformats.org/drawingml/2006/main"/>
            <a:p xmlns:a="http://schemas.openxmlformats.org/drawingml/2006/main">
              <a:pPr>
                <a:defRPr sz="1875" b="1">
                  <a:solidFill>
                    <a:srgbClr val="153A49"/>
                  </a:solidFill>
                  <a:latin typeface="Arial"/>
                  <a:ea typeface="Arial"/>
                  <a:cs typeface="Arial"/>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Giới tính</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B6C7C9"/>
            </a:solidFill>
          </a:ln>
        </c:spPr>
        <c:txPr>
          <a:bodyPr xmlns:a="http://schemas.openxmlformats.org/drawingml/2006/main" anchorCtr="1"/>
          <a:lstStyle xmlns:a="http://schemas.openxmlformats.org/drawingml/2006/main"/>
          <a:p xmlns:a="http://schemas.openxmlformats.org/drawingml/2006/main">
            <a:pPr>
              <a:defRPr sz="1725">
                <a:solidFill>
                  <a:srgbClr val="153A49"/>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DAE3E2"/>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Tỷ lệ sống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8717B"/>
                </a:solidFill>
                <a:latin typeface="Arial"/>
                <a:ea typeface="Arial"/>
                <a:cs typeface="Arial"/>
              </a:defRPr>
            </a:pPr>
          </a:p>
        </c:txPr>
        <c:crossAx val="48650112"/>
        <c:crossBetween val="between"/>
        <c:majorUnit val="0.2"/>
      </c:valAx>
      <c:spPr>
        <a:solidFill xmlns:a="http://schemas.openxmlformats.org/drawingml/2006/main">
          <a:srgbClr val="FAF8F2"/>
        </a:solidFill>
        <a:ln xmlns:a="http://schemas.openxmlformats.org/drawingml/2006/main" w="0">
          <a:noFill/>
        </a:ln>
      </c:spPr>
    </c:plotArea>
    <c:plotVisOnly val="1"/>
  </c:chart>
  <c:spPr>
    <a:solidFill xmlns:a="http://schemas.openxmlformats.org/drawingml/2006/main">
      <a:srgbClr val="FAF8F2"/>
    </a:solidFill>
    <a:ln xmlns:a="http://schemas.openxmlformats.org/drawingml/2006/main" w="0">
      <a:noFill/>
    </a:ln>
  </c:spPr>
</c:chartSpace>
</file>

<file path=ppt/slides/charts/chart2.xml><?xml version="1.0" encoding="utf-8"?>
<c:chartSpace xmlns:c="http://schemas.openxmlformats.org/drawingml/2006/chart">
  <c:lang val="en-US"/>
  <c:chart>
    <c:plotArea>
      <c:barChart>
        <c:barDir val="col"/>
        <c:grouping val="clustered"/>
        <c:varyColors val="0"/>
        <c:ser>
          <c:idx val="0"/>
          <c:order val="0"/>
          <c:tx>
            <c:v>Tỷ lệ sống</c:v>
          </c:tx>
          <c:spPr>
            <a:solidFill xmlns:a="http://schemas.openxmlformats.org/drawingml/2006/main">
              <a:srgbClr val="087F86"/>
            </a:solidFill>
          </c:spPr>
          <c:invertIfNegative val="0"/>
          <c:cat>
            <c:strLit>
              <c:ptCount val="7"/>
              <c:pt idx="0">
                <c:v>1
(n=537)</c:v>
              </c:pt>
              <c:pt idx="1">
                <c:v>2
(n=161)</c:v>
              </c:pt>
              <c:pt idx="2">
                <c:v>3
(n=102)</c:v>
              </c:pt>
              <c:pt idx="3">
                <c:v>4
(n=29)</c:v>
              </c:pt>
              <c:pt idx="4">
                <c:v>5
(n=15)</c:v>
              </c:pt>
              <c:pt idx="5">
                <c:v>6
(n=22)</c:v>
              </c:pt>
              <c:pt idx="6">
                <c:v>7
(n=12)</c:v>
              </c:pt>
            </c:strLit>
          </c:cat>
          <c:val>
            <c:numLit>
              <c:formatCode>0.0%</c:formatCode>
              <c:ptCount val="7"/>
              <c:pt idx="0">
                <c:v>0.30353817504655495</c:v>
              </c:pt>
              <c:pt idx="1">
                <c:v>0.5527950310559007</c:v>
              </c:pt>
              <c:pt idx="2">
                <c:v>0.5784313725490197</c:v>
              </c:pt>
              <c:pt idx="3">
                <c:v>0.7241379310344828</c:v>
              </c:pt>
              <c:pt idx="4">
                <c:v>0.2</c:v>
              </c:pt>
              <c:pt idx="5">
                <c:v>0.13636363636363635</c:v>
              </c:pt>
              <c:pt idx="6">
                <c:v>0.3333333333333333</c:v>
              </c:pt>
            </c:numLit>
          </c:val>
        </c:ser>
        <c:dLbls>
          <c:numFmt formatCode="0.0%" sourceLinked="0"/>
          <c:txPr>
            <a:bodyPr xmlns:a="http://schemas.openxmlformats.org/drawingml/2006/main" anchorCtr="1"/>
            <a:lstStyle xmlns:a="http://schemas.openxmlformats.org/drawingml/2006/main"/>
            <a:p xmlns:a="http://schemas.openxmlformats.org/drawingml/2006/main">
              <a:pPr>
                <a:defRPr sz="1875" b="1">
                  <a:solidFill>
                    <a:srgbClr val="153A49"/>
                  </a:solidFill>
                  <a:latin typeface="Arial"/>
                  <a:ea typeface="Arial"/>
                  <a:cs typeface="Arial"/>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Quy mô gia đình (người)</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B6C7C9"/>
            </a:solidFill>
          </a:ln>
        </c:spPr>
        <c:txPr>
          <a:bodyPr xmlns:a="http://schemas.openxmlformats.org/drawingml/2006/main" anchorCtr="1"/>
          <a:lstStyle xmlns:a="http://schemas.openxmlformats.org/drawingml/2006/main"/>
          <a:p xmlns:a="http://schemas.openxmlformats.org/drawingml/2006/main">
            <a:pPr>
              <a:defRPr sz="1725">
                <a:solidFill>
                  <a:srgbClr val="153A49"/>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DAE3E2"/>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Tỷ lệ sống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8717B"/>
                </a:solidFill>
                <a:latin typeface="Arial"/>
                <a:ea typeface="Arial"/>
                <a:cs typeface="Arial"/>
              </a:defRPr>
            </a:pPr>
          </a:p>
        </c:txPr>
        <c:crossAx val="48650112"/>
        <c:crossBetween val="between"/>
        <c:majorUnit val="0.2"/>
      </c:valAx>
      <c:spPr>
        <a:solidFill xmlns:a="http://schemas.openxmlformats.org/drawingml/2006/main">
          <a:srgbClr val="FAF8F2"/>
        </a:solidFill>
        <a:ln xmlns:a="http://schemas.openxmlformats.org/drawingml/2006/main" w="0">
          <a:noFill/>
        </a:ln>
      </c:spPr>
    </c:plotArea>
    <c:plotVisOnly val="1"/>
  </c:chart>
  <c:spPr>
    <a:solidFill xmlns:a="http://schemas.openxmlformats.org/drawingml/2006/main">
      <a:srgbClr val="FAF8F2"/>
    </a:solidFill>
    <a:ln xmlns:a="http://schemas.openxmlformats.org/drawingml/2006/main" w="0">
      <a:noFill/>
    </a:ln>
  </c:spPr>
</c:chartSpace>
</file>

<file path=ppt/slides/charts/chart3.xml><?xml version="1.0" encoding="utf-8"?>
<c:chartSpace xmlns:c="http://schemas.openxmlformats.org/drawingml/2006/chart">
  <c:lang val="en-US"/>
  <c:chart>
    <c:plotArea>
      <c:barChart>
        <c:barDir val="col"/>
        <c:grouping val="clustered"/>
        <c:varyColors val="0"/>
        <c:ser>
          <c:idx val="0"/>
          <c:order val="0"/>
          <c:tx>
            <c:v>Tỷ lệ sống</c:v>
          </c:tx>
          <c:spPr>
            <a:solidFill xmlns:a="http://schemas.openxmlformats.org/drawingml/2006/main">
              <a:srgbClr val="087F86"/>
            </a:solidFill>
          </c:spPr>
          <c:invertIfNegative val="0"/>
          <c:cat>
            <c:strLit>
              <c:ptCount val="2"/>
              <c:pt idx="0">
                <c:v>Tuổi ≤12
(n=69)</c:v>
              </c:pt>
              <c:pt idx="1">
                <c:v>Tuổi &gt;12
(n=645)</c:v>
              </c:pt>
            </c:strLit>
          </c:cat>
          <c:val>
            <c:numLit>
              <c:formatCode>0.0%</c:formatCode>
              <c:ptCount val="2"/>
              <c:pt idx="0">
                <c:v>0.5797101449275363</c:v>
              </c:pt>
              <c:pt idx="1">
                <c:v>0.3875968992248062</c:v>
              </c:pt>
            </c:numLit>
          </c:val>
        </c:ser>
        <c:dLbls>
          <c:numFmt formatCode="0.0%" sourceLinked="0"/>
          <c:txPr>
            <a:bodyPr xmlns:a="http://schemas.openxmlformats.org/drawingml/2006/main" anchorCtr="1"/>
            <a:lstStyle xmlns:a="http://schemas.openxmlformats.org/drawingml/2006/main"/>
            <a:p xmlns:a="http://schemas.openxmlformats.org/drawingml/2006/main">
              <a:pPr>
                <a:defRPr sz="1875" b="1">
                  <a:solidFill>
                    <a:srgbClr val="153A49"/>
                  </a:solidFill>
                  <a:latin typeface="Arial"/>
                  <a:ea typeface="Arial"/>
                  <a:cs typeface="Arial"/>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Tuổi quan sát (năm)</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B6C7C9"/>
            </a:solidFill>
          </a:ln>
        </c:spPr>
        <c:txPr>
          <a:bodyPr xmlns:a="http://schemas.openxmlformats.org/drawingml/2006/main" anchorCtr="1"/>
          <a:lstStyle xmlns:a="http://schemas.openxmlformats.org/drawingml/2006/main"/>
          <a:p xmlns:a="http://schemas.openxmlformats.org/drawingml/2006/main">
            <a:pPr>
              <a:defRPr sz="1725">
                <a:solidFill>
                  <a:srgbClr val="153A49"/>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DAE3E2"/>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Tỷ lệ sống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8717B"/>
                </a:solidFill>
                <a:latin typeface="Arial"/>
                <a:ea typeface="Arial"/>
                <a:cs typeface="Arial"/>
              </a:defRPr>
            </a:pPr>
          </a:p>
        </c:txPr>
        <c:crossAx val="48650112"/>
        <c:crossBetween val="between"/>
        <c:majorUnit val="0.2"/>
      </c:valAx>
      <c:spPr>
        <a:solidFill xmlns:a="http://schemas.openxmlformats.org/drawingml/2006/main">
          <a:srgbClr val="FAF8F2"/>
        </a:solidFill>
        <a:ln xmlns:a="http://schemas.openxmlformats.org/drawingml/2006/main" w="0">
          <a:noFill/>
        </a:ln>
      </c:spPr>
    </c:plotArea>
    <c:plotVisOnly val="1"/>
  </c:chart>
  <c:spPr>
    <a:solidFill xmlns:a="http://schemas.openxmlformats.org/drawingml/2006/main">
      <a:srgbClr val="FAF8F2"/>
    </a:solidFill>
    <a:ln xmlns:a="http://schemas.openxmlformats.org/drawingml/2006/main" w="0">
      <a:noFill/>
    </a:ln>
  </c:spPr>
</c:chartSpace>
</file>

<file path=ppt/slides/charts/chart4.xml><?xml version="1.0" encoding="utf-8"?>
<c:chartSpace xmlns:c="http://schemas.openxmlformats.org/drawingml/2006/chart">
  <c:lang val="en-US"/>
  <c:chart>
    <c:plotArea>
      <c:barChart>
        <c:barDir val="col"/>
        <c:grouping val="clustered"/>
        <c:varyColors val="0"/>
        <c:ser>
          <c:idx val="0"/>
          <c:order val="0"/>
          <c:tx>
            <c:v>Tỷ lệ sống</c:v>
          </c:tx>
          <c:spPr>
            <a:solidFill xmlns:a="http://schemas.openxmlformats.org/drawingml/2006/main">
              <a:srgbClr val="087F86"/>
            </a:solidFill>
          </c:spPr>
          <c:invertIfNegative val="0"/>
          <c:cat>
            <c:strLit>
              <c:ptCount val="3"/>
              <c:pt idx="0">
                <c:v>Hạng 1
(n=216)</c:v>
              </c:pt>
              <c:pt idx="1">
                <c:v>Hạng 2
(n=184)</c:v>
              </c:pt>
              <c:pt idx="2">
                <c:v>Hạng 3
(n=491)</c:v>
              </c:pt>
            </c:strLit>
          </c:cat>
          <c:val>
            <c:numLit>
              <c:formatCode>0.0%</c:formatCode>
              <c:ptCount val="3"/>
              <c:pt idx="0">
                <c:v>0.6296296296296297</c:v>
              </c:pt>
              <c:pt idx="1">
                <c:v>0.47282608695652173</c:v>
              </c:pt>
              <c:pt idx="2">
                <c:v>0.24236252545824846</c:v>
              </c:pt>
            </c:numLit>
          </c:val>
        </c:ser>
        <c:dLbls>
          <c:numFmt formatCode="0.0%" sourceLinked="0"/>
          <c:txPr>
            <a:bodyPr xmlns:a="http://schemas.openxmlformats.org/drawingml/2006/main" anchorCtr="1"/>
            <a:lstStyle xmlns:a="http://schemas.openxmlformats.org/drawingml/2006/main"/>
            <a:p xmlns:a="http://schemas.openxmlformats.org/drawingml/2006/main">
              <a:pPr>
                <a:defRPr sz="1875" b="1">
                  <a:solidFill>
                    <a:srgbClr val="153A49"/>
                  </a:solidFill>
                  <a:latin typeface="Arial"/>
                  <a:ea typeface="Arial"/>
                  <a:cs typeface="Arial"/>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Hạng vé</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B6C7C9"/>
            </a:solidFill>
          </a:ln>
        </c:spPr>
        <c:txPr>
          <a:bodyPr xmlns:a="http://schemas.openxmlformats.org/drawingml/2006/main" anchorCtr="1"/>
          <a:lstStyle xmlns:a="http://schemas.openxmlformats.org/drawingml/2006/main"/>
          <a:p xmlns:a="http://schemas.openxmlformats.org/drawingml/2006/main">
            <a:pPr>
              <a:defRPr sz="1725">
                <a:solidFill>
                  <a:srgbClr val="153A49"/>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DAE3E2"/>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Tỷ lệ sống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8717B"/>
                </a:solidFill>
                <a:latin typeface="Arial"/>
                <a:ea typeface="Arial"/>
                <a:cs typeface="Arial"/>
              </a:defRPr>
            </a:pPr>
          </a:p>
        </c:txPr>
        <c:crossAx val="48650112"/>
        <c:crossBetween val="between"/>
        <c:majorUnit val="0.2"/>
      </c:valAx>
      <c:spPr>
        <a:solidFill xmlns:a="http://schemas.openxmlformats.org/drawingml/2006/main">
          <a:srgbClr val="FAF8F2"/>
        </a:solidFill>
        <a:ln xmlns:a="http://schemas.openxmlformats.org/drawingml/2006/main" w="0">
          <a:noFill/>
        </a:ln>
      </c:spPr>
    </c:plotArea>
    <c:plotVisOnly val="1"/>
  </c:chart>
  <c:spPr>
    <a:solidFill xmlns:a="http://schemas.openxmlformats.org/drawingml/2006/main">
      <a:srgbClr val="FAF8F2"/>
    </a:solidFill>
    <a:ln xmlns:a="http://schemas.openxmlformats.org/drawingml/2006/main" w="0">
      <a:noFill/>
    </a:ln>
  </c:spPr>
</c:chartSpace>
</file>

<file path=ppt/slides/slide1.xml><?xml version="1.0" encoding="utf-8"?>
<p:sld xmlns:p="http://schemas.openxmlformats.org/presentationml/2006/main">
  <p:cSld>
    <p:bg>
      <p:bgPr>
        <a:solidFill xmlns:a="http://schemas.openxmlformats.org/drawingml/2006/main">
          <a:srgbClr val="0B2638"/>
        </a:solidFill>
      </p:bgPr>
    </p:bg>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642D6416-115D-4DD0-8739-437DB519F917}"/>
              </a:ext>
            </a:extLst>
          </p:cNvPr>
          <p:cNvPicPr>
            <a:picLocks xmlns:a="http://schemas.openxmlformats.org/drawingml/2006/main" noChangeAspect="1"/>
          </p:cNvPicPr>
          <p:nvPr/>
        </p:nvPicPr>
        <p:blipFill>
          <a:blip xmlns:r="http://schemas.openxmlformats.org/officeDocument/2006/relationships" xmlns:a="http://schemas.openxmlformats.org/drawingml/2006/main" r:embed="R4e8e0b9f8ea34dd4"/>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8" name="Phân tích dữ liệu&#10;hành khách Titanic">
            <a:extLst xmlns:a="http://schemas.openxmlformats.org/drawingml/2006/main">
              <a:ext uri="{FF2B5EF4-FFF2-40B4-BE49-F238E27FC236}">
                <a16:creationId xmlns:a16="http://schemas.microsoft.com/office/drawing/2014/main" id="{3784F7E5-C658-4DC0-B614-9868EA2CA6E0}"/>
              </a:ext>
            </a:extLst>
          </p:cNvPr>
          <p:cNvSpPr>
            <a:spLocks xmlns:a="http://schemas.openxmlformats.org/drawingml/2006/main" noGrp="1"/>
          </p:cNvSpPr>
          <p:nvPr/>
        </p:nvSpPr>
        <p:spPr>
          <a:xfrm xmlns:a="http://schemas.openxmlformats.org/drawingml/2006/main">
            <a:off x="609600" y="1476375"/>
            <a:ext cx="638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6450" b="1">
                <a:solidFill>
                  <a:srgbClr val="FFFFFF"/>
                </a:solidFill>
                <a:latin typeface="Arial"/>
                <a:ea typeface="Arial"/>
                <a:cs typeface="Arial"/>
              </a:defRPr>
            </a:defPPr>
          </a:lstStyle>
          <a:p xmlns:a="http://schemas.openxmlformats.org/drawingml/2006/main">
            <a:pPr>
              <a:buNone/>
              <a:defRPr sz="6450" b="1">
                <a:solidFill>
                  <a:srgbClr val="FFFFFF"/>
                </a:solidFill>
                <a:latin typeface="Arial"/>
                <a:ea typeface="Arial"/>
                <a:cs typeface="Arial"/>
              </a:defRPr>
            </a:pPr>
            <a:r>
              <a:rPr sz="6450" b="1">
                <a:solidFill>
                  <a:srgbClr val="FFFFFF"/>
                </a:solidFill>
                <a:latin typeface="Arial"/>
                <a:ea typeface="Arial"/>
                <a:cs typeface="Arial"/>
              </a:rPr>
              <a:t>TITANIC</a:t>
            </a:r>
          </a:p>
        </p:txBody>
      </p:sp>
      <p:sp>
        <p:nvSpPr>
          <p:cNvPr id="2" name="A2-02 Titanic · Duy">
            <a:extLst xmlns:a="http://schemas.openxmlformats.org/drawingml/2006/main">
              <a:ext uri="{FF2B5EF4-FFF2-40B4-BE49-F238E27FC236}">
                <a16:creationId xmlns:a16="http://schemas.microsoft.com/office/drawing/2014/main" id="{CCEC6F4A-129B-4CBF-B7D0-1E098770240C}"/>
              </a:ext>
            </a:extLst>
          </p:cNvPr>
          <p:cNvSpPr>
            <a:spLocks xmlns:a="http://schemas.openxmlformats.org/drawingml/2006/main" noGrp="1"/>
          </p:cNvSpPr>
          <p:nvPr/>
        </p:nvSpPr>
        <p:spPr>
          <a:xfrm xmlns:a="http://schemas.openxmlformats.org/drawingml/2006/main">
            <a:off x="647700" y="5676900"/>
            <a:ext cx="638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C2D4DA"/>
                </a:solidFill>
                <a:latin typeface="Arial"/>
                <a:ea typeface="Arial"/>
                <a:cs typeface="Arial"/>
              </a:defRPr>
            </a:defPPr>
          </a:lstStyle>
          <a:p xmlns:a="http://schemas.openxmlformats.org/drawingml/2006/main">
            <a:pPr>
              <a:buNone/>
              <a:defRPr sz="1800" b="0">
                <a:solidFill>
                  <a:srgbClr val="C2D4DA"/>
                </a:solidFill>
                <a:latin typeface="Arial"/>
                <a:ea typeface="Arial"/>
                <a:cs typeface="Arial"/>
              </a:defRPr>
            </a:pPr>
            <a:r>
              <a:rPr sz="1800" b="0">
                <a:solidFill>
                  <a:srgbClr val="C2D4DA"/>
                </a:solidFill>
                <a:latin typeface="Arial"/>
                <a:ea typeface="Arial"/>
                <a:cs typeface="Arial"/>
              </a:rPr>
              <a:t>Pandas, Matplotlib và Seaborn</a:t>
            </a:r>
          </a:p>
        </p:txBody>
      </p:sp>
      <p:sp>
        <p:nvSpPr>
          <p:cNvPr id="3" name="1">
            <a:extLst xmlns:a="http://schemas.openxmlformats.org/drawingml/2006/main">
              <a:ext uri="{FF2B5EF4-FFF2-40B4-BE49-F238E27FC236}">
                <a16:creationId xmlns:a16="http://schemas.microsoft.com/office/drawing/2014/main" id="{2F8CD505-F8AE-420B-8E3D-5FA52292C4B1}"/>
              </a:ext>
            </a:extLst>
          </p:cNvPr>
          <p:cNvSpPr>
            <a:spLocks xmlns:a="http://schemas.openxmlformats.org/drawingml/2006/main" noGrp="1"/>
          </p:cNvSpPr>
          <p:nvPr/>
        </p:nvSpPr>
        <p:spPr>
          <a:xfrm xmlns:a="http://schemas.openxmlformats.org/drawingml/2006/main">
            <a:off x="11144250" y="6381750"/>
            <a:ext cx="438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C2D4DA"/>
                </a:solidFill>
                <a:latin typeface="Arial"/>
                <a:ea typeface="Arial"/>
                <a:cs typeface="Arial"/>
              </a:defRPr>
            </a:defPPr>
          </a:lstStyle>
          <a:p xmlns:a="http://schemas.openxmlformats.org/drawingml/2006/main">
            <a:pPr>
              <a:buNone/>
              <a:defRPr sz="1500" b="0">
                <a:solidFill>
                  <a:srgbClr val="C2D4DA"/>
                </a:solidFill>
                <a:latin typeface="Arial"/>
                <a:ea typeface="Arial"/>
                <a:cs typeface="Arial"/>
              </a:defRPr>
            </a:pPr>
            <a:r>
              <a:rPr sz="1500" b="0">
                <a:solidFill>
                  <a:srgbClr val="C2D4DA"/>
                </a:solidFill>
                <a:latin typeface="Arial"/>
                <a:ea typeface="Arial"/>
                <a:cs typeface="Arial"/>
              </a:rPr>
              <a:t>01</a:t>
            </a:r>
          </a:p>
        </p:txBody>
      </p:sp>
      <p:sp>
        <p:nvSpPr>
          <p:cNvPr id="4" name="A2-02">
            <a:extLst xmlns:a="http://schemas.openxmlformats.org/drawingml/2006/main">
              <a:ext uri="{FF2B5EF4-FFF2-40B4-BE49-F238E27FC236}">
                <a16:creationId xmlns:a16="http://schemas.microsoft.com/office/drawing/2014/main" id="{DB98C992-0D78-4457-9B96-256208ECFDAF}"/>
              </a:ext>
            </a:extLst>
          </p:cNvPr>
          <p:cNvSpPr>
            <a:spLocks xmlns:a="http://schemas.openxmlformats.org/drawingml/2006/main" noGrp="1"/>
          </p:cNvSpPr>
          <p:nvPr/>
        </p:nvSpPr>
        <p:spPr>
          <a:xfrm xmlns:a="http://schemas.openxmlformats.org/drawingml/2006/main">
            <a:off x="647700" y="952500"/>
            <a:ext cx="647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E6BE77"/>
                </a:solidFill>
                <a:latin typeface="Arial"/>
                <a:ea typeface="Arial"/>
                <a:cs typeface="Arial"/>
              </a:defRPr>
            </a:defPPr>
          </a:lstStyle>
          <a:p xmlns:a="http://schemas.openxmlformats.org/drawingml/2006/main">
            <a:pPr>
              <a:buNone/>
              <a:defRPr sz="1875" b="1">
                <a:solidFill>
                  <a:srgbClr val="E6BE77"/>
                </a:solidFill>
                <a:latin typeface="Arial"/>
                <a:ea typeface="Arial"/>
                <a:cs typeface="Arial"/>
              </a:defRPr>
            </a:pPr>
            <a:r>
              <a:rPr sz="1875" b="1">
                <a:solidFill>
                  <a:srgbClr val="E6BE77"/>
                </a:solidFill>
                <a:latin typeface="Arial"/>
                <a:ea typeface="Arial"/>
                <a:cs typeface="Arial"/>
              </a:rPr>
              <a:t>A2-02   PHÂN TÍCH DỮ LIỆU</a:t>
            </a:r>
          </a:p>
        </p:txBody>
      </p:sp>
      <p:sp>
        <p:nvSpPr>
          <p:cNvPr id="5" name="Lương Công Hoàng Duy — 240464">
            <a:extLst xmlns:a="http://schemas.openxmlformats.org/drawingml/2006/main">
              <a:ext uri="{FF2B5EF4-FFF2-40B4-BE49-F238E27FC236}">
                <a16:creationId xmlns:a16="http://schemas.microsoft.com/office/drawing/2014/main" id="{9A3821BB-46AB-4D5F-A6B0-C1782469ACC3}"/>
              </a:ext>
            </a:extLst>
          </p:cNvPr>
          <p:cNvSpPr>
            <a:spLocks xmlns:a="http://schemas.openxmlformats.org/drawingml/2006/main" noGrp="1"/>
          </p:cNvSpPr>
          <p:nvPr/>
        </p:nvSpPr>
        <p:spPr>
          <a:xfrm xmlns:a="http://schemas.openxmlformats.org/drawingml/2006/main">
            <a:off x="647700" y="3810000"/>
            <a:ext cx="6096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FFFFFF"/>
                </a:solidFill>
                <a:latin typeface="Arial"/>
                <a:ea typeface="Arial"/>
                <a:cs typeface="Arial"/>
              </a:defRPr>
            </a:defPPr>
          </a:lstStyle>
          <a:p xmlns:a="http://schemas.openxmlformats.org/drawingml/2006/main">
            <a:pPr>
              <a:buNone/>
              <a:defRPr sz="2100" b="1">
                <a:solidFill>
                  <a:srgbClr val="FFFFFF"/>
                </a:solidFill>
                <a:latin typeface="Arial"/>
                <a:ea typeface="Arial"/>
                <a:cs typeface="Arial"/>
              </a:defRPr>
            </a:pPr>
            <a:r>
              <a:rPr sz="2100" b="1">
                <a:solidFill>
                  <a:srgbClr val="FFFFFF"/>
                </a:solidFill>
                <a:latin typeface="Arial"/>
                <a:ea typeface="Arial"/>
                <a:cs typeface="Arial"/>
              </a:rPr>
              <a:t>Lương Công Hoàng Duy   240464</a:t>
            </a:r>
          </a:p>
        </p:txBody>
      </p:sp>
      <p:sp>
        <p:nvSpPr>
          <p:cNvPr id="6" name="Lê Nguyễn Gia Bảo — 240233">
            <a:extLst xmlns:a="http://schemas.openxmlformats.org/drawingml/2006/main">
              <a:ext uri="{FF2B5EF4-FFF2-40B4-BE49-F238E27FC236}">
                <a16:creationId xmlns:a16="http://schemas.microsoft.com/office/drawing/2014/main" id="{336CF1A9-9A22-4414-9FD3-96D31CCD4207}"/>
              </a:ext>
            </a:extLst>
          </p:cNvPr>
          <p:cNvSpPr>
            <a:spLocks xmlns:a="http://schemas.openxmlformats.org/drawingml/2006/main" noGrp="1"/>
          </p:cNvSpPr>
          <p:nvPr/>
        </p:nvSpPr>
        <p:spPr>
          <a:xfrm xmlns:a="http://schemas.openxmlformats.org/drawingml/2006/main">
            <a:off x="647700" y="4305300"/>
            <a:ext cx="6096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FFFFFF"/>
                </a:solidFill>
                <a:latin typeface="Arial"/>
                <a:ea typeface="Arial"/>
                <a:cs typeface="Arial"/>
              </a:defRPr>
            </a:defPPr>
          </a:lstStyle>
          <a:p xmlns:a="http://schemas.openxmlformats.org/drawingml/2006/main">
            <a:pPr>
              <a:buNone/>
              <a:defRPr sz="2100" b="1">
                <a:solidFill>
                  <a:srgbClr val="FFFFFF"/>
                </a:solidFill>
                <a:latin typeface="Arial"/>
                <a:ea typeface="Arial"/>
                <a:cs typeface="Arial"/>
              </a:defRPr>
            </a:pPr>
            <a:r>
              <a:rPr sz="2100" b="1">
                <a:solidFill>
                  <a:srgbClr val="FFFFFF"/>
                </a:solidFill>
                <a:latin typeface="Arial"/>
                <a:ea typeface="Arial"/>
                <a:cs typeface="Arial"/>
              </a:rPr>
              <a:t>Lê Nguyễn Gia Bảo   240233</a:t>
            </a:r>
          </a:p>
        </p:txBody>
      </p:sp>
      <p:sp>
        <p:nvSpPr>
          <p:cNvPr id="7" name="Pandas, Matplotlib và Seaborn">
            <a:extLst xmlns:a="http://schemas.openxmlformats.org/drawingml/2006/main">
              <a:ext uri="{FF2B5EF4-FFF2-40B4-BE49-F238E27FC236}">
                <a16:creationId xmlns:a16="http://schemas.microsoft.com/office/drawing/2014/main" id="{517FFCD3-7244-4231-A3F4-9FF4B602077B}"/>
              </a:ext>
            </a:extLst>
          </p:cNvPr>
          <p:cNvSpPr>
            <a:spLocks xmlns:a="http://schemas.openxmlformats.org/drawingml/2006/main" noGrp="1"/>
          </p:cNvSpPr>
          <p:nvPr/>
        </p:nvSpPr>
        <p:spPr>
          <a:xfrm xmlns:a="http://schemas.openxmlformats.org/drawingml/2006/main">
            <a:off x="647700" y="2505075"/>
            <a:ext cx="5810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0">
                <a:solidFill>
                  <a:srgbClr val="D0E5E7"/>
                </a:solidFill>
                <a:latin typeface="Arial"/>
                <a:ea typeface="Arial"/>
                <a:cs typeface="Arial"/>
              </a:defRPr>
            </a:defPPr>
          </a:lstStyle>
          <a:p xmlns:a="http://schemas.openxmlformats.org/drawingml/2006/main">
            <a:pPr>
              <a:buNone/>
              <a:defRPr sz="2400" b="0">
                <a:solidFill>
                  <a:srgbClr val="D0E5E7"/>
                </a:solidFill>
                <a:latin typeface="Arial"/>
                <a:ea typeface="Arial"/>
                <a:cs typeface="Arial"/>
              </a:defRPr>
            </a:pPr>
            <a:r>
              <a:rPr sz="2400" b="0">
                <a:solidFill>
                  <a:srgbClr val="D0E5E7"/>
                </a:solidFill>
                <a:latin typeface="Arial"/>
                <a:ea typeface="Arial"/>
                <a:cs typeface="Arial"/>
              </a:rPr>
              <a:t>Phân tích dữ liệu hành khách</a:t>
            </a:r>
          </a:p>
          <a:p xmlns:a="http://schemas.openxmlformats.org/drawingml/2006/main">
            <a:pPr>
              <a:buNone/>
              <a:defRPr sz="2400" b="0">
                <a:solidFill>
                  <a:srgbClr val="D0E5E7"/>
                </a:solidFill>
                <a:latin typeface="Arial"/>
                <a:ea typeface="Arial"/>
                <a:cs typeface="Arial"/>
              </a:defRPr>
            </a:pPr>
            <a:r>
              <a:rPr sz="2400" b="0">
                <a:solidFill>
                  <a:srgbClr val="D0E5E7"/>
                </a:solidFill>
                <a:latin typeface="Arial"/>
                <a:ea typeface="Arial"/>
                <a:cs typeface="Arial"/>
              </a:rPr>
              <a:t>bằng Pandas và trực quan hóa</a:t>
            </a:r>
          </a:p>
        </p:txBody>
      </p:sp>
      <p:sp>
        <p:nvSpPr>
          <p:cNvPr id="10" name="Minh họa AI">
            <a:extLst xmlns:a="http://schemas.openxmlformats.org/drawingml/2006/main">
              <a:ext uri="{FF2B5EF4-FFF2-40B4-BE49-F238E27FC236}">
                <a16:creationId xmlns:a16="http://schemas.microsoft.com/office/drawing/2014/main" id="{4D8296A1-BCDF-4E4C-B4A1-DE582F8562A5}"/>
              </a:ext>
            </a:extLst>
          </p:cNvPr>
          <p:cNvSpPr>
            <a:spLocks xmlns:a="http://schemas.openxmlformats.org/drawingml/2006/main" noGrp="1"/>
          </p:cNvSpPr>
          <p:nvPr/>
        </p:nvSpPr>
        <p:spPr>
          <a:xfrm xmlns:a="http://schemas.openxmlformats.org/drawingml/2006/main">
            <a:off x="9906000" y="6038850"/>
            <a:ext cx="1619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C2D4DA"/>
                </a:solidFill>
                <a:latin typeface="Arial"/>
                <a:ea typeface="Arial"/>
                <a:cs typeface="Arial"/>
              </a:defRPr>
            </a:defPPr>
          </a:lstStyle>
          <a:p xmlns:a="http://schemas.openxmlformats.org/drawingml/2006/main">
            <a:pPr>
              <a:buNone/>
              <a:defRPr sz="1425" b="0">
                <a:solidFill>
                  <a:srgbClr val="C2D4DA"/>
                </a:solidFill>
                <a:latin typeface="Arial"/>
                <a:ea typeface="Arial"/>
                <a:cs typeface="Arial"/>
              </a:defRPr>
            </a:pPr>
            <a:r>
              <a:rPr sz="1425" b="0">
                <a:solidFill>
                  <a:srgbClr val="C2D4DA"/>
                </a:solidFill>
                <a:latin typeface="Arial"/>
                <a:ea typeface="Arial"/>
                <a:cs typeface="Arial"/>
              </a:rPr>
              <a:t>Minh họa AI</a:t>
            </a:r>
          </a:p>
        </p:txBody>
      </p:sp>
      <p:sp>
        <p:nvSpPr>
          <p:cNvPr id="11" name="A2-02   Titanic">
            <a:extLst xmlns:a="http://schemas.openxmlformats.org/drawingml/2006/main">
              <a:ext uri="{FF2B5EF4-FFF2-40B4-BE49-F238E27FC236}">
                <a16:creationId xmlns:a16="http://schemas.microsoft.com/office/drawing/2014/main" id="{F3B3DFB7-61FB-461D-ABCC-533C56234D58}"/>
              </a:ext>
            </a:extLst>
          </p:cNvPr>
          <p:cNvSpPr>
            <a:spLocks xmlns:a="http://schemas.openxmlformats.org/drawingml/2006/main" noGrp="1"/>
          </p:cNvSpPr>
          <p:nvPr/>
        </p:nvSpPr>
        <p:spPr>
          <a:xfrm xmlns:a="http://schemas.openxmlformats.org/drawingml/2006/main">
            <a:off x="609600" y="641985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58717B"/>
                </a:solidFill>
                <a:latin typeface="Arial"/>
                <a:ea typeface="Arial"/>
                <a:cs typeface="Arial"/>
              </a:defRPr>
            </a:defPPr>
          </a:lstStyle>
          <a:p xmlns:a="http://schemas.openxmlformats.org/drawingml/2006/main">
            <a:pPr>
              <a:buNone/>
              <a:defRPr sz="1425" b="0">
                <a:solidFill>
                  <a:srgbClr val="58717B"/>
                </a:solidFill>
                <a:latin typeface="Arial"/>
                <a:ea typeface="Arial"/>
                <a:cs typeface="Arial"/>
              </a:defRPr>
            </a:pPr>
            <a:r>
              <a:rPr sz="1425" b="0">
                <a:solidFill>
                  <a:srgbClr val="58717B"/>
                </a:solidFill>
                <a:latin typeface="Arial"/>
                <a:ea typeface="Arial"/>
                <a:cs typeface="Arial"/>
              </a:rPr>
              <a:t>A2-02   Titanic</a:t>
            </a:r>
          </a:p>
        </p:txBody>
      </p:sp>
    </p:spTree>
    <p:extLst>
      <p:ext uri="{BB962C8B-B14F-4D97-AF65-F5344CB8AC3E}">
        <p14:creationId xmlns:p14="http://schemas.microsoft.com/office/powerpoint/2010/main" val="1312500150"/>
      </p:ext>
    </p:extLst>
  </p:cSld>
</p:sld>
</file>

<file path=ppt/slides/slide2.xml><?xml version="1.0" encoding="utf-8"?>
<p:sld xmlns:p="http://schemas.openxmlformats.org/presentationml/2006/main">
  <p:cSld>
    <p:bg>
      <p:bgPr>
        <a:solidFill xmlns:a="http://schemas.openxmlformats.org/drawingml/2006/main">
          <a:srgbClr val="0B2638"/>
        </a:solidFill>
      </p:bgPr>
    </p:bg>
    <p:spTree>
      <p:nvGrpSpPr>
        <p:cNvPr id="1" name=""/>
        <p:cNvGrpSpPr/>
        <p:nvPr/>
      </p:nvGrpSpPr>
      <p:grpSpPr>
        <a:xfrm xmlns:a="http://schemas.openxmlformats.org/drawingml/2006/main"/>
      </p:grpSpPr>
      <p:sp>
        <p:nvSpPr>
          <p:cNvPr id="8" name="Ba câu hỏi phân tích">
            <a:extLst xmlns:a="http://schemas.openxmlformats.org/drawingml/2006/main">
              <a:ext uri="{FF2B5EF4-FFF2-40B4-BE49-F238E27FC236}">
                <a16:creationId xmlns:a16="http://schemas.microsoft.com/office/drawing/2014/main" id="{9C07A889-C711-4BCF-937D-EE0BDDE0C0F1}"/>
              </a:ext>
            </a:extLst>
          </p:cNvPr>
          <p:cNvSpPr>
            <a:spLocks xmlns:a="http://schemas.openxmlformats.org/drawingml/2006/main" noGrp="1"/>
          </p:cNvSpPr>
          <p:nvPr/>
        </p:nvSpPr>
        <p:spPr>
          <a:xfrm xmlns:a="http://schemas.openxmlformats.org/drawingml/2006/main">
            <a:off x="609600" y="533400"/>
            <a:ext cx="1047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FFFFFF"/>
                </a:solidFill>
                <a:latin typeface="Arial"/>
                <a:ea typeface="Arial"/>
                <a:cs typeface="Arial"/>
              </a:defRPr>
            </a:defPPr>
          </a:lstStyle>
          <a:p xmlns:a="http://schemas.openxmlformats.org/drawingml/2006/main">
            <a:pPr>
              <a:buNone/>
              <a:defRPr sz="3600" b="1">
                <a:solidFill>
                  <a:srgbClr val="FFFFFF"/>
                </a:solidFill>
                <a:latin typeface="Arial"/>
                <a:ea typeface="Arial"/>
                <a:cs typeface="Arial"/>
              </a:defRPr>
            </a:pPr>
            <a:r>
              <a:rPr sz="3600" b="1">
                <a:solidFill>
                  <a:srgbClr val="FFFFFF"/>
                </a:solidFill>
                <a:latin typeface="Arial"/>
                <a:ea typeface="Arial"/>
                <a:cs typeface="Arial"/>
              </a:rPr>
              <a:t>Ba câu hỏi phân tích</a:t>
            </a:r>
          </a:p>
        </p:txBody>
      </p:sp>
      <p:sp>
        <p:nvSpPr>
          <p:cNvPr id="2" name="A2-02 Titanic · Duy">
            <a:extLst xmlns:a="http://schemas.openxmlformats.org/drawingml/2006/main">
              <a:ext uri="{FF2B5EF4-FFF2-40B4-BE49-F238E27FC236}">
                <a16:creationId xmlns:a16="http://schemas.microsoft.com/office/drawing/2014/main" id="{3A4A9EBA-AD15-406C-A0CB-3D90F64F5846}"/>
              </a:ext>
            </a:extLst>
          </p:cNvPr>
          <p:cNvSpPr>
            <a:spLocks xmlns:a="http://schemas.openxmlformats.org/drawingml/2006/main" noGrp="1"/>
          </p:cNvSpPr>
          <p:nvPr/>
        </p:nvSpPr>
        <p:spPr>
          <a:xfrm xmlns:a="http://schemas.openxmlformats.org/drawingml/2006/main">
            <a:off x="609600" y="641985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C2D4DA"/>
                </a:solidFill>
                <a:latin typeface="Arial"/>
                <a:ea typeface="Arial"/>
                <a:cs typeface="Arial"/>
              </a:defRPr>
            </a:defPPr>
          </a:lstStyle>
          <a:p xmlns:a="http://schemas.openxmlformats.org/drawingml/2006/main">
            <a:pPr>
              <a:buNone/>
              <a:defRPr sz="1425" b="0">
                <a:solidFill>
                  <a:srgbClr val="C2D4DA"/>
                </a:solidFill>
                <a:latin typeface="Arial"/>
                <a:ea typeface="Arial"/>
                <a:cs typeface="Arial"/>
              </a:defRPr>
            </a:pPr>
            <a:r>
              <a:rPr sz="1425" b="0">
                <a:solidFill>
                  <a:srgbClr val="C2D4DA"/>
                </a:solidFill>
                <a:latin typeface="Arial"/>
                <a:ea typeface="Arial"/>
                <a:cs typeface="Arial"/>
              </a:rPr>
              <a:t>A2-02   Titanic</a:t>
            </a:r>
          </a:p>
        </p:txBody>
      </p:sp>
      <p:sp>
        <p:nvSpPr>
          <p:cNvPr id="3" name="2">
            <a:extLst xmlns:a="http://schemas.openxmlformats.org/drawingml/2006/main">
              <a:ext uri="{FF2B5EF4-FFF2-40B4-BE49-F238E27FC236}">
                <a16:creationId xmlns:a16="http://schemas.microsoft.com/office/drawing/2014/main" id="{CA8B4A07-00CE-4DE6-986D-16D6BF0BAE32}"/>
              </a:ext>
            </a:extLst>
          </p:cNvPr>
          <p:cNvSpPr>
            <a:spLocks xmlns:a="http://schemas.openxmlformats.org/drawingml/2006/main" noGrp="1"/>
          </p:cNvSpPr>
          <p:nvPr/>
        </p:nvSpPr>
        <p:spPr>
          <a:xfrm xmlns:a="http://schemas.openxmlformats.org/drawingml/2006/main">
            <a:off x="11068050" y="6381750"/>
            <a:ext cx="514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C29348"/>
                </a:solidFill>
                <a:latin typeface="Arial"/>
                <a:ea typeface="Arial"/>
                <a:cs typeface="Arial"/>
              </a:defRPr>
            </a:defPPr>
          </a:lstStyle>
          <a:p xmlns:a="http://schemas.openxmlformats.org/drawingml/2006/main">
            <a:pPr>
              <a:buNone/>
              <a:defRPr sz="1650" b="1">
                <a:solidFill>
                  <a:srgbClr val="C29348"/>
                </a:solidFill>
                <a:latin typeface="Arial"/>
                <a:ea typeface="Arial"/>
                <a:cs typeface="Arial"/>
              </a:defRPr>
            </a:pPr>
            <a:r>
              <a:rPr sz="1650" b="1">
                <a:solidFill>
                  <a:srgbClr val="C29348"/>
                </a:solidFill>
                <a:latin typeface="Arial"/>
                <a:ea typeface="Arial"/>
                <a:cs typeface="Arial"/>
              </a:rPr>
              <a:t>02</a:t>
            </a:r>
          </a:p>
        </p:txBody>
      </p:sp>
      <p:sp>
        <p:nvSpPr>
          <p:cNvPr id="4" name="1. Tỷ lệ sống khác nhau thế nào giữa nữ ">
            <a:extLst xmlns:a="http://schemas.openxmlformats.org/drawingml/2006/main">
              <a:ext uri="{FF2B5EF4-FFF2-40B4-BE49-F238E27FC236}">
                <a16:creationId xmlns:a16="http://schemas.microsoft.com/office/drawing/2014/main" id="{938BAAC4-6C28-4581-AA59-D7DF0E508215}"/>
              </a:ext>
            </a:extLst>
          </p:cNvPr>
          <p:cNvSpPr>
            <a:spLocks xmlns:a="http://schemas.openxmlformats.org/drawingml/2006/main" noGrp="1"/>
          </p:cNvSpPr>
          <p:nvPr/>
        </p:nvSpPr>
        <p:spPr>
          <a:xfrm xmlns:a="http://schemas.openxmlformats.org/drawingml/2006/main">
            <a:off x="2000250" y="1743075"/>
            <a:ext cx="9239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0">
                <a:solidFill>
                  <a:srgbClr val="FFFFFF"/>
                </a:solidFill>
                <a:latin typeface="Arial"/>
                <a:ea typeface="Arial"/>
                <a:cs typeface="Arial"/>
              </a:defRPr>
            </a:defPPr>
          </a:lstStyle>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Những yếu tố nào liên quan</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tới khả năng sống sót?</a:t>
            </a:r>
          </a:p>
        </p:txBody>
      </p:sp>
      <p:sp>
        <p:nvSpPr>
          <p:cNvPr id="5" name="2. Tỷ lệ sống thay đổi ra sao theo hạng ">
            <a:extLst xmlns:a="http://schemas.openxmlformats.org/drawingml/2006/main">
              <a:ext uri="{FF2B5EF4-FFF2-40B4-BE49-F238E27FC236}">
                <a16:creationId xmlns:a16="http://schemas.microsoft.com/office/drawing/2014/main" id="{E0DD19AA-84BE-469C-B23D-5F0554ED9F69}"/>
              </a:ext>
            </a:extLst>
          </p:cNvPr>
          <p:cNvSpPr>
            <a:spLocks xmlns:a="http://schemas.openxmlformats.org/drawingml/2006/main" noGrp="1"/>
          </p:cNvSpPr>
          <p:nvPr/>
        </p:nvSpPr>
        <p:spPr>
          <a:xfrm xmlns:a="http://schemas.openxmlformats.org/drawingml/2006/main">
            <a:off x="2000250" y="2952750"/>
            <a:ext cx="9239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0">
                <a:solidFill>
                  <a:srgbClr val="FFFFFF"/>
                </a:solidFill>
                <a:latin typeface="Arial"/>
                <a:ea typeface="Arial"/>
                <a:cs typeface="Arial"/>
              </a:defRPr>
            </a:defPPr>
          </a:lstStyle>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Giả thuyết “phụ nữ và trẻ em trước”</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có được phản ánh trong dữ liệu không?</a:t>
            </a:r>
          </a:p>
        </p:txBody>
      </p:sp>
      <p:sp>
        <p:nvSpPr>
          <p:cNvPr id="6" name="3. Quy mô gia đình và tuổi liên hệ thế n">
            <a:extLst xmlns:a="http://schemas.openxmlformats.org/drawingml/2006/main">
              <a:ext uri="{FF2B5EF4-FFF2-40B4-BE49-F238E27FC236}">
                <a16:creationId xmlns:a16="http://schemas.microsoft.com/office/drawing/2014/main" id="{86690B79-CB3C-45E5-8E85-E9E1BE88F316}"/>
              </a:ext>
            </a:extLst>
          </p:cNvPr>
          <p:cNvSpPr>
            <a:spLocks xmlns:a="http://schemas.openxmlformats.org/drawingml/2006/main" noGrp="1"/>
          </p:cNvSpPr>
          <p:nvPr/>
        </p:nvSpPr>
        <p:spPr>
          <a:xfrm xmlns:a="http://schemas.openxmlformats.org/drawingml/2006/main">
            <a:off x="2000250" y="417195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0">
                <a:solidFill>
                  <a:srgbClr val="FFFFFF"/>
                </a:solidFill>
                <a:latin typeface="Arial"/>
                <a:ea typeface="Arial"/>
                <a:cs typeface="Arial"/>
              </a:defRPr>
            </a:defPPr>
          </a:lstStyle>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Hạng vé có ảnh hưởng độc lập với giới tính</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không, hay chỉ là biến trung gian?</a:t>
            </a:r>
          </a:p>
        </p:txBody>
      </p:sp>
      <p:sp>
        <p:nvSpPr>
          <p:cNvPr id="7" name="OpenML 40945: 1.309 hành khách, 14 cột&#10;K">
            <a:extLst xmlns:a="http://schemas.openxmlformats.org/drawingml/2006/main">
              <a:ext uri="{FF2B5EF4-FFF2-40B4-BE49-F238E27FC236}">
                <a16:creationId xmlns:a16="http://schemas.microsoft.com/office/drawing/2014/main" id="{76978132-C256-4219-93DF-0C26711406B7}"/>
              </a:ext>
            </a:extLst>
          </p:cNvPr>
          <p:cNvSpPr>
            <a:spLocks xmlns:a="http://schemas.openxmlformats.org/drawingml/2006/main" noGrp="1"/>
          </p:cNvSpPr>
          <p:nvPr/>
        </p:nvSpPr>
        <p:spPr>
          <a:xfrm xmlns:a="http://schemas.openxmlformats.org/drawingml/2006/main">
            <a:off x="666750" y="54387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C2D4DA"/>
                </a:solidFill>
                <a:latin typeface="Arial"/>
                <a:ea typeface="Arial"/>
                <a:cs typeface="Arial"/>
              </a:defRPr>
            </a:defPPr>
          </a:lstStyle>
          <a:p xmlns:a="http://schemas.openxmlformats.org/drawingml/2006/main">
            <a:pPr>
              <a:buNone/>
              <a:defRPr sz="1800" b="0">
                <a:solidFill>
                  <a:srgbClr val="C2D4DA"/>
                </a:solidFill>
                <a:latin typeface="Arial"/>
                <a:ea typeface="Arial"/>
                <a:cs typeface="Arial"/>
              </a:defRPr>
            </a:pPr>
            <a:r>
              <a:rPr sz="1800" b="0">
                <a:solidFill>
                  <a:srgbClr val="C2D4DA"/>
                </a:solidFill>
                <a:latin typeface="Arial"/>
                <a:ea typeface="Arial"/>
                <a:cs typeface="Arial"/>
              </a:rPr>
              <a:t>Kaggle train.csv: 891 hành khách, 12 cột</a:t>
            </a:r>
          </a:p>
          <a:p xmlns:a="http://schemas.openxmlformats.org/drawingml/2006/main">
            <a:pPr>
              <a:buNone/>
              <a:defRPr sz="1800" b="0">
                <a:solidFill>
                  <a:srgbClr val="C2D4DA"/>
                </a:solidFill>
                <a:latin typeface="Arial"/>
                <a:ea typeface="Arial"/>
                <a:cs typeface="Arial"/>
              </a:defRPr>
            </a:pPr>
            <a:r>
              <a:rPr sz="1800" b="0">
                <a:solidFill>
                  <a:srgbClr val="C2D4DA"/>
                </a:solidFill>
                <a:latin typeface="Arial"/>
                <a:ea typeface="Arial"/>
                <a:cs typeface="Arial"/>
              </a:rPr>
              <a:t>Mục tiêu học Pandas và phân tích mô tả</a:t>
            </a:r>
          </a:p>
        </p:txBody>
      </p:sp>
      <p:sp>
        <p:nvSpPr>
          <p:cNvPr id="9" name="01">
            <a:extLst xmlns:a="http://schemas.openxmlformats.org/drawingml/2006/main">
              <a:ext uri="{FF2B5EF4-FFF2-40B4-BE49-F238E27FC236}">
                <a16:creationId xmlns:a16="http://schemas.microsoft.com/office/drawing/2014/main" id="{7D3B5973-46D3-43FE-9B3F-7BCAE8D6627E}"/>
              </a:ext>
            </a:extLst>
          </p:cNvPr>
          <p:cNvSpPr>
            <a:spLocks xmlns:a="http://schemas.openxmlformats.org/drawingml/2006/main" noGrp="1"/>
          </p:cNvSpPr>
          <p:nvPr/>
        </p:nvSpPr>
        <p:spPr>
          <a:xfrm xmlns:a="http://schemas.openxmlformats.org/drawingml/2006/main">
            <a:off x="666750" y="1666875"/>
            <a:ext cx="1000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575" b="1">
                <a:solidFill>
                  <a:srgbClr val="71C5C7"/>
                </a:solidFill>
                <a:latin typeface="Arial"/>
                <a:ea typeface="Arial"/>
                <a:cs typeface="Arial"/>
              </a:defRPr>
            </a:defPPr>
          </a:lstStyle>
          <a:p xmlns:a="http://schemas.openxmlformats.org/drawingml/2006/main">
            <a:pPr>
              <a:buNone/>
              <a:defRPr sz="4575" b="1">
                <a:solidFill>
                  <a:srgbClr val="71C5C7"/>
                </a:solidFill>
                <a:latin typeface="Arial"/>
                <a:ea typeface="Arial"/>
                <a:cs typeface="Arial"/>
              </a:defRPr>
            </a:pPr>
            <a:r>
              <a:rPr sz="4575" b="1">
                <a:solidFill>
                  <a:srgbClr val="71C5C7"/>
                </a:solidFill>
                <a:latin typeface="Arial"/>
                <a:ea typeface="Arial"/>
                <a:cs typeface="Arial"/>
              </a:rPr>
              <a:t>01</a:t>
            </a:r>
          </a:p>
        </p:txBody>
      </p:sp>
      <p:sp>
        <p:nvSpPr>
          <p:cNvPr id="10" name="02">
            <a:extLst xmlns:a="http://schemas.openxmlformats.org/drawingml/2006/main">
              <a:ext uri="{FF2B5EF4-FFF2-40B4-BE49-F238E27FC236}">
                <a16:creationId xmlns:a16="http://schemas.microsoft.com/office/drawing/2014/main" id="{96B0EB6F-1F5D-4787-B542-586931F369E9}"/>
              </a:ext>
            </a:extLst>
          </p:cNvPr>
          <p:cNvSpPr>
            <a:spLocks xmlns:a="http://schemas.openxmlformats.org/drawingml/2006/main" noGrp="1"/>
          </p:cNvSpPr>
          <p:nvPr/>
        </p:nvSpPr>
        <p:spPr>
          <a:xfrm xmlns:a="http://schemas.openxmlformats.org/drawingml/2006/main">
            <a:off x="666750" y="2886075"/>
            <a:ext cx="1000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575" b="1">
                <a:solidFill>
                  <a:srgbClr val="71C5C7"/>
                </a:solidFill>
                <a:latin typeface="Arial"/>
                <a:ea typeface="Arial"/>
                <a:cs typeface="Arial"/>
              </a:defRPr>
            </a:defPPr>
          </a:lstStyle>
          <a:p xmlns:a="http://schemas.openxmlformats.org/drawingml/2006/main">
            <a:pPr>
              <a:buNone/>
              <a:defRPr sz="4575" b="1">
                <a:solidFill>
                  <a:srgbClr val="71C5C7"/>
                </a:solidFill>
                <a:latin typeface="Arial"/>
                <a:ea typeface="Arial"/>
                <a:cs typeface="Arial"/>
              </a:defRPr>
            </a:pPr>
            <a:r>
              <a:rPr sz="4575" b="1">
                <a:solidFill>
                  <a:srgbClr val="71C5C7"/>
                </a:solidFill>
                <a:latin typeface="Arial"/>
                <a:ea typeface="Arial"/>
                <a:cs typeface="Arial"/>
              </a:rPr>
              <a:t>02</a:t>
            </a:r>
          </a:p>
        </p:txBody>
      </p:sp>
      <p:sp>
        <p:nvSpPr>
          <p:cNvPr id="11" name="03">
            <a:extLst xmlns:a="http://schemas.openxmlformats.org/drawingml/2006/main">
              <a:ext uri="{FF2B5EF4-FFF2-40B4-BE49-F238E27FC236}">
                <a16:creationId xmlns:a16="http://schemas.microsoft.com/office/drawing/2014/main" id="{2D12894C-9557-49C5-9A1A-4FD8E5A4BE4F}"/>
              </a:ext>
            </a:extLst>
          </p:cNvPr>
          <p:cNvSpPr>
            <a:spLocks xmlns:a="http://schemas.openxmlformats.org/drawingml/2006/main" noGrp="1"/>
          </p:cNvSpPr>
          <p:nvPr/>
        </p:nvSpPr>
        <p:spPr>
          <a:xfrm xmlns:a="http://schemas.openxmlformats.org/drawingml/2006/main">
            <a:off x="666750" y="4105275"/>
            <a:ext cx="1000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575" b="1">
                <a:solidFill>
                  <a:srgbClr val="71C5C7"/>
                </a:solidFill>
                <a:latin typeface="Arial"/>
                <a:ea typeface="Arial"/>
                <a:cs typeface="Arial"/>
              </a:defRPr>
            </a:defPPr>
          </a:lstStyle>
          <a:p xmlns:a="http://schemas.openxmlformats.org/drawingml/2006/main">
            <a:pPr>
              <a:buNone/>
              <a:defRPr sz="4575" b="1">
                <a:solidFill>
                  <a:srgbClr val="71C5C7"/>
                </a:solidFill>
                <a:latin typeface="Arial"/>
                <a:ea typeface="Arial"/>
                <a:cs typeface="Arial"/>
              </a:defRPr>
            </a:pPr>
            <a:r>
              <a:rPr sz="4575" b="1">
                <a:solidFill>
                  <a:srgbClr val="71C5C7"/>
                </a:solidFill>
                <a:latin typeface="Arial"/>
                <a:ea typeface="Arial"/>
                <a:cs typeface="Arial"/>
              </a:rPr>
              <a:t>03</a:t>
            </a:r>
          </a:p>
        </p:txBody>
      </p:sp>
    </p:spTree>
    <p:extLst>
      <p:ext uri="{BB962C8B-B14F-4D97-AF65-F5344CB8AC3E}">
        <p14:creationId xmlns:p14="http://schemas.microsoft.com/office/powerpoint/2010/main" val="860538521"/>
      </p:ext>
    </p:extLst>
  </p:cSld>
</p:sld>
</file>

<file path=ppt/slides/slide3.xml><?xml version="1.0" encoding="utf-8"?>
<p:sld xmlns:p="http://schemas.openxmlformats.org/presentationml/2006/main">
  <p:cSld>
    <p:bg>
      <p:bgPr>
        <a:solidFill xmlns:a="http://schemas.openxmlformats.org/drawingml/2006/main">
          <a:srgbClr val="FAF8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E894F39-F95D-43E8-944D-97B2722FE4C5}"/>
              </a:ext>
            </a:extLst>
          </p:cNvPr>
          <p:cNvSpPr>
            <a:spLocks xmlns:a="http://schemas.openxmlformats.org/drawingml/2006/main" noGrp="1"/>
          </p:cNvSpPr>
          <p:nvPr/>
        </p:nvSpPr>
        <p:spPr>
          <a:xfrm xmlns:a="http://schemas.openxmlformats.org/drawingml/2006/main">
            <a:off x="609600" y="428625"/>
            <a:ext cx="10858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53A49"/>
                </a:solidFill>
                <a:latin typeface="Arial"/>
                <a:ea typeface="Arial"/>
                <a:cs typeface="Arial"/>
              </a:defRPr>
            </a:defPPr>
          </a:lstStyle>
          <a:p xmlns:a="http://schemas.openxmlformats.org/drawingml/2006/main">
            <a:pPr>
              <a:defRPr sz="3300" b="1">
                <a:solidFill>
                  <a:srgbClr val="153A49"/>
                </a:solidFill>
                <a:latin typeface="Arial"/>
                <a:ea typeface="Arial"/>
                <a:cs typeface="Arial"/>
              </a:defRPr>
            </a:pPr>
            <a:r>
              <a:rPr sz="3300" b="1">
                <a:solidFill>
                  <a:srgbClr val="153A49"/>
                </a:solidFill>
                <a:latin typeface="Arial"/>
                <a:ea typeface="Arial"/>
                <a:cs typeface="Arial"/>
              </a:rPr>
              <a:t>Dữ liệu và quyết định làm sạch chính</a:t>
            </a:r>
          </a:p>
        </p:txBody>
      </p:sp>
      <p:sp>
        <p:nvSpPr>
          <p:cNvPr id="2" name="">
            <a:extLst xmlns:a="http://schemas.openxmlformats.org/drawingml/2006/main">
              <a:ext uri="{FF2B5EF4-FFF2-40B4-BE49-F238E27FC236}">
                <a16:creationId xmlns:a16="http://schemas.microsoft.com/office/drawing/2014/main" id="{05B76958-7ADD-45A4-AA33-1F219C8F75F7}"/>
              </a:ext>
            </a:extLst>
          </p:cNvPr>
          <p:cNvSpPr>
            <a:spLocks xmlns:a="http://schemas.openxmlformats.org/drawingml/2006/main" noGrp="1"/>
          </p:cNvSpPr>
          <p:nvPr/>
        </p:nvSpPr>
        <p:spPr>
          <a:xfrm xmlns:a="http://schemas.openxmlformats.org/drawingml/2006/main">
            <a:off x="666750" y="1752600"/>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1">
                <a:solidFill>
                  <a:srgbClr val="087F86"/>
                </a:solidFill>
                <a:latin typeface="Arial"/>
                <a:ea typeface="Arial"/>
                <a:cs typeface="Arial"/>
              </a:defRPr>
            </a:defPPr>
          </a:lstStyle>
          <a:p xmlns:a="http://schemas.openxmlformats.org/drawingml/2006/main">
            <a:pPr>
              <a:defRPr sz="2400" b="1">
                <a:solidFill>
                  <a:srgbClr val="087F86"/>
                </a:solidFill>
                <a:latin typeface="Arial"/>
                <a:ea typeface="Arial"/>
                <a:cs typeface="Arial"/>
              </a:defRPr>
            </a:pPr>
            <a:r>
              <a:rPr sz="2400" b="1">
                <a:solidFill>
                  <a:srgbClr val="087F86"/>
                </a:solidFill>
                <a:latin typeface="Arial"/>
                <a:ea typeface="Arial"/>
                <a:cs typeface="Arial"/>
              </a:rPr>
              <a:t>891 hành khách, 12 cột gốc, 342 người sống (38,4%)</a:t>
            </a:r>
          </a:p>
        </p:txBody>
      </p:sp>
      <p:graphicFrame>
        <p:nvGraphicFramePr>
          <p:cNvPr id="3" name="">
            <a:extLst xmlns:a="http://schemas.openxmlformats.org/drawingml/2006/main">
              <a:ext uri="{FF2B5EF4-FFF2-40B4-BE49-F238E27FC236}">
                <a16:creationId xmlns:a16="http://schemas.microsoft.com/office/drawing/2014/main" id="{F4D1CD61-D6B8-464D-881B-928A3091F573}"/>
              </a:ext>
            </a:extLst>
          </p:cNvPr>
          <p:cNvGraphicFramePr/>
          <p:nvPr/>
        </p:nvGraphicFramePr>
        <p:xfrm>
          <a:off xmlns:a="http://schemas.openxmlformats.org/drawingml/2006/main" x="666750" y="2552700"/>
          <a:ext xmlns:a="http://schemas.openxmlformats.org/drawingml/2006/main" cx="10763250" cy="3000375"/>
        </p:xfrm>
        <a:graphic xmlns:a="http://schemas.openxmlformats.org/drawingml/2006/main">
          <a:graphicData uri="http://schemas.openxmlformats.org/drawingml/2006/table">
            <a:tbl>
              <a:tblPr/>
              <a:tblGrid>
                <a:gridCol w="2524125"/>
                <a:gridCol w="4286250"/>
                <a:gridCol w="3952875"/>
              </a:tblGrid>
              <a:tr h="600075">
                <a:tc>
                  <a:txBody>
                    <a:bodyPr lIns="104775" tIns="104775" rIns="104775" bIns="104775"/>
                    <a:lstStyle/>
                    <a:p>
                      <a:r>
                        <a:rPr sz="1725" b="1">
                          <a:solidFill>
                            <a:srgbClr val="FFFFFF"/>
                          </a:solidFill>
                          <a:latin typeface="Arial"/>
                          <a:ea typeface="Arial"/>
                          <a:cs typeface="Arial"/>
                        </a:rPr>
                        <a:t>Nội dung</a:t>
                      </a:r>
                    </a:p>
                  </a:txBody>
                  <a:tcPr marL="91440" marR="91440" marT="45720" marB="45720" anchor="ctr">
                    <a:lnL w="6668">
                      <a:solidFill>
                        <a:srgbClr val="CBD7D5"/>
                      </a:solidFill>
                      <a:prstDash val="solid"/>
                    </a:lnL>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c>
                  <a:txBody>
                    <a:bodyPr lIns="104775" tIns="104775" rIns="104775" bIns="104775"/>
                    <a:lstStyle/>
                    <a:p>
                      <a:r>
                        <a:rPr sz="1725" b="1">
                          <a:solidFill>
                            <a:srgbClr val="FFFFFF"/>
                          </a:solidFill>
                          <a:latin typeface="Arial"/>
                          <a:ea typeface="Arial"/>
                          <a:cs typeface="Arial"/>
                        </a:rPr>
                        <a:t>Quyết định</a:t>
                      </a:r>
                    </a:p>
                  </a:txBody>
                  <a:tcPr marL="91440" marR="91440" marT="45720" marB="45720" anchor="ctr">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c>
                  <a:txBody>
                    <a:bodyPr lIns="104775" tIns="104775" rIns="104775" bIns="104775"/>
                    <a:lstStyle/>
                    <a:p>
                      <a:r>
                        <a:rPr sz="1725" b="1">
                          <a:solidFill>
                            <a:srgbClr val="FFFFFF"/>
                          </a:solidFill>
                          <a:latin typeface="Arial"/>
                          <a:ea typeface="Arial"/>
                          <a:cs typeface="Arial"/>
                        </a:rPr>
                        <a:t>Ảnh hưởng</a:t>
                      </a:r>
                    </a:p>
                  </a:txBody>
                  <a:tcPr marL="91440" marR="91440" marT="45720" marB="45720" anchor="ctr">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r>
              <a:tr h="600075">
                <a:tc>
                  <a:txBody>
                    <a:bodyPr lIns="104775" tIns="104775" rIns="104775" bIns="104775"/>
                    <a:lstStyle/>
                    <a:p>
                      <a:r>
                        <a:rPr sz="1725" b="0">
                          <a:solidFill>
                            <a:srgbClr val="153A49"/>
                          </a:solidFill>
                          <a:latin typeface="Arial"/>
                          <a:ea typeface="Arial"/>
                          <a:cs typeface="Arial"/>
                        </a:rPr>
                        <a:t>Trùng và kiểu dữ liệu</a:t>
                      </a:r>
                    </a:p>
                  </a:txBody>
                  <a:tcPr marL="91440" marR="91440" marT="45720" marB="45720" anchor="ctr">
                    <a:lnL w="6668">
                      <a:solidFill>
                        <a:srgbClr val="CBD7D5"/>
                      </a:solidFill>
                      <a:prstDash val="solid"/>
                    </a:lnL>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725" b="0">
                          <a:solidFill>
                            <a:srgbClr val="153A49"/>
                          </a:solidFill>
                          <a:latin typeface="Arial"/>
                          <a:ea typeface="Arial"/>
                          <a:cs typeface="Arial"/>
                        </a:rPr>
                        <a:t>Kiểm tra, chuẩn hóa kiểu số/nhãn</a:t>
                      </a:r>
                    </a:p>
                  </a:txBody>
                  <a:tcPr marL="91440" marR="91440" marT="45720" marB="45720" anchor="ctr">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725" b="0">
                          <a:solidFill>
                            <a:srgbClr val="153A49"/>
                          </a:solidFill>
                          <a:latin typeface="Arial"/>
                          <a:ea typeface="Arial"/>
                          <a:cs typeface="Arial"/>
                        </a:rPr>
                        <a:t>0 dòng trùng, 0 lỗi ép kiểu</a:t>
                      </a:r>
                    </a:p>
                  </a:txBody>
                  <a:tcPr marL="91440" marR="91440" marT="45720" marB="45720" anchor="ctr">
                    <a:lnR w="6668">
                      <a:solidFill>
                        <a:srgbClr val="CBD7D5"/>
                      </a:solidFill>
                      <a:prstDash val="solid"/>
                    </a:lnR>
                    <a:lnB w="6668">
                      <a:solidFill>
                        <a:srgbClr val="CBD7D5"/>
                      </a:solidFill>
                      <a:prstDash val="solid"/>
                    </a:lnB>
                    <a:solidFill>
                      <a:srgbClr val="FAF8F2"/>
                    </a:solidFill>
                  </a:tcPr>
                </a:tc>
              </a:tr>
              <a:tr h="600075">
                <a:tc>
                  <a:txBody>
                    <a:bodyPr lIns="104775" tIns="104775" rIns="104775" bIns="104775"/>
                    <a:lstStyle/>
                    <a:p>
                      <a:r>
                        <a:rPr sz="1725" b="0">
                          <a:solidFill>
                            <a:srgbClr val="153A49"/>
                          </a:solidFill>
                          <a:latin typeface="Arial"/>
                          <a:ea typeface="Arial"/>
                          <a:cs typeface="Arial"/>
                        </a:rPr>
                        <a:t>Age thiếu</a:t>
                      </a:r>
                    </a:p>
                  </a:txBody>
                  <a:tcPr marL="91440" marR="91440" marT="45720" marB="45720" anchor="ctr">
                    <a:lnL w="6668">
                      <a:solidFill>
                        <a:srgbClr val="CBD7D5"/>
                      </a:solidFill>
                      <a:prstDash val="solid"/>
                    </a:lnL>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1725" b="0">
                          <a:solidFill>
                            <a:srgbClr val="153A49"/>
                          </a:solidFill>
                          <a:latin typeface="Arial"/>
                          <a:ea typeface="Arial"/>
                          <a:cs typeface="Arial"/>
                        </a:rPr>
                        <a:t>Không điền trong phân tích chính</a:t>
                      </a:r>
                    </a:p>
                  </a:txBody>
                  <a:tcPr marL="91440" marR="91440" marT="45720" marB="45720" anchor="ctr">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1725" b="0">
                          <a:solidFill>
                            <a:srgbClr val="153A49"/>
                          </a:solidFill>
                          <a:latin typeface="Arial"/>
                          <a:ea typeface="Arial"/>
                          <a:cs typeface="Arial"/>
                        </a:rPr>
                        <a:t>177 thiếu; dùng 714 tuổi quan sát</a:t>
                      </a:r>
                    </a:p>
                  </a:txBody>
                  <a:tcPr marL="91440" marR="91440" marT="45720" marB="45720" anchor="ctr">
                    <a:lnR w="6668">
                      <a:solidFill>
                        <a:srgbClr val="CBD7D5"/>
                      </a:solidFill>
                      <a:prstDash val="solid"/>
                    </a:lnR>
                    <a:lnB w="6668">
                      <a:solidFill>
                        <a:srgbClr val="CBD7D5"/>
                      </a:solidFill>
                      <a:prstDash val="solid"/>
                    </a:lnB>
                    <a:solidFill>
                      <a:srgbClr val="EEF3EF"/>
                    </a:solidFill>
                  </a:tcPr>
                </a:tc>
              </a:tr>
              <a:tr h="600075">
                <a:tc>
                  <a:txBody>
                    <a:bodyPr lIns="104775" tIns="104775" rIns="104775" bIns="104775"/>
                    <a:lstStyle/>
                    <a:p>
                      <a:r>
                        <a:rPr sz="1725" b="0">
                          <a:solidFill>
                            <a:srgbClr val="153A49"/>
                          </a:solidFill>
                          <a:latin typeface="Arial"/>
                          <a:ea typeface="Arial"/>
                          <a:cs typeface="Arial"/>
                        </a:rPr>
                        <a:t>Cabin thiếu</a:t>
                      </a:r>
                    </a:p>
                  </a:txBody>
                  <a:tcPr marL="91440" marR="91440" marT="45720" marB="45720" anchor="ctr">
                    <a:lnL w="6668">
                      <a:solidFill>
                        <a:srgbClr val="CBD7D5"/>
                      </a:solidFill>
                      <a:prstDash val="solid"/>
                    </a:lnL>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725" b="0">
                          <a:solidFill>
                            <a:srgbClr val="153A49"/>
                          </a:solidFill>
                          <a:latin typeface="Arial"/>
                          <a:ea typeface="Arial"/>
                          <a:cs typeface="Arial"/>
                        </a:rPr>
                        <a:t>Bỏ khỏi bảng phân tích, giữ CSV gốc</a:t>
                      </a:r>
                    </a:p>
                  </a:txBody>
                  <a:tcPr marL="91440" marR="91440" marT="45720" marB="45720" anchor="ctr">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725" b="0">
                          <a:solidFill>
                            <a:srgbClr val="153A49"/>
                          </a:solidFill>
                          <a:latin typeface="Arial"/>
                          <a:ea typeface="Arial"/>
                          <a:cs typeface="Arial"/>
                        </a:rPr>
                        <a:t>687 ô thiếu (77,1%)</a:t>
                      </a:r>
                    </a:p>
                  </a:txBody>
                  <a:tcPr marL="91440" marR="91440" marT="45720" marB="45720" anchor="ctr">
                    <a:lnR w="6668">
                      <a:solidFill>
                        <a:srgbClr val="CBD7D5"/>
                      </a:solidFill>
                      <a:prstDash val="solid"/>
                    </a:lnR>
                    <a:lnB w="6668">
                      <a:solidFill>
                        <a:srgbClr val="CBD7D5"/>
                      </a:solidFill>
                      <a:prstDash val="solid"/>
                    </a:lnB>
                    <a:solidFill>
                      <a:srgbClr val="FAF8F2"/>
                    </a:solidFill>
                  </a:tcPr>
                </a:tc>
              </a:tr>
              <a:tr h="600075">
                <a:tc>
                  <a:txBody>
                    <a:bodyPr lIns="104775" tIns="104775" rIns="104775" bIns="104775"/>
                    <a:lstStyle/>
                    <a:p>
                      <a:r>
                        <a:rPr sz="1725" b="0">
                          <a:solidFill>
                            <a:srgbClr val="153A49"/>
                          </a:solidFill>
                          <a:latin typeface="Arial"/>
                          <a:ea typeface="Arial"/>
                          <a:cs typeface="Arial"/>
                        </a:rPr>
                        <a:t>Fare cao hoặc bằng 0</a:t>
                      </a:r>
                    </a:p>
                  </a:txBody>
                  <a:tcPr marL="91440" marR="91440" marT="45720" marB="45720" anchor="ctr">
                    <a:lnL w="6668">
                      <a:solidFill>
                        <a:srgbClr val="CBD7D5"/>
                      </a:solidFill>
                      <a:prstDash val="solid"/>
                    </a:lnL>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1725" b="0">
                          <a:solidFill>
                            <a:srgbClr val="153A49"/>
                          </a:solidFill>
                          <a:latin typeface="Arial"/>
                          <a:ea typeface="Arial"/>
                          <a:cs typeface="Arial"/>
                        </a:rPr>
                        <a:t>Giữ lại, gắn cờ IQR để khảo sát</a:t>
                      </a:r>
                    </a:p>
                  </a:txBody>
                  <a:tcPr marL="91440" marR="91440" marT="45720" marB="45720" anchor="ctr">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1725" b="0">
                          <a:solidFill>
                            <a:srgbClr val="153A49"/>
                          </a:solidFill>
                          <a:latin typeface="Arial"/>
                          <a:ea typeface="Arial"/>
                          <a:cs typeface="Arial"/>
                        </a:rPr>
                        <a:t>116 cờ IQR; 15 giá vé bằng 0</a:t>
                      </a:r>
                    </a:p>
                  </a:txBody>
                  <a:tcPr marL="91440" marR="91440" marT="45720" marB="45720" anchor="ctr">
                    <a:lnR w="6668">
                      <a:solidFill>
                        <a:srgbClr val="CBD7D5"/>
                      </a:solidFill>
                      <a:prstDash val="solid"/>
                    </a:lnR>
                    <a:lnB w="6668">
                      <a:solidFill>
                        <a:srgbClr val="CBD7D5"/>
                      </a:solidFill>
                      <a:prstDash val="solid"/>
                    </a:lnB>
                    <a:solidFill>
                      <a:srgbClr val="EEF3EF"/>
                    </a:solidFill>
                  </a:tcPr>
                </a:tc>
              </a:tr>
            </a:tbl>
          </a:graphicData>
        </a:graphic>
      </p:graphicFrame>
      <p:sp>
        <p:nvSpPr>
          <p:cNvPr id="4" name="">
            <a:extLst xmlns:a="http://schemas.openxmlformats.org/drawingml/2006/main">
              <a:ext uri="{FF2B5EF4-FFF2-40B4-BE49-F238E27FC236}">
                <a16:creationId xmlns:a16="http://schemas.microsoft.com/office/drawing/2014/main" id="{80F53AB2-D19A-4D9B-98D7-C58DA5C84154}"/>
              </a:ext>
            </a:extLst>
          </p:cNvPr>
          <p:cNvSpPr>
            <a:spLocks xmlns:a="http://schemas.openxmlformats.org/drawingml/2006/main" noGrp="1"/>
          </p:cNvSpPr>
          <p:nvPr/>
        </p:nvSpPr>
        <p:spPr>
          <a:xfrm xmlns:a="http://schemas.openxmlformats.org/drawingml/2006/main">
            <a:off x="666750" y="588645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8717B"/>
                </a:solidFill>
                <a:latin typeface="Arial"/>
                <a:ea typeface="Arial"/>
                <a:cs typeface="Arial"/>
              </a:defRPr>
            </a:defPPr>
          </a:lstStyle>
          <a:p xmlns:a="http://schemas.openxmlformats.org/drawingml/2006/main">
            <a:pPr>
              <a:defRPr sz="1725" b="0">
                <a:solidFill>
                  <a:srgbClr val="58717B"/>
                </a:solidFill>
                <a:latin typeface="Arial"/>
                <a:ea typeface="Arial"/>
                <a:cs typeface="Arial"/>
              </a:defRPr>
            </a:pPr>
            <a:r>
              <a:rPr sz="1725" b="0">
                <a:solidFill>
                  <a:srgbClr val="58717B"/>
                </a:solidFill>
                <a:latin typeface="Arial"/>
                <a:ea typeface="Arial"/>
                <a:cs typeface="Arial"/>
              </a:rPr>
              <a:t>Bảng phân tích 891 × 10. Nhật ký ghi việc làm, lý do và số dòng ảnh hưởng</a:t>
            </a:r>
          </a:p>
        </p:txBody>
      </p:sp>
      <p:sp>
        <p:nvSpPr>
          <p:cNvPr id="5" name="">
            <a:extLst xmlns:a="http://schemas.openxmlformats.org/drawingml/2006/main">
              <a:ext uri="{FF2B5EF4-FFF2-40B4-BE49-F238E27FC236}">
                <a16:creationId xmlns:a16="http://schemas.microsoft.com/office/drawing/2014/main" id="{F3E264BF-156F-4ECE-BB05-9715891A7308}"/>
              </a:ext>
            </a:extLst>
          </p:cNvPr>
          <p:cNvSpPr>
            <a:spLocks xmlns:a="http://schemas.openxmlformats.org/drawingml/2006/main" noGrp="1"/>
          </p:cNvSpPr>
          <p:nvPr/>
        </p:nvSpPr>
        <p:spPr>
          <a:xfrm xmlns:a="http://schemas.openxmlformats.org/drawingml/2006/main">
            <a:off x="609600" y="64198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58717B"/>
                </a:solidFill>
                <a:latin typeface="Arial"/>
                <a:ea typeface="Arial"/>
                <a:cs typeface="Arial"/>
              </a:defRPr>
            </a:defPPr>
          </a:lstStyle>
          <a:p xmlns:a="http://schemas.openxmlformats.org/drawingml/2006/main">
            <a:pPr>
              <a:defRPr sz="1425" b="0">
                <a:solidFill>
                  <a:srgbClr val="58717B"/>
                </a:solidFill>
                <a:latin typeface="Arial"/>
                <a:ea typeface="Arial"/>
                <a:cs typeface="Arial"/>
              </a:defRPr>
            </a:pPr>
            <a:r>
              <a:rPr sz="1425" b="0">
                <a:solidFill>
                  <a:srgbClr val="58717B"/>
                </a:solidFill>
                <a:latin typeface="Arial"/>
                <a:ea typeface="Arial"/>
                <a:cs typeface="Arial"/>
              </a:rPr>
              <a:t>A2-02   Titanic Kaggle 891</a:t>
            </a:r>
          </a:p>
        </p:txBody>
      </p:sp>
      <p:sp>
        <p:nvSpPr>
          <p:cNvPr id="6" name="">
            <a:extLst xmlns:a="http://schemas.openxmlformats.org/drawingml/2006/main">
              <a:ext uri="{FF2B5EF4-FFF2-40B4-BE49-F238E27FC236}">
                <a16:creationId xmlns:a16="http://schemas.microsoft.com/office/drawing/2014/main" id="{BAE34D74-FBF7-49F7-9FC6-9D4EC8567138}"/>
              </a:ext>
            </a:extLst>
          </p:cNvPr>
          <p:cNvSpPr>
            <a:spLocks xmlns:a="http://schemas.openxmlformats.org/drawingml/2006/main" noGrp="1"/>
          </p:cNvSpPr>
          <p:nvPr/>
        </p:nvSpPr>
        <p:spPr>
          <a:xfrm xmlns:a="http://schemas.openxmlformats.org/drawingml/2006/main">
            <a:off x="11068050" y="6381750"/>
            <a:ext cx="514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087F86"/>
                </a:solidFill>
                <a:latin typeface="Arial"/>
                <a:ea typeface="Arial"/>
                <a:cs typeface="Arial"/>
              </a:defRPr>
            </a:defPPr>
          </a:lstStyle>
          <a:p xmlns:a="http://schemas.openxmlformats.org/drawingml/2006/main">
            <a:pPr>
              <a:defRPr sz="1650" b="1">
                <a:solidFill>
                  <a:srgbClr val="087F86"/>
                </a:solidFill>
                <a:latin typeface="Arial"/>
                <a:ea typeface="Arial"/>
                <a:cs typeface="Arial"/>
              </a:defRPr>
            </a:pPr>
            <a:r>
              <a:rPr sz="1650" b="1">
                <a:solidFill>
                  <a:srgbClr val="087F86"/>
                </a:solidFill>
                <a:latin typeface="Arial"/>
                <a:ea typeface="Arial"/>
                <a:cs typeface="Arial"/>
              </a:rPr>
              <a:t>03</a:t>
            </a:r>
          </a:p>
        </p:txBody>
      </p:sp>
    </p:spTree>
    <p:extLst>
      <p:ext uri="{BB962C8B-B14F-4D97-AF65-F5344CB8AC3E}">
        <p14:creationId xmlns:p14="http://schemas.microsoft.com/office/powerpoint/2010/main" val="660862357"/>
      </p:ext>
    </p:extLst>
  </p:cSld>
</p:sld>
</file>

<file path=ppt/slides/slide4.xml><?xml version="1.0" encoding="utf-8"?>
<p:sld xmlns:p="http://schemas.openxmlformats.org/presentationml/2006/main">
  <p:cSld>
    <p:bg>
      <p:bgPr>
        <a:solidFill xmlns:a="http://schemas.openxmlformats.org/drawingml/2006/main">
          <a:srgbClr val="FAF8F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4B51C67-62BD-45EE-AFED-2C34A5E64B64}"/>
              </a:ext>
            </a:extLst>
          </p:cNvPr>
          <p:cNvSpPr>
            <a:spLocks xmlns:a="http://schemas.openxmlformats.org/drawingml/2006/main" noGrp="1"/>
          </p:cNvSpPr>
          <p:nvPr/>
        </p:nvSpPr>
        <p:spPr>
          <a:xfrm xmlns:a="http://schemas.openxmlformats.org/drawingml/2006/main">
            <a:off x="609600" y="428625"/>
            <a:ext cx="10858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53A49"/>
                </a:solidFill>
                <a:latin typeface="Arial"/>
                <a:ea typeface="Arial"/>
                <a:cs typeface="Arial"/>
              </a:defRPr>
            </a:defPPr>
          </a:lstStyle>
          <a:p xmlns:a="http://schemas.openxmlformats.org/drawingml/2006/main">
            <a:pPr>
              <a:defRPr sz="3300" b="1">
                <a:solidFill>
                  <a:srgbClr val="153A49"/>
                </a:solidFill>
                <a:latin typeface="Arial"/>
                <a:ea typeface="Arial"/>
                <a:cs typeface="Arial"/>
              </a:defRPr>
            </a:pPr>
            <a:r>
              <a:rPr sz="3300" b="1">
                <a:solidFill>
                  <a:srgbClr val="153A49"/>
                </a:solidFill>
                <a:latin typeface="Arial"/>
                <a:ea typeface="Arial"/>
                <a:cs typeface="Arial"/>
              </a:rPr>
              <a:t>Câu 1: Giới tính và hạng vé</a:t>
            </a:r>
          </a:p>
          <a:p xmlns:a="http://schemas.openxmlformats.org/drawingml/2006/main">
            <a:pPr>
              <a:defRPr sz="3300" b="1">
                <a:solidFill>
                  <a:srgbClr val="153A49"/>
                </a:solidFill>
                <a:latin typeface="Arial"/>
                <a:ea typeface="Arial"/>
                <a:cs typeface="Arial"/>
              </a:defRPr>
            </a:pPr>
            <a:r>
              <a:rPr sz="3300" b="1">
                <a:solidFill>
                  <a:srgbClr val="153A49"/>
                </a:solidFill>
                <a:latin typeface="Arial"/>
                <a:ea typeface="Arial"/>
                <a:cs typeface="Arial"/>
              </a:rPr>
              <a:t>đều liên quan tới tỷ lệ sống</a:t>
            </a:r>
          </a:p>
        </p:txBody>
      </p:sp>
      <p:graphicFrame>
        <p:nvGraphicFramePr>
          <p:cNvPr id="2" name="Chart">
            <a:extLst xmlns:a="http://schemas.openxmlformats.org/drawingml/2006/main">
              <a:ext uri="{FF2B5EF4-FFF2-40B4-BE49-F238E27FC236}">
                <a16:creationId xmlns:a16="http://schemas.microsoft.com/office/drawing/2014/main" id="{35BCF90A-6CCB-4C89-AED2-E28743113531}"/>
              </a:ext>
            </a:extLst>
          </p:cNvPr>
          <p:cNvGraphicFramePr/>
          <p:nvPr/>
        </p:nvGraphicFramePr>
        <p:xfrm>
          <a:off xmlns:a="http://schemas.openxmlformats.org/drawingml/2006/main" x="666750" y="1971675"/>
          <a:ext xmlns:a="http://schemas.openxmlformats.org/drawingml/2006/main" cx="7334250" cy="3638550"/>
        </p:xfrm>
        <a:graphic xmlns:a="http://schemas.openxmlformats.org/drawingml/2006/main">
          <a:graphicData uri="http://schemas.openxmlformats.org/drawingml/2006/chart">
            <c:chart xmlns:r="http://schemas.openxmlformats.org/officeDocument/2006/relationships" xmlns:c="http://schemas.openxmlformats.org/drawingml/2006/chart" r:id="R83e338e5122b4371"/>
          </a:graphicData>
        </a:graphic>
      </p:graphicFrame>
      <p:sp>
        <p:nvSpPr>
          <p:cNvPr id="3" name="">
            <a:extLst xmlns:a="http://schemas.openxmlformats.org/drawingml/2006/main">
              <a:ext uri="{FF2B5EF4-FFF2-40B4-BE49-F238E27FC236}">
                <a16:creationId xmlns:a16="http://schemas.microsoft.com/office/drawing/2014/main" id="{78E72782-5F31-4B33-8383-D5398D4B1F7B}"/>
              </a:ext>
            </a:extLst>
          </p:cNvPr>
          <p:cNvSpPr>
            <a:spLocks xmlns:a="http://schemas.openxmlformats.org/drawingml/2006/main" noGrp="1"/>
          </p:cNvSpPr>
          <p:nvPr/>
        </p:nvSpPr>
        <p:spPr>
          <a:xfrm xmlns:a="http://schemas.openxmlformats.org/drawingml/2006/main">
            <a:off x="8401050" y="2276475"/>
            <a:ext cx="304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6225" b="1">
                <a:solidFill>
                  <a:srgbClr val="087F86"/>
                </a:solidFill>
                <a:latin typeface="Arial"/>
                <a:ea typeface="Arial"/>
                <a:cs typeface="Arial"/>
              </a:defRPr>
            </a:defPPr>
          </a:lstStyle>
          <a:p xmlns:a="http://schemas.openxmlformats.org/drawingml/2006/main">
            <a:pPr>
              <a:defRPr sz="6225" b="1">
                <a:solidFill>
                  <a:srgbClr val="087F86"/>
                </a:solidFill>
                <a:latin typeface="Arial"/>
                <a:ea typeface="Arial"/>
                <a:cs typeface="Arial"/>
              </a:defRPr>
            </a:pPr>
            <a:r>
              <a:rPr sz="6225" b="1">
                <a:solidFill>
                  <a:srgbClr val="087F86"/>
                </a:solidFill>
                <a:latin typeface="Arial"/>
                <a:ea typeface="Arial"/>
                <a:cs typeface="Arial"/>
              </a:rPr>
              <a:t>55,3</a:t>
            </a:r>
          </a:p>
        </p:txBody>
      </p:sp>
      <p:sp>
        <p:nvSpPr>
          <p:cNvPr id="4" name="">
            <a:extLst xmlns:a="http://schemas.openxmlformats.org/drawingml/2006/main">
              <a:ext uri="{FF2B5EF4-FFF2-40B4-BE49-F238E27FC236}">
                <a16:creationId xmlns:a16="http://schemas.microsoft.com/office/drawing/2014/main" id="{6788C5A1-4A3C-4C6B-95D1-9929F45386F1}"/>
              </a:ext>
            </a:extLst>
          </p:cNvPr>
          <p:cNvSpPr>
            <a:spLocks xmlns:a="http://schemas.openxmlformats.org/drawingml/2006/main" noGrp="1"/>
          </p:cNvSpPr>
          <p:nvPr/>
        </p:nvSpPr>
        <p:spPr>
          <a:xfrm xmlns:a="http://schemas.openxmlformats.org/drawingml/2006/main">
            <a:off x="8439150" y="3333750"/>
            <a:ext cx="304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53A49"/>
                </a:solidFill>
                <a:latin typeface="Arial"/>
                <a:ea typeface="Arial"/>
                <a:cs typeface="Arial"/>
              </a:defRPr>
            </a:defPPr>
          </a:lstStyle>
          <a:p xmlns:a="http://schemas.openxmlformats.org/drawingml/2006/main">
            <a:pPr>
              <a:defRPr sz="2100" b="0">
                <a:solidFill>
                  <a:srgbClr val="153A49"/>
                </a:solidFill>
                <a:latin typeface="Arial"/>
                <a:ea typeface="Arial"/>
                <a:cs typeface="Arial"/>
              </a:defRPr>
            </a:pPr>
            <a:r>
              <a:rPr sz="2100" b="0">
                <a:solidFill>
                  <a:srgbClr val="153A49"/>
                </a:solidFill>
                <a:latin typeface="Arial"/>
                <a:ea typeface="Arial"/>
                <a:cs typeface="Arial"/>
              </a:rPr>
              <a:t>điểm phần trăm</a:t>
            </a:r>
          </a:p>
          <a:p xmlns:a="http://schemas.openxmlformats.org/drawingml/2006/main">
            <a:pPr>
              <a:defRPr sz="2100" b="0">
                <a:solidFill>
                  <a:srgbClr val="153A49"/>
                </a:solidFill>
                <a:latin typeface="Arial"/>
                <a:ea typeface="Arial"/>
                <a:cs typeface="Arial"/>
              </a:defRPr>
            </a:pPr>
            <a:r>
              <a:rPr sz="2100" b="0">
                <a:solidFill>
                  <a:srgbClr val="153A49"/>
                </a:solidFill>
                <a:latin typeface="Arial"/>
                <a:ea typeface="Arial"/>
                <a:cs typeface="Arial"/>
              </a:rPr>
              <a:t>chênh lệch nữ và nam</a:t>
            </a:r>
          </a:p>
        </p:txBody>
      </p:sp>
      <p:sp>
        <p:nvSpPr>
          <p:cNvPr id="5" name="">
            <a:extLst xmlns:a="http://schemas.openxmlformats.org/drawingml/2006/main">
              <a:ext uri="{FF2B5EF4-FFF2-40B4-BE49-F238E27FC236}">
                <a16:creationId xmlns:a16="http://schemas.microsoft.com/office/drawing/2014/main" id="{180F8943-1ED6-42DD-A05C-7F1EFBF3E527}"/>
              </a:ext>
            </a:extLst>
          </p:cNvPr>
          <p:cNvSpPr>
            <a:spLocks xmlns:a="http://schemas.openxmlformats.org/drawingml/2006/main" noGrp="1"/>
          </p:cNvSpPr>
          <p:nvPr/>
        </p:nvSpPr>
        <p:spPr>
          <a:xfrm xmlns:a="http://schemas.openxmlformats.org/drawingml/2006/main">
            <a:off x="8439150" y="4791075"/>
            <a:ext cx="30956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58717B"/>
                </a:solidFill>
                <a:latin typeface="Arial"/>
                <a:ea typeface="Arial"/>
                <a:cs typeface="Arial"/>
              </a:defRPr>
            </a:defPPr>
          </a:lstStyle>
          <a:p xmlns:a="http://schemas.openxmlformats.org/drawingml/2006/main">
            <a:pPr>
              <a:defRPr sz="1875" b="0">
                <a:solidFill>
                  <a:srgbClr val="58717B"/>
                </a:solidFill>
                <a:latin typeface="Arial"/>
                <a:ea typeface="Arial"/>
                <a:cs typeface="Arial"/>
              </a:defRPr>
            </a:pPr>
            <a:r>
              <a:rPr sz="1875" b="0">
                <a:solidFill>
                  <a:srgbClr val="58717B"/>
                </a:solidFill>
                <a:latin typeface="Arial"/>
                <a:ea typeface="Arial"/>
                <a:cs typeface="Arial"/>
              </a:rPr>
              <a:t>Nữ: 233/314 sống</a:t>
            </a:r>
          </a:p>
          <a:p xmlns:a="http://schemas.openxmlformats.org/drawingml/2006/main">
            <a:pPr>
              <a:defRPr sz="1875" b="0">
                <a:solidFill>
                  <a:srgbClr val="58717B"/>
                </a:solidFill>
                <a:latin typeface="Arial"/>
                <a:ea typeface="Arial"/>
                <a:cs typeface="Arial"/>
              </a:defRPr>
            </a:pPr>
            <a:r>
              <a:rPr sz="1875" b="0">
                <a:solidFill>
                  <a:srgbClr val="58717B"/>
                </a:solidFill>
                <a:latin typeface="Arial"/>
                <a:ea typeface="Arial"/>
                <a:cs typeface="Arial"/>
              </a:rPr>
              <a:t>Nam: 109/577 sống</a:t>
            </a:r>
          </a:p>
        </p:txBody>
      </p:sp>
      <p:sp>
        <p:nvSpPr>
          <p:cNvPr id="6" name="">
            <a:extLst xmlns:a="http://schemas.openxmlformats.org/drawingml/2006/main">
              <a:ext uri="{FF2B5EF4-FFF2-40B4-BE49-F238E27FC236}">
                <a16:creationId xmlns:a16="http://schemas.microsoft.com/office/drawing/2014/main" id="{F3C150AF-7C69-4623-97EE-902166CBDD2A}"/>
              </a:ext>
            </a:extLst>
          </p:cNvPr>
          <p:cNvSpPr>
            <a:spLocks xmlns:a="http://schemas.openxmlformats.org/drawingml/2006/main" noGrp="1"/>
          </p:cNvSpPr>
          <p:nvPr/>
        </p:nvSpPr>
        <p:spPr>
          <a:xfrm xmlns:a="http://schemas.openxmlformats.org/drawingml/2006/main">
            <a:off x="666750" y="5886450"/>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8717B"/>
                </a:solidFill>
                <a:latin typeface="Arial"/>
                <a:ea typeface="Arial"/>
                <a:cs typeface="Arial"/>
              </a:defRPr>
            </a:defPPr>
          </a:lstStyle>
          <a:p xmlns:a="http://schemas.openxmlformats.org/drawingml/2006/main">
            <a:pPr>
              <a:defRPr sz="1725" b="0">
                <a:solidFill>
                  <a:srgbClr val="58717B"/>
                </a:solidFill>
                <a:latin typeface="Arial"/>
                <a:ea typeface="Arial"/>
                <a:cs typeface="Arial"/>
              </a:defRPr>
            </a:pPr>
            <a:r>
              <a:rPr sz="1725" b="0">
                <a:solidFill>
                  <a:srgbClr val="58717B"/>
                </a:solidFill>
                <a:latin typeface="Arial"/>
                <a:ea typeface="Arial"/>
                <a:cs typeface="Arial"/>
              </a:rPr>
              <a:t>Hạng 1/2/3: 63,0% / 47,3% / 24,2%. Chênh lệch mô tả chưa xác định nguyên nhân</a:t>
            </a:r>
          </a:p>
        </p:txBody>
      </p:sp>
      <p:sp>
        <p:nvSpPr>
          <p:cNvPr id="7" name="">
            <a:extLst xmlns:a="http://schemas.openxmlformats.org/drawingml/2006/main">
              <a:ext uri="{FF2B5EF4-FFF2-40B4-BE49-F238E27FC236}">
                <a16:creationId xmlns:a16="http://schemas.microsoft.com/office/drawing/2014/main" id="{09321F75-ED03-4214-94D8-0A3437E4AC7A}"/>
              </a:ext>
            </a:extLst>
          </p:cNvPr>
          <p:cNvSpPr>
            <a:spLocks xmlns:a="http://schemas.openxmlformats.org/drawingml/2006/main" noGrp="1"/>
          </p:cNvSpPr>
          <p:nvPr/>
        </p:nvSpPr>
        <p:spPr>
          <a:xfrm xmlns:a="http://schemas.openxmlformats.org/drawingml/2006/main">
            <a:off x="609600" y="64198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58717B"/>
                </a:solidFill>
                <a:latin typeface="Arial"/>
                <a:ea typeface="Arial"/>
                <a:cs typeface="Arial"/>
              </a:defRPr>
            </a:defPPr>
          </a:lstStyle>
          <a:p xmlns:a="http://schemas.openxmlformats.org/drawingml/2006/main">
            <a:pPr>
              <a:defRPr sz="1425" b="0">
                <a:solidFill>
                  <a:srgbClr val="58717B"/>
                </a:solidFill>
                <a:latin typeface="Arial"/>
                <a:ea typeface="Arial"/>
                <a:cs typeface="Arial"/>
              </a:defRPr>
            </a:pPr>
            <a:r>
              <a:rPr sz="1425" b="0">
                <a:solidFill>
                  <a:srgbClr val="58717B"/>
                </a:solidFill>
                <a:latin typeface="Arial"/>
                <a:ea typeface="Arial"/>
                <a:cs typeface="Arial"/>
              </a:rPr>
              <a:t>A2-02   Titanic Kaggle 891</a:t>
            </a:r>
          </a:p>
        </p:txBody>
      </p:sp>
      <p:sp>
        <p:nvSpPr>
          <p:cNvPr id="8" name="">
            <a:extLst xmlns:a="http://schemas.openxmlformats.org/drawingml/2006/main">
              <a:ext uri="{FF2B5EF4-FFF2-40B4-BE49-F238E27FC236}">
                <a16:creationId xmlns:a16="http://schemas.microsoft.com/office/drawing/2014/main" id="{98A0C9FB-1F2A-4D95-A6F8-B4B5E862A424}"/>
              </a:ext>
            </a:extLst>
          </p:cNvPr>
          <p:cNvSpPr>
            <a:spLocks xmlns:a="http://schemas.openxmlformats.org/drawingml/2006/main" noGrp="1"/>
          </p:cNvSpPr>
          <p:nvPr/>
        </p:nvSpPr>
        <p:spPr>
          <a:xfrm xmlns:a="http://schemas.openxmlformats.org/drawingml/2006/main">
            <a:off x="11068050" y="6381750"/>
            <a:ext cx="514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087F86"/>
                </a:solidFill>
                <a:latin typeface="Arial"/>
                <a:ea typeface="Arial"/>
                <a:cs typeface="Arial"/>
              </a:defRPr>
            </a:defPPr>
          </a:lstStyle>
          <a:p xmlns:a="http://schemas.openxmlformats.org/drawingml/2006/main">
            <a:pPr>
              <a:defRPr sz="1650" b="1">
                <a:solidFill>
                  <a:srgbClr val="087F86"/>
                </a:solidFill>
                <a:latin typeface="Arial"/>
                <a:ea typeface="Arial"/>
                <a:cs typeface="Arial"/>
              </a:defRPr>
            </a:pPr>
            <a:r>
              <a:rPr sz="1650" b="1">
                <a:solidFill>
                  <a:srgbClr val="087F86"/>
                </a:solidFill>
                <a:latin typeface="Arial"/>
                <a:ea typeface="Arial"/>
                <a:cs typeface="Arial"/>
              </a:rPr>
              <a:t>04</a:t>
            </a:r>
          </a:p>
        </p:txBody>
      </p:sp>
    </p:spTree>
    <p:extLst>
      <p:ext uri="{BB962C8B-B14F-4D97-AF65-F5344CB8AC3E}">
        <p14:creationId xmlns:p14="http://schemas.microsoft.com/office/powerpoint/2010/main" val="127292875"/>
      </p:ext>
    </p:extLst>
  </p:cSld>
</p:sld>
</file>

<file path=ppt/slides/slide5.xml><?xml version="1.0" encoding="utf-8"?>
<p:sld xmlns:p="http://schemas.openxmlformats.org/presentationml/2006/main">
  <p:cSld>
    <p:bg>
      <p:bgPr>
        <a:solidFill xmlns:a="http://schemas.openxmlformats.org/drawingml/2006/main">
          <a:srgbClr val="FAF8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B98229D-7212-4D02-A035-75D9B1B628B7}"/>
              </a:ext>
            </a:extLst>
          </p:cNvPr>
          <p:cNvSpPr>
            <a:spLocks xmlns:a="http://schemas.openxmlformats.org/drawingml/2006/main" noGrp="1"/>
          </p:cNvSpPr>
          <p:nvPr/>
        </p:nvSpPr>
        <p:spPr>
          <a:xfrm xmlns:a="http://schemas.openxmlformats.org/drawingml/2006/main">
            <a:off x="609600" y="428625"/>
            <a:ext cx="10858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53A49"/>
                </a:solidFill>
                <a:latin typeface="Arial"/>
                <a:ea typeface="Arial"/>
                <a:cs typeface="Arial"/>
              </a:defRPr>
            </a:defPPr>
          </a:lstStyle>
          <a:p xmlns:a="http://schemas.openxmlformats.org/drawingml/2006/main">
            <a:pPr>
              <a:defRPr sz="3300" b="1">
                <a:solidFill>
                  <a:srgbClr val="153A49"/>
                </a:solidFill>
                <a:latin typeface="Arial"/>
                <a:ea typeface="Arial"/>
                <a:cs typeface="Arial"/>
              </a:defRPr>
            </a:pPr>
            <a:r>
              <a:rPr sz="3300" b="1">
                <a:solidFill>
                  <a:srgbClr val="153A49"/>
                </a:solidFill>
                <a:latin typeface="Arial"/>
                <a:ea typeface="Arial"/>
                <a:cs typeface="Arial"/>
              </a:rPr>
              <a:t>Câu 1: Quy mô 2–4 người cao hơn</a:t>
            </a:r>
          </a:p>
          <a:p xmlns:a="http://schemas.openxmlformats.org/drawingml/2006/main">
            <a:pPr>
              <a:defRPr sz="3300" b="1">
                <a:solidFill>
                  <a:srgbClr val="153A49"/>
                </a:solidFill>
                <a:latin typeface="Arial"/>
                <a:ea typeface="Arial"/>
                <a:cs typeface="Arial"/>
              </a:defRPr>
            </a:pPr>
            <a:r>
              <a:rPr sz="3300" b="1">
                <a:solidFill>
                  <a:srgbClr val="153A49"/>
                </a:solidFill>
                <a:latin typeface="Arial"/>
                <a:ea typeface="Arial"/>
                <a:cs typeface="Arial"/>
              </a:rPr>
              <a:t>đi một mình, nhưng không tăng đều</a:t>
            </a:r>
          </a:p>
        </p:txBody>
      </p:sp>
      <p:graphicFrame>
        <p:nvGraphicFramePr>
          <p:cNvPr id="2" name="Chart">
            <a:extLst xmlns:a="http://schemas.openxmlformats.org/drawingml/2006/main">
              <a:ext uri="{FF2B5EF4-FFF2-40B4-BE49-F238E27FC236}">
                <a16:creationId xmlns:a16="http://schemas.microsoft.com/office/drawing/2014/main" id="{1470708C-98E9-407C-908C-C3A2CBB6B373}"/>
              </a:ext>
            </a:extLst>
          </p:cNvPr>
          <p:cNvGraphicFramePr/>
          <p:nvPr/>
        </p:nvGraphicFramePr>
        <p:xfrm>
          <a:off xmlns:a="http://schemas.openxmlformats.org/drawingml/2006/main" x="666750" y="1971675"/>
          <a:ext xmlns:a="http://schemas.openxmlformats.org/drawingml/2006/main" cx="10763250" cy="3638550"/>
        </p:xfrm>
        <a:graphic xmlns:a="http://schemas.openxmlformats.org/drawingml/2006/main">
          <a:graphicData uri="http://schemas.openxmlformats.org/drawingml/2006/chart">
            <c:chart xmlns:r="http://schemas.openxmlformats.org/officeDocument/2006/relationships" xmlns:c="http://schemas.openxmlformats.org/drawingml/2006/chart" r:id="R5a5db0b13e5446e7"/>
          </a:graphicData>
        </a:graphic>
      </p:graphicFrame>
      <p:sp>
        <p:nvSpPr>
          <p:cNvPr id="3" name="">
            <a:extLst xmlns:a="http://schemas.openxmlformats.org/drawingml/2006/main">
              <a:ext uri="{FF2B5EF4-FFF2-40B4-BE49-F238E27FC236}">
                <a16:creationId xmlns:a16="http://schemas.microsoft.com/office/drawing/2014/main" id="{CCF390A2-8A13-44FE-9F59-44FC0C7856B7}"/>
              </a:ext>
            </a:extLst>
          </p:cNvPr>
          <p:cNvSpPr>
            <a:spLocks xmlns:a="http://schemas.openxmlformats.org/drawingml/2006/main" noGrp="1"/>
          </p:cNvSpPr>
          <p:nvPr/>
        </p:nvSpPr>
        <p:spPr>
          <a:xfrm xmlns:a="http://schemas.openxmlformats.org/drawingml/2006/main">
            <a:off x="666750" y="5819775"/>
            <a:ext cx="10763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8717B"/>
                </a:solidFill>
                <a:latin typeface="Arial"/>
                <a:ea typeface="Arial"/>
                <a:cs typeface="Arial"/>
              </a:defRPr>
            </a:defPPr>
          </a:lstStyle>
          <a:p xmlns:a="http://schemas.openxmlformats.org/drawingml/2006/main">
            <a:pPr>
              <a:defRPr sz="1650" b="0">
                <a:solidFill>
                  <a:srgbClr val="58717B"/>
                </a:solidFill>
                <a:latin typeface="Arial"/>
                <a:ea typeface="Arial"/>
                <a:cs typeface="Arial"/>
              </a:defRPr>
            </a:pPr>
            <a:r>
              <a:rPr sz="1650" b="0">
                <a:solidFill>
                  <a:srgbClr val="58717B"/>
                </a:solidFill>
                <a:latin typeface="Arial"/>
                <a:ea typeface="Arial"/>
                <a:cs typeface="Arial"/>
              </a:rPr>
              <a:t>Đi một mình: 163/537 = 30,4%. Quy mô 4: 21/29 = 72,4%. Quy mô 5: 3/15 = 20,0%</a:t>
            </a:r>
          </a:p>
          <a:p xmlns:a="http://schemas.openxmlformats.org/drawingml/2006/main">
            <a:pPr>
              <a:defRPr sz="1650" b="0">
                <a:solidFill>
                  <a:srgbClr val="58717B"/>
                </a:solidFill>
                <a:latin typeface="Arial"/>
                <a:ea typeface="Arial"/>
                <a:cs typeface="Arial"/>
              </a:defRPr>
            </a:pPr>
            <a:r>
              <a:rPr sz="1650" b="0">
                <a:solidFill>
                  <a:srgbClr val="58717B"/>
                </a:solidFill>
                <a:latin typeface="Arial"/>
                <a:ea typeface="Arial"/>
                <a:cs typeface="Arial"/>
              </a:rPr>
              <a:t>Nhóm khác thành phần và quy mô mẫu. Chưa thể nói đi 4 người là tối ưu</a:t>
            </a:r>
          </a:p>
        </p:txBody>
      </p:sp>
      <p:sp>
        <p:nvSpPr>
          <p:cNvPr id="4" name="">
            <a:extLst xmlns:a="http://schemas.openxmlformats.org/drawingml/2006/main">
              <a:ext uri="{FF2B5EF4-FFF2-40B4-BE49-F238E27FC236}">
                <a16:creationId xmlns:a16="http://schemas.microsoft.com/office/drawing/2014/main" id="{3C0C8F1C-3909-4265-A728-474046459B05}"/>
              </a:ext>
            </a:extLst>
          </p:cNvPr>
          <p:cNvSpPr>
            <a:spLocks xmlns:a="http://schemas.openxmlformats.org/drawingml/2006/main" noGrp="1"/>
          </p:cNvSpPr>
          <p:nvPr/>
        </p:nvSpPr>
        <p:spPr>
          <a:xfrm xmlns:a="http://schemas.openxmlformats.org/drawingml/2006/main">
            <a:off x="609600" y="64198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58717B"/>
                </a:solidFill>
                <a:latin typeface="Arial"/>
                <a:ea typeface="Arial"/>
                <a:cs typeface="Arial"/>
              </a:defRPr>
            </a:defPPr>
          </a:lstStyle>
          <a:p xmlns:a="http://schemas.openxmlformats.org/drawingml/2006/main">
            <a:pPr>
              <a:defRPr sz="1425" b="0">
                <a:solidFill>
                  <a:srgbClr val="58717B"/>
                </a:solidFill>
                <a:latin typeface="Arial"/>
                <a:ea typeface="Arial"/>
                <a:cs typeface="Arial"/>
              </a:defRPr>
            </a:pPr>
            <a:r>
              <a:rPr sz="1425" b="0">
                <a:solidFill>
                  <a:srgbClr val="58717B"/>
                </a:solidFill>
                <a:latin typeface="Arial"/>
                <a:ea typeface="Arial"/>
                <a:cs typeface="Arial"/>
              </a:rPr>
              <a:t>A2-02   Titanic Kaggle 891</a:t>
            </a:r>
          </a:p>
        </p:txBody>
      </p:sp>
      <p:sp>
        <p:nvSpPr>
          <p:cNvPr id="5" name="">
            <a:extLst xmlns:a="http://schemas.openxmlformats.org/drawingml/2006/main">
              <a:ext uri="{FF2B5EF4-FFF2-40B4-BE49-F238E27FC236}">
                <a16:creationId xmlns:a16="http://schemas.microsoft.com/office/drawing/2014/main" id="{CC5CC8E4-81A9-405B-A425-E7D53E66A82B}"/>
              </a:ext>
            </a:extLst>
          </p:cNvPr>
          <p:cNvSpPr>
            <a:spLocks xmlns:a="http://schemas.openxmlformats.org/drawingml/2006/main" noGrp="1"/>
          </p:cNvSpPr>
          <p:nvPr/>
        </p:nvSpPr>
        <p:spPr>
          <a:xfrm xmlns:a="http://schemas.openxmlformats.org/drawingml/2006/main">
            <a:off x="11068050" y="6381750"/>
            <a:ext cx="514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087F86"/>
                </a:solidFill>
                <a:latin typeface="Arial"/>
                <a:ea typeface="Arial"/>
                <a:cs typeface="Arial"/>
              </a:defRPr>
            </a:defPPr>
          </a:lstStyle>
          <a:p xmlns:a="http://schemas.openxmlformats.org/drawingml/2006/main">
            <a:pPr>
              <a:defRPr sz="1650" b="1">
                <a:solidFill>
                  <a:srgbClr val="087F86"/>
                </a:solidFill>
                <a:latin typeface="Arial"/>
                <a:ea typeface="Arial"/>
                <a:cs typeface="Arial"/>
              </a:defRPr>
            </a:pPr>
            <a:r>
              <a:rPr sz="1650" b="1">
                <a:solidFill>
                  <a:srgbClr val="087F86"/>
                </a:solidFill>
                <a:latin typeface="Arial"/>
                <a:ea typeface="Arial"/>
                <a:cs typeface="Arial"/>
              </a:rPr>
              <a:t>05</a:t>
            </a:r>
          </a:p>
        </p:txBody>
      </p:sp>
    </p:spTree>
    <p:extLst>
      <p:ext uri="{BB962C8B-B14F-4D97-AF65-F5344CB8AC3E}">
        <p14:creationId xmlns:p14="http://schemas.microsoft.com/office/powerpoint/2010/main" val="1176717773"/>
      </p:ext>
    </p:extLst>
  </p:cSld>
</p:sld>
</file>

<file path=ppt/slides/slide6.xml><?xml version="1.0" encoding="utf-8"?>
<p:sld xmlns:p="http://schemas.openxmlformats.org/presentationml/2006/main">
  <p:cSld>
    <p:bg>
      <p:bgPr>
        <a:solidFill xmlns:a="http://schemas.openxmlformats.org/drawingml/2006/main">
          <a:srgbClr val="FAF8F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53B3150-6821-463F-9ABA-068E4B4F298C}"/>
              </a:ext>
            </a:extLst>
          </p:cNvPr>
          <p:cNvSpPr>
            <a:spLocks xmlns:a="http://schemas.openxmlformats.org/drawingml/2006/main" noGrp="1"/>
          </p:cNvSpPr>
          <p:nvPr/>
        </p:nvSpPr>
        <p:spPr>
          <a:xfrm xmlns:a="http://schemas.openxmlformats.org/drawingml/2006/main">
            <a:off x="609600" y="428625"/>
            <a:ext cx="10858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53A49"/>
                </a:solidFill>
                <a:latin typeface="Arial"/>
                <a:ea typeface="Arial"/>
                <a:cs typeface="Arial"/>
              </a:defRPr>
            </a:defPPr>
          </a:lstStyle>
          <a:p xmlns:a="http://schemas.openxmlformats.org/drawingml/2006/main">
            <a:pPr>
              <a:defRPr sz="3300" b="1">
                <a:solidFill>
                  <a:srgbClr val="153A49"/>
                </a:solidFill>
                <a:latin typeface="Arial"/>
                <a:ea typeface="Arial"/>
                <a:cs typeface="Arial"/>
              </a:defRPr>
            </a:pPr>
            <a:r>
              <a:rPr sz="3300" b="1">
                <a:solidFill>
                  <a:srgbClr val="153A49"/>
                </a:solidFill>
                <a:latin typeface="Arial"/>
                <a:ea typeface="Arial"/>
                <a:cs typeface="Arial"/>
              </a:rPr>
              <a:t>Câu 2: Giả thuyết có hỗ trợ một phần,</a:t>
            </a:r>
          </a:p>
          <a:p xmlns:a="http://schemas.openxmlformats.org/drawingml/2006/main">
            <a:pPr>
              <a:defRPr sz="3300" b="1">
                <a:solidFill>
                  <a:srgbClr val="153A49"/>
                </a:solidFill>
                <a:latin typeface="Arial"/>
                <a:ea typeface="Arial"/>
                <a:cs typeface="Arial"/>
              </a:defRPr>
            </a:pPr>
            <a:r>
              <a:rPr sz="3300" b="1">
                <a:solidFill>
                  <a:srgbClr val="153A49"/>
                </a:solidFill>
                <a:latin typeface="Arial"/>
                <a:ea typeface="Arial"/>
                <a:cs typeface="Arial"/>
              </a:rPr>
              <a:t>nhưng không đồng nhất ở mọi nhóm</a:t>
            </a:r>
          </a:p>
        </p:txBody>
      </p:sp>
      <p:graphicFrame>
        <p:nvGraphicFramePr>
          <p:cNvPr id="2" name="Chart">
            <a:extLst xmlns:a="http://schemas.openxmlformats.org/drawingml/2006/main">
              <a:ext uri="{FF2B5EF4-FFF2-40B4-BE49-F238E27FC236}">
                <a16:creationId xmlns:a16="http://schemas.microsoft.com/office/drawing/2014/main" id="{43D7B299-2C23-4A7A-B652-F15F3A570013}"/>
              </a:ext>
            </a:extLst>
          </p:cNvPr>
          <p:cNvGraphicFramePr/>
          <p:nvPr/>
        </p:nvGraphicFramePr>
        <p:xfrm>
          <a:off xmlns:a="http://schemas.openxmlformats.org/drawingml/2006/main" x="666750" y="1971675"/>
          <a:ext xmlns:a="http://schemas.openxmlformats.org/drawingml/2006/main" cx="7334250" cy="3638550"/>
        </p:xfrm>
        <a:graphic xmlns:a="http://schemas.openxmlformats.org/drawingml/2006/main">
          <a:graphicData uri="http://schemas.openxmlformats.org/drawingml/2006/chart">
            <c:chart xmlns:r="http://schemas.openxmlformats.org/officeDocument/2006/relationships" xmlns:c="http://schemas.openxmlformats.org/drawingml/2006/chart" r:id="R1ccca76718a94efa"/>
          </a:graphicData>
        </a:graphic>
      </p:graphicFrame>
      <p:sp>
        <p:nvSpPr>
          <p:cNvPr id="3" name="">
            <a:extLst xmlns:a="http://schemas.openxmlformats.org/drawingml/2006/main">
              <a:ext uri="{FF2B5EF4-FFF2-40B4-BE49-F238E27FC236}">
                <a16:creationId xmlns:a16="http://schemas.microsoft.com/office/drawing/2014/main" id="{B1502528-8A82-4822-A1B4-8C3FB96E8E62}"/>
              </a:ext>
            </a:extLst>
          </p:cNvPr>
          <p:cNvSpPr>
            <a:spLocks xmlns:a="http://schemas.openxmlformats.org/drawingml/2006/main" noGrp="1"/>
          </p:cNvSpPr>
          <p:nvPr/>
        </p:nvSpPr>
        <p:spPr>
          <a:xfrm xmlns:a="http://schemas.openxmlformats.org/drawingml/2006/main">
            <a:off x="8334375" y="2009775"/>
            <a:ext cx="323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1">
                <a:solidFill>
                  <a:srgbClr val="153A49"/>
                </a:solidFill>
                <a:latin typeface="Arial"/>
                <a:ea typeface="Arial"/>
                <a:cs typeface="Arial"/>
              </a:defRPr>
            </a:defPPr>
          </a:lstStyle>
          <a:p xmlns:a="http://schemas.openxmlformats.org/drawingml/2006/main">
            <a:pPr>
              <a:defRPr sz="1950" b="1">
                <a:solidFill>
                  <a:srgbClr val="153A49"/>
                </a:solidFill>
                <a:latin typeface="Arial"/>
                <a:ea typeface="Arial"/>
                <a:cs typeface="Arial"/>
              </a:defRPr>
            </a:pPr>
            <a:r>
              <a:rPr sz="1950" b="1">
                <a:solidFill>
                  <a:srgbClr val="153A49"/>
                </a:solidFill>
                <a:latin typeface="Arial"/>
                <a:ea typeface="Arial"/>
                <a:cs typeface="Arial"/>
              </a:rPr>
              <a:t>Tách theo giới tính</a:t>
            </a:r>
          </a:p>
        </p:txBody>
      </p:sp>
      <p:graphicFrame>
        <p:nvGraphicFramePr>
          <p:cNvPr id="4" name="">
            <a:extLst xmlns:a="http://schemas.openxmlformats.org/drawingml/2006/main">
              <a:ext uri="{FF2B5EF4-FFF2-40B4-BE49-F238E27FC236}">
                <a16:creationId xmlns:a16="http://schemas.microsoft.com/office/drawing/2014/main" id="{E82AF3B1-ED6B-4F23-AD25-AFC11CFC8AD4}"/>
              </a:ext>
            </a:extLst>
          </p:cNvPr>
          <p:cNvGraphicFramePr/>
          <p:nvPr/>
        </p:nvGraphicFramePr>
        <p:xfrm>
          <a:off xmlns:a="http://schemas.openxmlformats.org/drawingml/2006/main" x="8334375" y="2667000"/>
          <a:ext xmlns:a="http://schemas.openxmlformats.org/drawingml/2006/main" cx="3190875" cy="2009775"/>
        </p:xfrm>
        <a:graphic xmlns:a="http://schemas.openxmlformats.org/drawingml/2006/main">
          <a:graphicData uri="http://schemas.openxmlformats.org/drawingml/2006/table">
            <a:tbl>
              <a:tblPr/>
              <a:tblGrid>
                <a:gridCol w="714375"/>
                <a:gridCol w="1238250"/>
                <a:gridCol w="1238250"/>
              </a:tblGrid>
              <a:tr h="669925">
                <a:tc>
                  <a:txBody>
                    <a:bodyPr lIns="104775" tIns="104775" rIns="104775" bIns="104775"/>
                    <a:lstStyle/>
                    <a:p>
                      <a:r>
                        <a:rPr sz="1500" b="1">
                          <a:solidFill>
                            <a:srgbClr val="FFFFFF"/>
                          </a:solidFill>
                          <a:latin typeface="Arial"/>
                          <a:ea typeface="Arial"/>
                          <a:cs typeface="Arial"/>
                        </a:rPr>
                        <a:t>Giới</a:t>
                      </a:r>
                    </a:p>
                  </a:txBody>
                  <a:tcPr marL="91440" marR="91440" marT="45720" marB="45720" anchor="ctr">
                    <a:lnL w="6668">
                      <a:solidFill>
                        <a:srgbClr val="CBD7D5"/>
                      </a:solidFill>
                      <a:prstDash val="solid"/>
                    </a:lnL>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c>
                  <a:txBody>
                    <a:bodyPr lIns="104775" tIns="104775" rIns="104775" bIns="104775"/>
                    <a:lstStyle/>
                    <a:p>
                      <a:r>
                        <a:rPr sz="1500" b="1">
                          <a:solidFill>
                            <a:srgbClr val="FFFFFF"/>
                          </a:solidFill>
                          <a:latin typeface="Arial"/>
                          <a:ea typeface="Arial"/>
                          <a:cs typeface="Arial"/>
                        </a:rPr>
                        <a:t>≤12 tuổi</a:t>
                      </a:r>
                    </a:p>
                  </a:txBody>
                  <a:tcPr marL="91440" marR="91440" marT="45720" marB="45720" anchor="ctr">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c>
                  <a:txBody>
                    <a:bodyPr lIns="104775" tIns="104775" rIns="104775" bIns="104775"/>
                    <a:lstStyle/>
                    <a:p>
                      <a:r>
                        <a:rPr sz="1500" b="1">
                          <a:solidFill>
                            <a:srgbClr val="FFFFFF"/>
                          </a:solidFill>
                          <a:latin typeface="Arial"/>
                          <a:ea typeface="Arial"/>
                          <a:cs typeface="Arial"/>
                        </a:rPr>
                        <a:t>&gt;12 tuổi</a:t>
                      </a:r>
                    </a:p>
                  </a:txBody>
                  <a:tcPr marL="91440" marR="91440" marT="45720" marB="45720" anchor="ctr">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r>
              <a:tr h="669925">
                <a:tc>
                  <a:txBody>
                    <a:bodyPr lIns="104775" tIns="104775" rIns="104775" bIns="104775"/>
                    <a:lstStyle/>
                    <a:p>
                      <a:r>
                        <a:rPr sz="1500" b="0">
                          <a:solidFill>
                            <a:srgbClr val="153A49"/>
                          </a:solidFill>
                          <a:latin typeface="Arial"/>
                          <a:ea typeface="Arial"/>
                          <a:cs typeface="Arial"/>
                        </a:rPr>
                        <a:t>Nữ</a:t>
                      </a:r>
                    </a:p>
                  </a:txBody>
                  <a:tcPr marL="91440" marR="91440" marT="45720" marB="45720" anchor="ctr">
                    <a:lnL w="6668">
                      <a:solidFill>
                        <a:srgbClr val="CBD7D5"/>
                      </a:solidFill>
                      <a:prstDash val="solid"/>
                    </a:lnL>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500" b="0">
                          <a:solidFill>
                            <a:srgbClr val="153A49"/>
                          </a:solidFill>
                          <a:latin typeface="Arial"/>
                          <a:ea typeface="Arial"/>
                          <a:cs typeface="Arial"/>
                        </a:rPr>
                        <a:t>59,4%</a:t>
                      </a:r>
                    </a:p>
                    <a:p>
                      <a:r>
                        <a:rPr sz="1500" b="0">
                          <a:solidFill>
                            <a:srgbClr val="153A49"/>
                          </a:solidFill>
                          <a:latin typeface="Arial"/>
                          <a:ea typeface="Arial"/>
                          <a:cs typeface="Arial"/>
                        </a:rPr>
                        <a:t>19/32</a:t>
                      </a:r>
                    </a:p>
                  </a:txBody>
                  <a:tcPr marL="91440" marR="91440" marT="45720" marB="45720" anchor="ctr">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500" b="0">
                          <a:solidFill>
                            <a:srgbClr val="153A49"/>
                          </a:solidFill>
                          <a:latin typeface="Arial"/>
                          <a:ea typeface="Arial"/>
                          <a:cs typeface="Arial"/>
                        </a:rPr>
                        <a:t>77,7%</a:t>
                      </a:r>
                    </a:p>
                    <a:p>
                      <a:r>
                        <a:rPr sz="1500" b="0">
                          <a:solidFill>
                            <a:srgbClr val="153A49"/>
                          </a:solidFill>
                          <a:latin typeface="Arial"/>
                          <a:ea typeface="Arial"/>
                          <a:cs typeface="Arial"/>
                        </a:rPr>
                        <a:t>178/229</a:t>
                      </a:r>
                    </a:p>
                  </a:txBody>
                  <a:tcPr marL="91440" marR="91440" marT="45720" marB="45720" anchor="ctr">
                    <a:lnR w="6668">
                      <a:solidFill>
                        <a:srgbClr val="CBD7D5"/>
                      </a:solidFill>
                      <a:prstDash val="solid"/>
                    </a:lnR>
                    <a:lnB w="6668">
                      <a:solidFill>
                        <a:srgbClr val="CBD7D5"/>
                      </a:solidFill>
                      <a:prstDash val="solid"/>
                    </a:lnB>
                    <a:solidFill>
                      <a:srgbClr val="FAF8F2"/>
                    </a:solidFill>
                  </a:tcPr>
                </a:tc>
              </a:tr>
              <a:tr h="669925">
                <a:tc>
                  <a:txBody>
                    <a:bodyPr lIns="104775" tIns="104775" rIns="104775" bIns="104775"/>
                    <a:lstStyle/>
                    <a:p>
                      <a:r>
                        <a:rPr sz="1500" b="0">
                          <a:solidFill>
                            <a:srgbClr val="153A49"/>
                          </a:solidFill>
                          <a:latin typeface="Arial"/>
                          <a:ea typeface="Arial"/>
                          <a:cs typeface="Arial"/>
                        </a:rPr>
                        <a:t>Nam</a:t>
                      </a:r>
                    </a:p>
                  </a:txBody>
                  <a:tcPr marL="91440" marR="91440" marT="45720" marB="45720" anchor="ctr">
                    <a:lnL w="6668">
                      <a:solidFill>
                        <a:srgbClr val="CBD7D5"/>
                      </a:solidFill>
                      <a:prstDash val="solid"/>
                    </a:lnL>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1500" b="0">
                          <a:solidFill>
                            <a:srgbClr val="153A49"/>
                          </a:solidFill>
                          <a:latin typeface="Arial"/>
                          <a:ea typeface="Arial"/>
                          <a:cs typeface="Arial"/>
                        </a:rPr>
                        <a:t>56,8%</a:t>
                      </a:r>
                    </a:p>
                    <a:p>
                      <a:r>
                        <a:rPr sz="1500" b="0">
                          <a:solidFill>
                            <a:srgbClr val="153A49"/>
                          </a:solidFill>
                          <a:latin typeface="Arial"/>
                          <a:ea typeface="Arial"/>
                          <a:cs typeface="Arial"/>
                        </a:rPr>
                        <a:t>21/37</a:t>
                      </a:r>
                    </a:p>
                  </a:txBody>
                  <a:tcPr marL="91440" marR="91440" marT="45720" marB="45720" anchor="ctr">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1500" b="0">
                          <a:solidFill>
                            <a:srgbClr val="153A49"/>
                          </a:solidFill>
                          <a:latin typeface="Arial"/>
                          <a:ea typeface="Arial"/>
                          <a:cs typeface="Arial"/>
                        </a:rPr>
                        <a:t>17,3%</a:t>
                      </a:r>
                    </a:p>
                    <a:p>
                      <a:r>
                        <a:rPr sz="1500" b="0">
                          <a:solidFill>
                            <a:srgbClr val="153A49"/>
                          </a:solidFill>
                          <a:latin typeface="Arial"/>
                          <a:ea typeface="Arial"/>
                          <a:cs typeface="Arial"/>
                        </a:rPr>
                        <a:t>72/416</a:t>
                      </a:r>
                    </a:p>
                  </a:txBody>
                  <a:tcPr marL="91440" marR="91440" marT="45720" marB="45720" anchor="ctr">
                    <a:lnR w="6668">
                      <a:solidFill>
                        <a:srgbClr val="CBD7D5"/>
                      </a:solidFill>
                      <a:prstDash val="solid"/>
                    </a:lnR>
                    <a:lnB w="6668">
                      <a:solidFill>
                        <a:srgbClr val="CBD7D5"/>
                      </a:solidFill>
                      <a:prstDash val="solid"/>
                    </a:lnB>
                    <a:solidFill>
                      <a:srgbClr val="EEF3EF"/>
                    </a:solidFill>
                  </a:tcPr>
                </a:tc>
              </a:tr>
            </a:tbl>
          </a:graphicData>
        </a:graphic>
      </p:graphicFrame>
      <p:sp>
        <p:nvSpPr>
          <p:cNvPr id="5" name="">
            <a:extLst xmlns:a="http://schemas.openxmlformats.org/drawingml/2006/main">
              <a:ext uri="{FF2B5EF4-FFF2-40B4-BE49-F238E27FC236}">
                <a16:creationId xmlns:a16="http://schemas.microsoft.com/office/drawing/2014/main" id="{6D01136F-316A-4DD5-AE15-390689D21472}"/>
              </a:ext>
            </a:extLst>
          </p:cNvPr>
          <p:cNvSpPr>
            <a:spLocks xmlns:a="http://schemas.openxmlformats.org/drawingml/2006/main" noGrp="1"/>
          </p:cNvSpPr>
          <p:nvPr/>
        </p:nvSpPr>
        <p:spPr>
          <a:xfrm xmlns:a="http://schemas.openxmlformats.org/drawingml/2006/main">
            <a:off x="8334375" y="4953000"/>
            <a:ext cx="31908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58717B"/>
                </a:solidFill>
                <a:latin typeface="Arial"/>
                <a:ea typeface="Arial"/>
                <a:cs typeface="Arial"/>
              </a:defRPr>
            </a:defPPr>
          </a:lstStyle>
          <a:p xmlns:a="http://schemas.openxmlformats.org/drawingml/2006/main">
            <a:pPr>
              <a:defRPr sz="1875" b="0">
                <a:solidFill>
                  <a:srgbClr val="58717B"/>
                </a:solidFill>
                <a:latin typeface="Arial"/>
                <a:ea typeface="Arial"/>
                <a:cs typeface="Arial"/>
              </a:defRPr>
            </a:pPr>
            <a:r>
              <a:rPr sz="1875" b="0">
                <a:solidFill>
                  <a:srgbClr val="58717B"/>
                </a:solidFill>
                <a:latin typeface="Arial"/>
                <a:ea typeface="Arial"/>
                <a:cs typeface="Arial"/>
              </a:rPr>
              <a:t>Nam: trẻ em cao hơn.</a:t>
            </a:r>
          </a:p>
          <a:p xmlns:a="http://schemas.openxmlformats.org/drawingml/2006/main">
            <a:pPr>
              <a:defRPr sz="1875" b="0">
                <a:solidFill>
                  <a:srgbClr val="58717B"/>
                </a:solidFill>
                <a:latin typeface="Arial"/>
                <a:ea typeface="Arial"/>
                <a:cs typeface="Arial"/>
              </a:defRPr>
            </a:pPr>
            <a:r>
              <a:rPr sz="1875" b="0">
                <a:solidFill>
                  <a:srgbClr val="58717B"/>
                </a:solidFill>
                <a:latin typeface="Arial"/>
                <a:ea typeface="Arial"/>
                <a:cs typeface="Arial"/>
              </a:rPr>
              <a:t>Nữ: không cùng chiều.</a:t>
            </a:r>
          </a:p>
        </p:txBody>
      </p:sp>
      <p:sp>
        <p:nvSpPr>
          <p:cNvPr id="6" name="">
            <a:extLst xmlns:a="http://schemas.openxmlformats.org/drawingml/2006/main">
              <a:ext uri="{FF2B5EF4-FFF2-40B4-BE49-F238E27FC236}">
                <a16:creationId xmlns:a16="http://schemas.microsoft.com/office/drawing/2014/main" id="{7F8F3F2E-497A-4F1D-9FA5-9E80B0777470}"/>
              </a:ext>
            </a:extLst>
          </p:cNvPr>
          <p:cNvSpPr>
            <a:spLocks xmlns:a="http://schemas.openxmlformats.org/drawingml/2006/main" noGrp="1"/>
          </p:cNvSpPr>
          <p:nvPr/>
        </p:nvSpPr>
        <p:spPr>
          <a:xfrm xmlns:a="http://schemas.openxmlformats.org/drawingml/2006/main">
            <a:off x="666750" y="5895975"/>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8717B"/>
                </a:solidFill>
                <a:latin typeface="Arial"/>
                <a:ea typeface="Arial"/>
                <a:cs typeface="Arial"/>
              </a:defRPr>
            </a:defPPr>
          </a:lstStyle>
          <a:p xmlns:a="http://schemas.openxmlformats.org/drawingml/2006/main">
            <a:pPr>
              <a:defRPr sz="1650" b="0">
                <a:solidFill>
                  <a:srgbClr val="58717B"/>
                </a:solidFill>
                <a:latin typeface="Arial"/>
                <a:ea typeface="Arial"/>
                <a:cs typeface="Arial"/>
              </a:defRPr>
            </a:pPr>
            <a:r>
              <a:rPr sz="1650" b="0">
                <a:solidFill>
                  <a:srgbClr val="58717B"/>
                </a:solidFill>
                <a:latin typeface="Arial"/>
                <a:ea typeface="Arial"/>
                <a:cs typeface="Arial"/>
              </a:rPr>
              <a:t>Nữ 74,2% &gt; nam 18,9%. Tuổi thiếu 19,9%. Tỷ lệ sống không xác nhận ai được cứu trước</a:t>
            </a:r>
          </a:p>
        </p:txBody>
      </p:sp>
      <p:sp>
        <p:nvSpPr>
          <p:cNvPr id="7" name="">
            <a:extLst xmlns:a="http://schemas.openxmlformats.org/drawingml/2006/main">
              <a:ext uri="{FF2B5EF4-FFF2-40B4-BE49-F238E27FC236}">
                <a16:creationId xmlns:a16="http://schemas.microsoft.com/office/drawing/2014/main" id="{A8B3B3DB-5E84-45B3-9E2A-4F501FEA26A9}"/>
              </a:ext>
            </a:extLst>
          </p:cNvPr>
          <p:cNvSpPr>
            <a:spLocks xmlns:a="http://schemas.openxmlformats.org/drawingml/2006/main" noGrp="1"/>
          </p:cNvSpPr>
          <p:nvPr/>
        </p:nvSpPr>
        <p:spPr>
          <a:xfrm xmlns:a="http://schemas.openxmlformats.org/drawingml/2006/main">
            <a:off x="609600" y="64198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58717B"/>
                </a:solidFill>
                <a:latin typeface="Arial"/>
                <a:ea typeface="Arial"/>
                <a:cs typeface="Arial"/>
              </a:defRPr>
            </a:defPPr>
          </a:lstStyle>
          <a:p xmlns:a="http://schemas.openxmlformats.org/drawingml/2006/main">
            <a:pPr>
              <a:defRPr sz="1425" b="0">
                <a:solidFill>
                  <a:srgbClr val="58717B"/>
                </a:solidFill>
                <a:latin typeface="Arial"/>
                <a:ea typeface="Arial"/>
                <a:cs typeface="Arial"/>
              </a:defRPr>
            </a:pPr>
            <a:r>
              <a:rPr sz="1425" b="0">
                <a:solidFill>
                  <a:srgbClr val="58717B"/>
                </a:solidFill>
                <a:latin typeface="Arial"/>
                <a:ea typeface="Arial"/>
                <a:cs typeface="Arial"/>
              </a:rPr>
              <a:t>A2-02   Titanic Kaggle 891</a:t>
            </a:r>
          </a:p>
        </p:txBody>
      </p:sp>
      <p:sp>
        <p:nvSpPr>
          <p:cNvPr id="8" name="">
            <a:extLst xmlns:a="http://schemas.openxmlformats.org/drawingml/2006/main">
              <a:ext uri="{FF2B5EF4-FFF2-40B4-BE49-F238E27FC236}">
                <a16:creationId xmlns:a16="http://schemas.microsoft.com/office/drawing/2014/main" id="{CCFAC4EF-D9BC-41DB-9FF2-74F5311CEDFE}"/>
              </a:ext>
            </a:extLst>
          </p:cNvPr>
          <p:cNvSpPr>
            <a:spLocks xmlns:a="http://schemas.openxmlformats.org/drawingml/2006/main" noGrp="1"/>
          </p:cNvSpPr>
          <p:nvPr/>
        </p:nvSpPr>
        <p:spPr>
          <a:xfrm xmlns:a="http://schemas.openxmlformats.org/drawingml/2006/main">
            <a:off x="11068050" y="6381750"/>
            <a:ext cx="514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087F86"/>
                </a:solidFill>
                <a:latin typeface="Arial"/>
                <a:ea typeface="Arial"/>
                <a:cs typeface="Arial"/>
              </a:defRPr>
            </a:defPPr>
          </a:lstStyle>
          <a:p xmlns:a="http://schemas.openxmlformats.org/drawingml/2006/main">
            <a:pPr>
              <a:defRPr sz="1650" b="1">
                <a:solidFill>
                  <a:srgbClr val="087F86"/>
                </a:solidFill>
                <a:latin typeface="Arial"/>
                <a:ea typeface="Arial"/>
                <a:cs typeface="Arial"/>
              </a:defRPr>
            </a:pPr>
            <a:r>
              <a:rPr sz="1650" b="1">
                <a:solidFill>
                  <a:srgbClr val="087F86"/>
                </a:solidFill>
                <a:latin typeface="Arial"/>
                <a:ea typeface="Arial"/>
                <a:cs typeface="Arial"/>
              </a:rPr>
              <a:t>06</a:t>
            </a:r>
          </a:p>
        </p:txBody>
      </p:sp>
    </p:spTree>
    <p:extLst>
      <p:ext uri="{BB962C8B-B14F-4D97-AF65-F5344CB8AC3E}">
        <p14:creationId xmlns:p14="http://schemas.microsoft.com/office/powerpoint/2010/main" val="2122448509"/>
      </p:ext>
    </p:extLst>
  </p:cSld>
</p:sld>
</file>

<file path=ppt/slides/slide7.xml><?xml version="1.0" encoding="utf-8"?>
<p:sld xmlns:p="http://schemas.openxmlformats.org/presentationml/2006/main">
  <p:cSld>
    <p:bg>
      <p:bgPr>
        <a:solidFill xmlns:a="http://schemas.openxmlformats.org/drawingml/2006/main">
          <a:srgbClr val="FAF8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39336BF-D6B9-4193-B0C9-3EC4A78DCC3D}"/>
              </a:ext>
            </a:extLst>
          </p:cNvPr>
          <p:cNvSpPr>
            <a:spLocks xmlns:a="http://schemas.openxmlformats.org/drawingml/2006/main" noGrp="1"/>
          </p:cNvSpPr>
          <p:nvPr/>
        </p:nvSpPr>
        <p:spPr>
          <a:xfrm xmlns:a="http://schemas.openxmlformats.org/drawingml/2006/main">
            <a:off x="609600" y="428625"/>
            <a:ext cx="10858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53A49"/>
                </a:solidFill>
                <a:latin typeface="Arial"/>
                <a:ea typeface="Arial"/>
                <a:cs typeface="Arial"/>
              </a:defRPr>
            </a:defPPr>
          </a:lstStyle>
          <a:p xmlns:a="http://schemas.openxmlformats.org/drawingml/2006/main">
            <a:pPr>
              <a:defRPr sz="3300" b="1">
                <a:solidFill>
                  <a:srgbClr val="153A49"/>
                </a:solidFill>
                <a:latin typeface="Arial"/>
                <a:ea typeface="Arial"/>
                <a:cs typeface="Arial"/>
              </a:defRPr>
            </a:pPr>
            <a:r>
              <a:rPr sz="3300" b="1">
                <a:solidFill>
                  <a:srgbClr val="153A49"/>
                </a:solidFill>
                <a:latin typeface="Arial"/>
                <a:ea typeface="Arial"/>
                <a:cs typeface="Arial"/>
              </a:rPr>
              <a:t>Câu 3: Liên hệ hạng vé vẫn còn</a:t>
            </a:r>
          </a:p>
          <a:p xmlns:a="http://schemas.openxmlformats.org/drawingml/2006/main">
            <a:pPr>
              <a:defRPr sz="3300" b="1">
                <a:solidFill>
                  <a:srgbClr val="153A49"/>
                </a:solidFill>
                <a:latin typeface="Arial"/>
                <a:ea typeface="Arial"/>
                <a:cs typeface="Arial"/>
              </a:defRPr>
            </a:pPr>
            <a:r>
              <a:rPr sz="3300" b="1">
                <a:solidFill>
                  <a:srgbClr val="153A49"/>
                </a:solidFill>
                <a:latin typeface="Arial"/>
                <a:ea typeface="Arial"/>
                <a:cs typeface="Arial"/>
              </a:rPr>
              <a:t>khi so sánh trong từng giới tính</a:t>
            </a:r>
          </a:p>
        </p:txBody>
      </p:sp>
      <p:graphicFrame>
        <p:nvGraphicFramePr>
          <p:cNvPr id="2" name="">
            <a:extLst xmlns:a="http://schemas.openxmlformats.org/drawingml/2006/main">
              <a:ext uri="{FF2B5EF4-FFF2-40B4-BE49-F238E27FC236}">
                <a16:creationId xmlns:a16="http://schemas.microsoft.com/office/drawing/2014/main" id="{E7A1249B-38A0-4397-8BF1-DAA4373533A9}"/>
              </a:ext>
            </a:extLst>
          </p:cNvPr>
          <p:cNvGraphicFramePr/>
          <p:nvPr/>
        </p:nvGraphicFramePr>
        <p:xfrm>
          <a:off xmlns:a="http://schemas.openxmlformats.org/drawingml/2006/main" x="666750" y="2057400"/>
          <a:ext xmlns:a="http://schemas.openxmlformats.org/drawingml/2006/main" cx="10763250" cy="2809875"/>
        </p:xfrm>
        <a:graphic xmlns:a="http://schemas.openxmlformats.org/drawingml/2006/main">
          <a:graphicData uri="http://schemas.openxmlformats.org/drawingml/2006/table">
            <a:tbl>
              <a:tblPr/>
              <a:tblGrid>
                <a:gridCol w="2190750"/>
                <a:gridCol w="2857500"/>
                <a:gridCol w="2857500"/>
                <a:gridCol w="2857500"/>
              </a:tblGrid>
              <a:tr h="936625">
                <a:tc>
                  <a:txBody>
                    <a:bodyPr lIns="104775" tIns="104775" rIns="104775" bIns="104775"/>
                    <a:lstStyle/>
                    <a:p>
                      <a:r>
                        <a:rPr sz="2175" b="1">
                          <a:solidFill>
                            <a:srgbClr val="FFFFFF"/>
                          </a:solidFill>
                          <a:latin typeface="Arial"/>
                          <a:ea typeface="Arial"/>
                          <a:cs typeface="Arial"/>
                        </a:rPr>
                        <a:t>Giới tính</a:t>
                      </a:r>
                    </a:p>
                  </a:txBody>
                  <a:tcPr marL="91440" marR="91440" marT="45720" marB="45720" anchor="ctr">
                    <a:lnL w="6668">
                      <a:solidFill>
                        <a:srgbClr val="CBD7D5"/>
                      </a:solidFill>
                      <a:prstDash val="solid"/>
                    </a:lnL>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c>
                  <a:txBody>
                    <a:bodyPr lIns="104775" tIns="104775" rIns="104775" bIns="104775"/>
                    <a:lstStyle/>
                    <a:p>
                      <a:r>
                        <a:rPr sz="2175" b="1">
                          <a:solidFill>
                            <a:srgbClr val="FFFFFF"/>
                          </a:solidFill>
                          <a:latin typeface="Arial"/>
                          <a:ea typeface="Arial"/>
                          <a:cs typeface="Arial"/>
                        </a:rPr>
                        <a:t>Hạng 1</a:t>
                      </a:r>
                    </a:p>
                  </a:txBody>
                  <a:tcPr marL="91440" marR="91440" marT="45720" marB="45720" anchor="ctr">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c>
                  <a:txBody>
                    <a:bodyPr lIns="104775" tIns="104775" rIns="104775" bIns="104775"/>
                    <a:lstStyle/>
                    <a:p>
                      <a:r>
                        <a:rPr sz="2175" b="1">
                          <a:solidFill>
                            <a:srgbClr val="FFFFFF"/>
                          </a:solidFill>
                          <a:latin typeface="Arial"/>
                          <a:ea typeface="Arial"/>
                          <a:cs typeface="Arial"/>
                        </a:rPr>
                        <a:t>Hạng 2</a:t>
                      </a:r>
                    </a:p>
                  </a:txBody>
                  <a:tcPr marL="91440" marR="91440" marT="45720" marB="45720" anchor="ctr">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c>
                  <a:txBody>
                    <a:bodyPr lIns="104775" tIns="104775" rIns="104775" bIns="104775"/>
                    <a:lstStyle/>
                    <a:p>
                      <a:r>
                        <a:rPr sz="2175" b="1">
                          <a:solidFill>
                            <a:srgbClr val="FFFFFF"/>
                          </a:solidFill>
                          <a:latin typeface="Arial"/>
                          <a:ea typeface="Arial"/>
                          <a:cs typeface="Arial"/>
                        </a:rPr>
                        <a:t>Hạng 3</a:t>
                      </a:r>
                    </a:p>
                  </a:txBody>
                  <a:tcPr marL="91440" marR="91440" marT="45720" marB="45720" anchor="ctr">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r>
              <a:tr h="936625">
                <a:tc>
                  <a:txBody>
                    <a:bodyPr lIns="104775" tIns="104775" rIns="104775" bIns="104775"/>
                    <a:lstStyle/>
                    <a:p>
                      <a:r>
                        <a:rPr sz="2175" b="0">
                          <a:solidFill>
                            <a:srgbClr val="153A49"/>
                          </a:solidFill>
                          <a:latin typeface="Arial"/>
                          <a:ea typeface="Arial"/>
                          <a:cs typeface="Arial"/>
                        </a:rPr>
                        <a:t>Nữ</a:t>
                      </a:r>
                    </a:p>
                  </a:txBody>
                  <a:tcPr marL="91440" marR="91440" marT="45720" marB="45720" anchor="ctr">
                    <a:lnL w="6668">
                      <a:solidFill>
                        <a:srgbClr val="CBD7D5"/>
                      </a:solidFill>
                      <a:prstDash val="solid"/>
                    </a:lnL>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2175" b="0">
                          <a:solidFill>
                            <a:srgbClr val="153A49"/>
                          </a:solidFill>
                          <a:latin typeface="Arial"/>
                          <a:ea typeface="Arial"/>
                          <a:cs typeface="Arial"/>
                        </a:rPr>
                        <a:t>96,8%</a:t>
                      </a:r>
                    </a:p>
                    <a:p>
                      <a:r>
                        <a:rPr sz="2175" b="0">
                          <a:solidFill>
                            <a:srgbClr val="153A49"/>
                          </a:solidFill>
                          <a:latin typeface="Arial"/>
                          <a:ea typeface="Arial"/>
                          <a:cs typeface="Arial"/>
                        </a:rPr>
                        <a:t>91/94</a:t>
                      </a:r>
                    </a:p>
                  </a:txBody>
                  <a:tcPr marL="91440" marR="91440" marT="45720" marB="45720" anchor="ctr">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2175" b="0">
                          <a:solidFill>
                            <a:srgbClr val="153A49"/>
                          </a:solidFill>
                          <a:latin typeface="Arial"/>
                          <a:ea typeface="Arial"/>
                          <a:cs typeface="Arial"/>
                        </a:rPr>
                        <a:t>92,1%</a:t>
                      </a:r>
                    </a:p>
                    <a:p>
                      <a:r>
                        <a:rPr sz="2175" b="0">
                          <a:solidFill>
                            <a:srgbClr val="153A49"/>
                          </a:solidFill>
                          <a:latin typeface="Arial"/>
                          <a:ea typeface="Arial"/>
                          <a:cs typeface="Arial"/>
                        </a:rPr>
                        <a:t>70/76</a:t>
                      </a:r>
                    </a:p>
                  </a:txBody>
                  <a:tcPr marL="91440" marR="91440" marT="45720" marB="45720" anchor="ctr">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2175" b="0">
                          <a:solidFill>
                            <a:srgbClr val="153A49"/>
                          </a:solidFill>
                          <a:latin typeface="Arial"/>
                          <a:ea typeface="Arial"/>
                          <a:cs typeface="Arial"/>
                        </a:rPr>
                        <a:t>50,0%</a:t>
                      </a:r>
                    </a:p>
                    <a:p>
                      <a:r>
                        <a:rPr sz="2175" b="0">
                          <a:solidFill>
                            <a:srgbClr val="153A49"/>
                          </a:solidFill>
                          <a:latin typeface="Arial"/>
                          <a:ea typeface="Arial"/>
                          <a:cs typeface="Arial"/>
                        </a:rPr>
                        <a:t>72/144</a:t>
                      </a:r>
                    </a:p>
                  </a:txBody>
                  <a:tcPr marL="91440" marR="91440" marT="45720" marB="45720" anchor="ctr">
                    <a:lnR w="6668">
                      <a:solidFill>
                        <a:srgbClr val="CBD7D5"/>
                      </a:solidFill>
                      <a:prstDash val="solid"/>
                    </a:lnR>
                    <a:lnB w="6668">
                      <a:solidFill>
                        <a:srgbClr val="CBD7D5"/>
                      </a:solidFill>
                      <a:prstDash val="solid"/>
                    </a:lnB>
                    <a:solidFill>
                      <a:srgbClr val="FAF8F2"/>
                    </a:solidFill>
                  </a:tcPr>
                </a:tc>
              </a:tr>
              <a:tr h="936625">
                <a:tc>
                  <a:txBody>
                    <a:bodyPr lIns="104775" tIns="104775" rIns="104775" bIns="104775"/>
                    <a:lstStyle/>
                    <a:p>
                      <a:r>
                        <a:rPr sz="2175" b="0">
                          <a:solidFill>
                            <a:srgbClr val="153A49"/>
                          </a:solidFill>
                          <a:latin typeface="Arial"/>
                          <a:ea typeface="Arial"/>
                          <a:cs typeface="Arial"/>
                        </a:rPr>
                        <a:t>Nam</a:t>
                      </a:r>
                    </a:p>
                  </a:txBody>
                  <a:tcPr marL="91440" marR="91440" marT="45720" marB="45720" anchor="ctr">
                    <a:lnL w="6668">
                      <a:solidFill>
                        <a:srgbClr val="CBD7D5"/>
                      </a:solidFill>
                      <a:prstDash val="solid"/>
                    </a:lnL>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2175" b="0">
                          <a:solidFill>
                            <a:srgbClr val="153A49"/>
                          </a:solidFill>
                          <a:latin typeface="Arial"/>
                          <a:ea typeface="Arial"/>
                          <a:cs typeface="Arial"/>
                        </a:rPr>
                        <a:t>36,9%</a:t>
                      </a:r>
                    </a:p>
                    <a:p>
                      <a:r>
                        <a:rPr sz="2175" b="0">
                          <a:solidFill>
                            <a:srgbClr val="153A49"/>
                          </a:solidFill>
                          <a:latin typeface="Arial"/>
                          <a:ea typeface="Arial"/>
                          <a:cs typeface="Arial"/>
                        </a:rPr>
                        <a:t>45/122</a:t>
                      </a:r>
                    </a:p>
                  </a:txBody>
                  <a:tcPr marL="91440" marR="91440" marT="45720" marB="45720" anchor="ctr">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2175" b="0">
                          <a:solidFill>
                            <a:srgbClr val="153A49"/>
                          </a:solidFill>
                          <a:latin typeface="Arial"/>
                          <a:ea typeface="Arial"/>
                          <a:cs typeface="Arial"/>
                        </a:rPr>
                        <a:t>15,7%</a:t>
                      </a:r>
                    </a:p>
                    <a:p>
                      <a:r>
                        <a:rPr sz="2175" b="0">
                          <a:solidFill>
                            <a:srgbClr val="153A49"/>
                          </a:solidFill>
                          <a:latin typeface="Arial"/>
                          <a:ea typeface="Arial"/>
                          <a:cs typeface="Arial"/>
                        </a:rPr>
                        <a:t>17/108</a:t>
                      </a:r>
                    </a:p>
                  </a:txBody>
                  <a:tcPr marL="91440" marR="91440" marT="45720" marB="45720" anchor="ctr">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2175" b="0">
                          <a:solidFill>
                            <a:srgbClr val="153A49"/>
                          </a:solidFill>
                          <a:latin typeface="Arial"/>
                          <a:ea typeface="Arial"/>
                          <a:cs typeface="Arial"/>
                        </a:rPr>
                        <a:t>13,5%</a:t>
                      </a:r>
                    </a:p>
                    <a:p>
                      <a:r>
                        <a:rPr sz="2175" b="0">
                          <a:solidFill>
                            <a:srgbClr val="153A49"/>
                          </a:solidFill>
                          <a:latin typeface="Arial"/>
                          <a:ea typeface="Arial"/>
                          <a:cs typeface="Arial"/>
                        </a:rPr>
                        <a:t>47/347</a:t>
                      </a:r>
                    </a:p>
                  </a:txBody>
                  <a:tcPr marL="91440" marR="91440" marT="45720" marB="45720" anchor="ctr">
                    <a:lnR w="6668">
                      <a:solidFill>
                        <a:srgbClr val="CBD7D5"/>
                      </a:solidFill>
                      <a:prstDash val="solid"/>
                    </a:lnR>
                    <a:lnB w="6668">
                      <a:solidFill>
                        <a:srgbClr val="CBD7D5"/>
                      </a:solidFill>
                      <a:prstDash val="solid"/>
                    </a:lnB>
                    <a:solidFill>
                      <a:srgbClr val="EEF3EF"/>
                    </a:solidFill>
                  </a:tcPr>
                </a:tc>
              </a:tr>
            </a:tbl>
          </a:graphicData>
        </a:graphic>
      </p:graphicFrame>
      <p:sp>
        <p:nvSpPr>
          <p:cNvPr id="3" name="">
            <a:extLst xmlns:a="http://schemas.openxmlformats.org/drawingml/2006/main">
              <a:ext uri="{FF2B5EF4-FFF2-40B4-BE49-F238E27FC236}">
                <a16:creationId xmlns:a16="http://schemas.microsoft.com/office/drawing/2014/main" id="{1625329D-F837-4F79-8E02-E2B44436AC14}"/>
              </a:ext>
            </a:extLst>
          </p:cNvPr>
          <p:cNvSpPr>
            <a:spLocks xmlns:a="http://schemas.openxmlformats.org/drawingml/2006/main" noGrp="1"/>
          </p:cNvSpPr>
          <p:nvPr/>
        </p:nvSpPr>
        <p:spPr>
          <a:xfrm xmlns:a="http://schemas.openxmlformats.org/drawingml/2006/main">
            <a:off x="714375" y="5143500"/>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58717B"/>
                </a:solidFill>
                <a:latin typeface="Arial"/>
                <a:ea typeface="Arial"/>
                <a:cs typeface="Arial"/>
              </a:defRPr>
            </a:defPPr>
          </a:lstStyle>
          <a:p xmlns:a="http://schemas.openxmlformats.org/drawingml/2006/main">
            <a:pPr>
              <a:defRPr sz="1875" b="0">
                <a:solidFill>
                  <a:srgbClr val="58717B"/>
                </a:solidFill>
                <a:latin typeface="Arial"/>
                <a:ea typeface="Arial"/>
                <a:cs typeface="Arial"/>
              </a:defRPr>
            </a:pPr>
            <a:r>
              <a:rPr sz="1875" b="0">
                <a:solidFill>
                  <a:srgbClr val="58717B"/>
                </a:solidFill>
                <a:latin typeface="Arial"/>
                <a:ea typeface="Arial"/>
                <a:cs typeface="Arial"/>
              </a:rPr>
              <a:t>Tỷ lệ sống (%) và số sống / tổng số. Sáu ô cộng lại: 891 người, 342 người sống</a:t>
            </a:r>
          </a:p>
        </p:txBody>
      </p:sp>
      <p:sp>
        <p:nvSpPr>
          <p:cNvPr id="4" name="">
            <a:extLst xmlns:a="http://schemas.openxmlformats.org/drawingml/2006/main">
              <a:ext uri="{FF2B5EF4-FFF2-40B4-BE49-F238E27FC236}">
                <a16:creationId xmlns:a16="http://schemas.microsoft.com/office/drawing/2014/main" id="{584AF7F9-1C01-4A2B-80B4-816625A9283D}"/>
              </a:ext>
            </a:extLst>
          </p:cNvPr>
          <p:cNvSpPr>
            <a:spLocks xmlns:a="http://schemas.openxmlformats.org/drawingml/2006/main" noGrp="1"/>
          </p:cNvSpPr>
          <p:nvPr/>
        </p:nvSpPr>
        <p:spPr>
          <a:xfrm xmlns:a="http://schemas.openxmlformats.org/drawingml/2006/main">
            <a:off x="714375" y="576262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87F86"/>
                </a:solidFill>
                <a:latin typeface="Arial"/>
                <a:ea typeface="Arial"/>
                <a:cs typeface="Arial"/>
              </a:defRPr>
            </a:defPPr>
          </a:lstStyle>
          <a:p xmlns:a="http://schemas.openxmlformats.org/drawingml/2006/main">
            <a:pPr>
              <a:defRPr sz="1875" b="1">
                <a:solidFill>
                  <a:srgbClr val="087F86"/>
                </a:solidFill>
                <a:latin typeface="Arial"/>
                <a:ea typeface="Arial"/>
                <a:cs typeface="Arial"/>
              </a:defRPr>
            </a:pPr>
            <a:r>
              <a:rPr sz="1875" b="1">
                <a:solidFill>
                  <a:srgbClr val="087F86"/>
                </a:solidFill>
                <a:latin typeface="Arial"/>
                <a:ea typeface="Arial"/>
                <a:cs typeface="Arial"/>
              </a:rPr>
              <a:t>Không chỉ do cơ cấu giới. Chưa chứng minh nhân quả độc lập hoặc cơ chế trung gian</a:t>
            </a:r>
          </a:p>
        </p:txBody>
      </p:sp>
      <p:sp>
        <p:nvSpPr>
          <p:cNvPr id="5" name="">
            <a:extLst xmlns:a="http://schemas.openxmlformats.org/drawingml/2006/main">
              <a:ext uri="{FF2B5EF4-FFF2-40B4-BE49-F238E27FC236}">
                <a16:creationId xmlns:a16="http://schemas.microsoft.com/office/drawing/2014/main" id="{123B61A1-0C69-4C0E-BC15-3A1CE202B786}"/>
              </a:ext>
            </a:extLst>
          </p:cNvPr>
          <p:cNvSpPr>
            <a:spLocks xmlns:a="http://schemas.openxmlformats.org/drawingml/2006/main" noGrp="1"/>
          </p:cNvSpPr>
          <p:nvPr/>
        </p:nvSpPr>
        <p:spPr>
          <a:xfrm xmlns:a="http://schemas.openxmlformats.org/drawingml/2006/main">
            <a:off x="609600" y="64198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58717B"/>
                </a:solidFill>
                <a:latin typeface="Arial"/>
                <a:ea typeface="Arial"/>
                <a:cs typeface="Arial"/>
              </a:defRPr>
            </a:defPPr>
          </a:lstStyle>
          <a:p xmlns:a="http://schemas.openxmlformats.org/drawingml/2006/main">
            <a:pPr>
              <a:defRPr sz="1425" b="0">
                <a:solidFill>
                  <a:srgbClr val="58717B"/>
                </a:solidFill>
                <a:latin typeface="Arial"/>
                <a:ea typeface="Arial"/>
                <a:cs typeface="Arial"/>
              </a:defRPr>
            </a:pPr>
            <a:r>
              <a:rPr sz="1425" b="0">
                <a:solidFill>
                  <a:srgbClr val="58717B"/>
                </a:solidFill>
                <a:latin typeface="Arial"/>
                <a:ea typeface="Arial"/>
                <a:cs typeface="Arial"/>
              </a:rPr>
              <a:t>A2-02   Titanic Kaggle 891</a:t>
            </a:r>
          </a:p>
        </p:txBody>
      </p:sp>
      <p:sp>
        <p:nvSpPr>
          <p:cNvPr id="6" name="">
            <a:extLst xmlns:a="http://schemas.openxmlformats.org/drawingml/2006/main">
              <a:ext uri="{FF2B5EF4-FFF2-40B4-BE49-F238E27FC236}">
                <a16:creationId xmlns:a16="http://schemas.microsoft.com/office/drawing/2014/main" id="{0EDA9BBE-36B5-47DA-B4D1-CAC2EF176A62}"/>
              </a:ext>
            </a:extLst>
          </p:cNvPr>
          <p:cNvSpPr>
            <a:spLocks xmlns:a="http://schemas.openxmlformats.org/drawingml/2006/main" noGrp="1"/>
          </p:cNvSpPr>
          <p:nvPr/>
        </p:nvSpPr>
        <p:spPr>
          <a:xfrm xmlns:a="http://schemas.openxmlformats.org/drawingml/2006/main">
            <a:off x="11068050" y="6381750"/>
            <a:ext cx="514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087F86"/>
                </a:solidFill>
                <a:latin typeface="Arial"/>
                <a:ea typeface="Arial"/>
                <a:cs typeface="Arial"/>
              </a:defRPr>
            </a:defPPr>
          </a:lstStyle>
          <a:p xmlns:a="http://schemas.openxmlformats.org/drawingml/2006/main">
            <a:pPr>
              <a:defRPr sz="1650" b="1">
                <a:solidFill>
                  <a:srgbClr val="087F86"/>
                </a:solidFill>
                <a:latin typeface="Arial"/>
                <a:ea typeface="Arial"/>
                <a:cs typeface="Arial"/>
              </a:defRPr>
            </a:pPr>
            <a:r>
              <a:rPr sz="1650" b="1">
                <a:solidFill>
                  <a:srgbClr val="087F86"/>
                </a:solidFill>
                <a:latin typeface="Arial"/>
                <a:ea typeface="Arial"/>
                <a:cs typeface="Arial"/>
              </a:rPr>
              <a:t>07</a:t>
            </a:r>
          </a:p>
        </p:txBody>
      </p:sp>
    </p:spTree>
    <p:extLst>
      <p:ext uri="{BB962C8B-B14F-4D97-AF65-F5344CB8AC3E}">
        <p14:creationId xmlns:p14="http://schemas.microsoft.com/office/powerpoint/2010/main" val="705859621"/>
      </p:ext>
    </p:extLst>
  </p:cSld>
</p:sld>
</file>

<file path=ppt/slides/slide8.xml><?xml version="1.0" encoding="utf-8"?>
<p:sld xmlns:p="http://schemas.openxmlformats.org/presentationml/2006/main">
  <p:cSld>
    <p:bg>
      <p:bgPr>
        <a:solidFill xmlns:a="http://schemas.openxmlformats.org/drawingml/2006/main">
          <a:srgbClr val="FAF8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4F6E303-9A29-4E84-92DC-9BAABFF30EB8}"/>
              </a:ext>
            </a:extLst>
          </p:cNvPr>
          <p:cNvSpPr>
            <a:spLocks xmlns:a="http://schemas.openxmlformats.org/drawingml/2006/main" noGrp="1"/>
          </p:cNvSpPr>
          <p:nvPr/>
        </p:nvSpPr>
        <p:spPr>
          <a:xfrm xmlns:a="http://schemas.openxmlformats.org/drawingml/2006/main">
            <a:off x="609600" y="428625"/>
            <a:ext cx="10858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53A49"/>
                </a:solidFill>
                <a:latin typeface="Arial"/>
                <a:ea typeface="Arial"/>
                <a:cs typeface="Arial"/>
              </a:defRPr>
            </a:defPPr>
          </a:lstStyle>
          <a:p xmlns:a="http://schemas.openxmlformats.org/drawingml/2006/main">
            <a:pPr>
              <a:defRPr sz="3300" b="1">
                <a:solidFill>
                  <a:srgbClr val="153A49"/>
                </a:solidFill>
                <a:latin typeface="Arial"/>
                <a:ea typeface="Arial"/>
                <a:cs typeface="Arial"/>
              </a:defRPr>
            </a:pPr>
            <a:r>
              <a:rPr sz="3300" b="1">
                <a:solidFill>
                  <a:srgbClr val="153A49"/>
                </a:solidFill>
                <a:latin typeface="Arial"/>
                <a:ea typeface="Arial"/>
                <a:cs typeface="Arial"/>
              </a:rPr>
              <a:t>Ba nhận định có căn cứ và giới hạn</a:t>
            </a:r>
          </a:p>
        </p:txBody>
      </p:sp>
      <p:graphicFrame>
        <p:nvGraphicFramePr>
          <p:cNvPr id="2" name="">
            <a:extLst xmlns:a="http://schemas.openxmlformats.org/drawingml/2006/main">
              <a:ext uri="{FF2B5EF4-FFF2-40B4-BE49-F238E27FC236}">
                <a16:creationId xmlns:a16="http://schemas.microsoft.com/office/drawing/2014/main" id="{115EA5DE-6512-4D06-AD42-37E1D616C6EF}"/>
              </a:ext>
            </a:extLst>
          </p:cNvPr>
          <p:cNvGraphicFramePr/>
          <p:nvPr/>
        </p:nvGraphicFramePr>
        <p:xfrm>
          <a:off xmlns:a="http://schemas.openxmlformats.org/drawingml/2006/main" x="666750" y="1819275"/>
          <a:ext xmlns:a="http://schemas.openxmlformats.org/drawingml/2006/main" cx="10763250" cy="4048125"/>
        </p:xfrm>
        <a:graphic xmlns:a="http://schemas.openxmlformats.org/drawingml/2006/main">
          <a:graphicData uri="http://schemas.openxmlformats.org/drawingml/2006/table">
            <a:tbl>
              <a:tblPr/>
              <a:tblGrid>
                <a:gridCol w="2857500"/>
                <a:gridCol w="3857625"/>
                <a:gridCol w="4048125"/>
              </a:tblGrid>
              <a:tr h="1012031">
                <a:tc>
                  <a:txBody>
                    <a:bodyPr lIns="104775" tIns="104775" rIns="104775" bIns="104775"/>
                    <a:lstStyle/>
                    <a:p>
                      <a:r>
                        <a:rPr sz="1650" b="1">
                          <a:solidFill>
                            <a:srgbClr val="FFFFFF"/>
                          </a:solidFill>
                          <a:latin typeface="Arial"/>
                          <a:ea typeface="Arial"/>
                          <a:cs typeface="Arial"/>
                        </a:rPr>
                        <a:t>Nhận định</a:t>
                      </a:r>
                    </a:p>
                  </a:txBody>
                  <a:tcPr marL="91440" marR="91440" marT="45720" marB="45720" anchor="ctr">
                    <a:lnL w="6668">
                      <a:solidFill>
                        <a:srgbClr val="CBD7D5"/>
                      </a:solidFill>
                      <a:prstDash val="solid"/>
                    </a:lnL>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c>
                  <a:txBody>
                    <a:bodyPr lIns="104775" tIns="104775" rIns="104775" bIns="104775"/>
                    <a:lstStyle/>
                    <a:p>
                      <a:r>
                        <a:rPr sz="1650" b="1">
                          <a:solidFill>
                            <a:srgbClr val="FFFFFF"/>
                          </a:solidFill>
                          <a:latin typeface="Arial"/>
                          <a:ea typeface="Arial"/>
                          <a:cs typeface="Arial"/>
                        </a:rPr>
                        <a:t>Dẫn chứng</a:t>
                      </a:r>
                    </a:p>
                  </a:txBody>
                  <a:tcPr marL="91440" marR="91440" marT="45720" marB="45720" anchor="ctr">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c>
                  <a:txBody>
                    <a:bodyPr lIns="104775" tIns="104775" rIns="104775" bIns="104775"/>
                    <a:lstStyle/>
                    <a:p>
                      <a:r>
                        <a:rPr sz="1650" b="1">
                          <a:solidFill>
                            <a:srgbClr val="FFFFFF"/>
                          </a:solidFill>
                          <a:latin typeface="Arial"/>
                          <a:ea typeface="Arial"/>
                          <a:cs typeface="Arial"/>
                        </a:rPr>
                        <a:t>Giới hạn</a:t>
                      </a:r>
                    </a:p>
                  </a:txBody>
                  <a:tcPr marL="91440" marR="91440" marT="45720" marB="45720" anchor="ctr">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r>
              <a:tr h="1012031">
                <a:tc>
                  <a:txBody>
                    <a:bodyPr lIns="104775" tIns="104775" rIns="104775" bIns="104775"/>
                    <a:lstStyle/>
                    <a:p>
                      <a:r>
                        <a:rPr sz="1650" b="0">
                          <a:solidFill>
                            <a:srgbClr val="153A49"/>
                          </a:solidFill>
                          <a:latin typeface="Arial"/>
                          <a:ea typeface="Arial"/>
                          <a:cs typeface="Arial"/>
                        </a:rPr>
                        <a:t>1. Nhiều yếu tố</a:t>
                      </a:r>
                    </a:p>
                    <a:p>
                      <a:r>
                        <a:rPr sz="1650" b="0">
                          <a:solidFill>
                            <a:srgbClr val="153A49"/>
                          </a:solidFill>
                          <a:latin typeface="Arial"/>
                          <a:ea typeface="Arial"/>
                          <a:cs typeface="Arial"/>
                        </a:rPr>
                        <a:t>có liên hệ mô tả</a:t>
                      </a:r>
                    </a:p>
                  </a:txBody>
                  <a:tcPr marL="91440" marR="91440" marT="45720" marB="45720" anchor="ctr">
                    <a:lnL w="6668">
                      <a:solidFill>
                        <a:srgbClr val="CBD7D5"/>
                      </a:solidFill>
                      <a:prstDash val="solid"/>
                    </a:lnL>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650" b="0">
                          <a:solidFill>
                            <a:srgbClr val="153A49"/>
                          </a:solidFill>
                          <a:latin typeface="Arial"/>
                          <a:ea typeface="Arial"/>
                          <a:cs typeface="Arial"/>
                        </a:rPr>
                        <a:t>Nữ / nam: 74,2% / 18,9%</a:t>
                      </a:r>
                    </a:p>
                    <a:p>
                      <a:r>
                        <a:rPr sz="1650" b="0">
                          <a:solidFill>
                            <a:srgbClr val="153A49"/>
                          </a:solidFill>
                          <a:latin typeface="Arial"/>
                          <a:ea typeface="Arial"/>
                          <a:cs typeface="Arial"/>
                        </a:rPr>
                        <a:t>Hạng 1 / 3: 63,0% / 24,2%</a:t>
                      </a:r>
                    </a:p>
                    <a:p>
                      <a:r>
                        <a:rPr sz="1650" b="0">
                          <a:solidFill>
                            <a:srgbClr val="153A49"/>
                          </a:solidFill>
                          <a:latin typeface="Arial"/>
                          <a:ea typeface="Arial"/>
                          <a:cs typeface="Arial"/>
                        </a:rPr>
                        <a:t>Gia đình 2–4: 55,3%–72,4%</a:t>
                      </a:r>
                    </a:p>
                  </a:txBody>
                  <a:tcPr marL="91440" marR="91440" marT="45720" marB="45720" anchor="ctr">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650" b="0">
                          <a:solidFill>
                            <a:srgbClr val="153A49"/>
                          </a:solidFill>
                          <a:latin typeface="Arial"/>
                          <a:ea typeface="Arial"/>
                          <a:cs typeface="Arial"/>
                        </a:rPr>
                        <a:t>Các yếu tố liên quan với nhau.</a:t>
                      </a:r>
                    </a:p>
                    <a:p>
                      <a:r>
                        <a:rPr sz="1650" b="0">
                          <a:solidFill>
                            <a:srgbClr val="153A49"/>
                          </a:solidFill>
                          <a:latin typeface="Arial"/>
                          <a:ea typeface="Arial"/>
                          <a:cs typeface="Arial"/>
                        </a:rPr>
                        <a:t>Chưa xếp hạng tác động độc lập</a:t>
                      </a:r>
                    </a:p>
                    <a:p>
                      <a:r>
                        <a:rPr sz="1650" b="0">
                          <a:solidFill>
                            <a:srgbClr val="153A49"/>
                          </a:solidFill>
                          <a:latin typeface="Arial"/>
                          <a:ea typeface="Arial"/>
                          <a:cs typeface="Arial"/>
                        </a:rPr>
                        <a:t>hay xác định nguyên nhân.</a:t>
                      </a:r>
                    </a:p>
                  </a:txBody>
                  <a:tcPr marL="91440" marR="91440" marT="45720" marB="45720" anchor="ctr">
                    <a:lnR w="6668">
                      <a:solidFill>
                        <a:srgbClr val="CBD7D5"/>
                      </a:solidFill>
                      <a:prstDash val="solid"/>
                    </a:lnR>
                    <a:lnB w="6668">
                      <a:solidFill>
                        <a:srgbClr val="CBD7D5"/>
                      </a:solidFill>
                      <a:prstDash val="solid"/>
                    </a:lnB>
                    <a:solidFill>
                      <a:srgbClr val="FAF8F2"/>
                    </a:solidFill>
                  </a:tcPr>
                </a:tc>
              </a:tr>
              <a:tr h="1012031">
                <a:tc>
                  <a:txBody>
                    <a:bodyPr lIns="104775" tIns="104775" rIns="104775" bIns="104775"/>
                    <a:lstStyle/>
                    <a:p>
                      <a:r>
                        <a:rPr sz="1650" b="0">
                          <a:solidFill>
                            <a:srgbClr val="153A49"/>
                          </a:solidFill>
                          <a:latin typeface="Arial"/>
                          <a:ea typeface="Arial"/>
                          <a:cs typeface="Arial"/>
                        </a:rPr>
                        <a:t>2. Giả thuyết được</a:t>
                      </a:r>
                    </a:p>
                    <a:p>
                      <a:r>
                        <a:rPr sz="1650" b="0">
                          <a:solidFill>
                            <a:srgbClr val="153A49"/>
                          </a:solidFill>
                          <a:latin typeface="Arial"/>
                          <a:ea typeface="Arial"/>
                          <a:cs typeface="Arial"/>
                        </a:rPr>
                        <a:t>hỗ trợ một phần</a:t>
                      </a:r>
                    </a:p>
                  </a:txBody>
                  <a:tcPr marL="91440" marR="91440" marT="45720" marB="45720" anchor="ctr">
                    <a:lnL w="6668">
                      <a:solidFill>
                        <a:srgbClr val="CBD7D5"/>
                      </a:solidFill>
                      <a:prstDash val="solid"/>
                    </a:lnL>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1650" b="0">
                          <a:solidFill>
                            <a:srgbClr val="153A49"/>
                          </a:solidFill>
                          <a:latin typeface="Arial"/>
                          <a:ea typeface="Arial"/>
                          <a:cs typeface="Arial"/>
                        </a:rPr>
                        <a:t>Trẻ em nam: 56,8% &gt; 17,3%</a:t>
                      </a:r>
                    </a:p>
                    <a:p>
                      <a:r>
                        <a:rPr sz="1650" b="0">
                          <a:solidFill>
                            <a:srgbClr val="153A49"/>
                          </a:solidFill>
                          <a:latin typeface="Arial"/>
                          <a:ea typeface="Arial"/>
                          <a:cs typeface="Arial"/>
                        </a:rPr>
                        <a:t>Trẻ em nữ: 59,4% &lt; 77,7%</a:t>
                      </a:r>
                    </a:p>
                    <a:p>
                      <a:r>
                        <a:rPr sz="1650" b="0">
                          <a:solidFill>
                            <a:srgbClr val="153A49"/>
                          </a:solidFill>
                          <a:latin typeface="Arial"/>
                          <a:ea typeface="Arial"/>
                          <a:cs typeface="Arial"/>
                        </a:rPr>
                        <a:t>(so với cùng giới &gt;12)</a:t>
                      </a:r>
                    </a:p>
                  </a:txBody>
                  <a:tcPr marL="91440" marR="91440" marT="45720" marB="45720" anchor="ctr">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1650" b="0">
                          <a:solidFill>
                            <a:srgbClr val="153A49"/>
                          </a:solidFill>
                          <a:latin typeface="Arial"/>
                          <a:ea typeface="Arial"/>
                          <a:cs typeface="Arial"/>
                        </a:rPr>
                        <a:t>Thiếu tuổi 19,9%. Không đồng</a:t>
                      </a:r>
                    </a:p>
                    <a:p>
                      <a:r>
                        <a:rPr sz="1650" b="0">
                          <a:solidFill>
                            <a:srgbClr val="153A49"/>
                          </a:solidFill>
                          <a:latin typeface="Arial"/>
                          <a:ea typeface="Arial"/>
                          <a:cs typeface="Arial"/>
                        </a:rPr>
                        <a:t>nhất ở mọi nhóm và không</a:t>
                      </a:r>
                    </a:p>
                    <a:p>
                      <a:r>
                        <a:rPr sz="1650" b="0">
                          <a:solidFill>
                            <a:srgbClr val="153A49"/>
                          </a:solidFill>
                          <a:latin typeface="Arial"/>
                          <a:ea typeface="Arial"/>
                          <a:cs typeface="Arial"/>
                        </a:rPr>
                        <a:t>xác nhận trình tự cứu hộ.</a:t>
                      </a:r>
                    </a:p>
                  </a:txBody>
                  <a:tcPr marL="91440" marR="91440" marT="45720" marB="45720" anchor="ctr">
                    <a:lnR w="6668">
                      <a:solidFill>
                        <a:srgbClr val="CBD7D5"/>
                      </a:solidFill>
                      <a:prstDash val="solid"/>
                    </a:lnR>
                    <a:lnB w="6668">
                      <a:solidFill>
                        <a:srgbClr val="CBD7D5"/>
                      </a:solidFill>
                      <a:prstDash val="solid"/>
                    </a:lnB>
                    <a:solidFill>
                      <a:srgbClr val="EEF3EF"/>
                    </a:solidFill>
                  </a:tcPr>
                </a:tc>
              </a:tr>
              <a:tr h="1012031">
                <a:tc>
                  <a:txBody>
                    <a:bodyPr lIns="104775" tIns="104775" rIns="104775" bIns="104775"/>
                    <a:lstStyle/>
                    <a:p>
                      <a:r>
                        <a:rPr sz="1650" b="0">
                          <a:solidFill>
                            <a:srgbClr val="153A49"/>
                          </a:solidFill>
                          <a:latin typeface="Arial"/>
                          <a:ea typeface="Arial"/>
                          <a:cs typeface="Arial"/>
                        </a:rPr>
                        <a:t>3. Liên hệ hạng vé</a:t>
                      </a:r>
                    </a:p>
                    <a:p>
                      <a:r>
                        <a:rPr sz="1650" b="0">
                          <a:solidFill>
                            <a:srgbClr val="153A49"/>
                          </a:solidFill>
                          <a:latin typeface="Arial"/>
                          <a:ea typeface="Arial"/>
                          <a:cs typeface="Arial"/>
                        </a:rPr>
                        <a:t>còn ở từng giới</a:t>
                      </a:r>
                    </a:p>
                  </a:txBody>
                  <a:tcPr marL="91440" marR="91440" marT="45720" marB="45720" anchor="ctr">
                    <a:lnL w="6668">
                      <a:solidFill>
                        <a:srgbClr val="CBD7D5"/>
                      </a:solidFill>
                      <a:prstDash val="solid"/>
                    </a:lnL>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650" b="0">
                          <a:solidFill>
                            <a:srgbClr val="153A49"/>
                          </a:solidFill>
                          <a:latin typeface="Arial"/>
                          <a:ea typeface="Arial"/>
                          <a:cs typeface="Arial"/>
                        </a:rPr>
                        <a:t>Nữ hạng 1 / 3: 96,8% / 50,0%</a:t>
                      </a:r>
                    </a:p>
                    <a:p>
                      <a:r>
                        <a:rPr sz="1650" b="0">
                          <a:solidFill>
                            <a:srgbClr val="153A49"/>
                          </a:solidFill>
                          <a:latin typeface="Arial"/>
                          <a:ea typeface="Arial"/>
                          <a:cs typeface="Arial"/>
                        </a:rPr>
                        <a:t>Nam hạng 1 / 3: 36,9% / 13,5%</a:t>
                      </a:r>
                    </a:p>
                  </a:txBody>
                  <a:tcPr marL="91440" marR="91440" marT="45720" marB="45720" anchor="ctr">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650" b="0">
                          <a:solidFill>
                            <a:srgbClr val="153A49"/>
                          </a:solidFill>
                          <a:latin typeface="Arial"/>
                          <a:ea typeface="Arial"/>
                          <a:cs typeface="Arial"/>
                        </a:rPr>
                        <a:t>Chưa chứng minh nhân quả độc lập</a:t>
                      </a:r>
                    </a:p>
                    <a:p>
                      <a:r>
                        <a:rPr sz="1650" b="0">
                          <a:solidFill>
                            <a:srgbClr val="153A49"/>
                          </a:solidFill>
                          <a:latin typeface="Arial"/>
                          <a:ea typeface="Arial"/>
                          <a:cs typeface="Arial"/>
                        </a:rPr>
                        <a:t>hoặc cơ chế trung gian.</a:t>
                      </a:r>
                    </a:p>
                    <a:p>
                      <a:r>
                        <a:rPr sz="1650" b="0">
                          <a:solidFill>
                            <a:srgbClr val="153A49"/>
                          </a:solidFill>
                          <a:latin typeface="Arial"/>
                          <a:ea typeface="Arial"/>
                          <a:cs typeface="Arial"/>
                        </a:rPr>
                        <a:t>Không suy rộng cho cá nhân.</a:t>
                      </a:r>
                    </a:p>
                  </a:txBody>
                  <a:tcPr marL="91440" marR="91440" marT="45720" marB="45720" anchor="ctr">
                    <a:lnR w="6668">
                      <a:solidFill>
                        <a:srgbClr val="CBD7D5"/>
                      </a:solidFill>
                      <a:prstDash val="solid"/>
                    </a:lnR>
                    <a:lnB w="6668">
                      <a:solidFill>
                        <a:srgbClr val="CBD7D5"/>
                      </a:solidFill>
                      <a:prstDash val="solid"/>
                    </a:lnB>
                    <a:solidFill>
                      <a:srgbClr val="FAF8F2"/>
                    </a:solidFill>
                  </a:tcPr>
                </a:tc>
              </a:tr>
            </a:tbl>
          </a:graphicData>
        </a:graphic>
      </p:graphicFrame>
      <p:sp>
        <p:nvSpPr>
          <p:cNvPr id="3" name="">
            <a:extLst xmlns:a="http://schemas.openxmlformats.org/drawingml/2006/main">
              <a:ext uri="{FF2B5EF4-FFF2-40B4-BE49-F238E27FC236}">
                <a16:creationId xmlns:a16="http://schemas.microsoft.com/office/drawing/2014/main" id="{50FD0080-83E1-4D58-A9F9-624FE07A02E6}"/>
              </a:ext>
            </a:extLst>
          </p:cNvPr>
          <p:cNvSpPr>
            <a:spLocks xmlns:a="http://schemas.openxmlformats.org/drawingml/2006/main" noGrp="1"/>
          </p:cNvSpPr>
          <p:nvPr/>
        </p:nvSpPr>
        <p:spPr>
          <a:xfrm xmlns:a="http://schemas.openxmlformats.org/drawingml/2006/main">
            <a:off x="666750" y="6019800"/>
            <a:ext cx="1076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8717B"/>
                </a:solidFill>
                <a:latin typeface="Arial"/>
                <a:ea typeface="Arial"/>
                <a:cs typeface="Arial"/>
              </a:defRPr>
            </a:defPPr>
          </a:lstStyle>
          <a:p xmlns:a="http://schemas.openxmlformats.org/drawingml/2006/main">
            <a:pPr>
              <a:defRPr sz="1650" b="0">
                <a:solidFill>
                  <a:srgbClr val="58717B"/>
                </a:solidFill>
                <a:latin typeface="Arial"/>
                <a:ea typeface="Arial"/>
                <a:cs typeface="Arial"/>
              </a:defRPr>
            </a:pPr>
            <a:r>
              <a:rPr sz="1650" b="0">
                <a:solidFill>
                  <a:srgbClr val="58717B"/>
                </a:solidFill>
                <a:latin typeface="Arial"/>
                <a:ea typeface="Arial"/>
                <a:cs typeface="Arial"/>
              </a:rPr>
              <a:t>Chỉ mô tả mẫu 891 hành khách. Không suy rộng cho tàu khác hoặc bối cảnh hiện đại</a:t>
            </a:r>
          </a:p>
        </p:txBody>
      </p:sp>
      <p:sp>
        <p:nvSpPr>
          <p:cNvPr id="4" name="">
            <a:extLst xmlns:a="http://schemas.openxmlformats.org/drawingml/2006/main">
              <a:ext uri="{FF2B5EF4-FFF2-40B4-BE49-F238E27FC236}">
                <a16:creationId xmlns:a16="http://schemas.microsoft.com/office/drawing/2014/main" id="{8FFAD6E5-CBA5-4222-BB1D-3EF838DB783F}"/>
              </a:ext>
            </a:extLst>
          </p:cNvPr>
          <p:cNvSpPr>
            <a:spLocks xmlns:a="http://schemas.openxmlformats.org/drawingml/2006/main" noGrp="1"/>
          </p:cNvSpPr>
          <p:nvPr/>
        </p:nvSpPr>
        <p:spPr>
          <a:xfrm xmlns:a="http://schemas.openxmlformats.org/drawingml/2006/main">
            <a:off x="609600" y="64198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58717B"/>
                </a:solidFill>
                <a:latin typeface="Arial"/>
                <a:ea typeface="Arial"/>
                <a:cs typeface="Arial"/>
              </a:defRPr>
            </a:defPPr>
          </a:lstStyle>
          <a:p xmlns:a="http://schemas.openxmlformats.org/drawingml/2006/main">
            <a:pPr>
              <a:defRPr sz="1425" b="0">
                <a:solidFill>
                  <a:srgbClr val="58717B"/>
                </a:solidFill>
                <a:latin typeface="Arial"/>
                <a:ea typeface="Arial"/>
                <a:cs typeface="Arial"/>
              </a:defRPr>
            </a:pPr>
            <a:r>
              <a:rPr sz="1425" b="0">
                <a:solidFill>
                  <a:srgbClr val="58717B"/>
                </a:solidFill>
                <a:latin typeface="Arial"/>
                <a:ea typeface="Arial"/>
                <a:cs typeface="Arial"/>
              </a:rPr>
              <a:t>A2-02   Titanic Kaggle 891</a:t>
            </a:r>
          </a:p>
        </p:txBody>
      </p:sp>
      <p:sp>
        <p:nvSpPr>
          <p:cNvPr id="5" name="">
            <a:extLst xmlns:a="http://schemas.openxmlformats.org/drawingml/2006/main">
              <a:ext uri="{FF2B5EF4-FFF2-40B4-BE49-F238E27FC236}">
                <a16:creationId xmlns:a16="http://schemas.microsoft.com/office/drawing/2014/main" id="{3D6B6EB1-D6B6-4323-AD15-CE81F10D2237}"/>
              </a:ext>
            </a:extLst>
          </p:cNvPr>
          <p:cNvSpPr>
            <a:spLocks xmlns:a="http://schemas.openxmlformats.org/drawingml/2006/main" noGrp="1"/>
          </p:cNvSpPr>
          <p:nvPr/>
        </p:nvSpPr>
        <p:spPr>
          <a:xfrm xmlns:a="http://schemas.openxmlformats.org/drawingml/2006/main">
            <a:off x="11068050" y="6381750"/>
            <a:ext cx="514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087F86"/>
                </a:solidFill>
                <a:latin typeface="Arial"/>
                <a:ea typeface="Arial"/>
                <a:cs typeface="Arial"/>
              </a:defRPr>
            </a:defPPr>
          </a:lstStyle>
          <a:p xmlns:a="http://schemas.openxmlformats.org/drawingml/2006/main">
            <a:pPr>
              <a:defRPr sz="1650" b="1">
                <a:solidFill>
                  <a:srgbClr val="087F86"/>
                </a:solidFill>
                <a:latin typeface="Arial"/>
                <a:ea typeface="Arial"/>
                <a:cs typeface="Arial"/>
              </a:defRPr>
            </a:pPr>
            <a:r>
              <a:rPr sz="1650" b="1">
                <a:solidFill>
                  <a:srgbClr val="087F86"/>
                </a:solidFill>
                <a:latin typeface="Arial"/>
                <a:ea typeface="Arial"/>
                <a:cs typeface="Arial"/>
              </a:rPr>
              <a:t>08</a:t>
            </a:r>
          </a:p>
        </p:txBody>
      </p:sp>
    </p:spTree>
    <p:extLst>
      <p:ext uri="{BB962C8B-B14F-4D97-AF65-F5344CB8AC3E}">
        <p14:creationId xmlns:p14="http://schemas.microsoft.com/office/powerpoint/2010/main" val="1792059771"/>
      </p:ext>
    </p:extLst>
  </p:cSld>
</p:sld>
</file>

<file path=ppt/slides/slide9.xml><?xml version="1.0" encoding="utf-8"?>
<p:sld xmlns:p="http://schemas.openxmlformats.org/presentationml/2006/main">
  <p:cSld>
    <p:bg>
      <p:bgPr>
        <a:solidFill xmlns:a="http://schemas.openxmlformats.org/drawingml/2006/main">
          <a:srgbClr val="FAF8F2"/>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47597F-2C48-4D70-B9E3-C69CA76E78A9}"/>
              </a:ext>
            </a:extLst>
          </p:cNvPr>
          <p:cNvSpPr>
            <a:spLocks xmlns:a="http://schemas.openxmlformats.org/drawingml/2006/main" noGrp="1"/>
          </p:cNvSpPr>
          <p:nvPr/>
        </p:nvSpPr>
        <p:spPr>
          <a:xfrm xmlns:a="http://schemas.openxmlformats.org/drawingml/2006/main">
            <a:off x="609600" y="428625"/>
            <a:ext cx="10858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53A49"/>
                </a:solidFill>
                <a:latin typeface="Arial"/>
                <a:ea typeface="Arial"/>
                <a:cs typeface="Arial"/>
              </a:defRPr>
            </a:defPPr>
          </a:lstStyle>
          <a:p xmlns:a="http://schemas.openxmlformats.org/drawingml/2006/main">
            <a:pPr>
              <a:defRPr sz="3300" b="1">
                <a:solidFill>
                  <a:srgbClr val="153A49"/>
                </a:solidFill>
                <a:latin typeface="Arial"/>
                <a:ea typeface="Arial"/>
                <a:cs typeface="Arial"/>
              </a:defRPr>
            </a:pPr>
            <a:r>
              <a:rPr sz="3300" b="1">
                <a:solidFill>
                  <a:srgbClr val="153A49"/>
                </a:solidFill>
                <a:latin typeface="Arial"/>
                <a:ea typeface="Arial"/>
                <a:cs typeface="Arial"/>
              </a:rPr>
              <a:t>Phân công và công cụ hỗ trợ</a:t>
            </a:r>
          </a:p>
        </p:txBody>
      </p:sp>
      <p:sp>
        <p:nvSpPr>
          <p:cNvPr id="2" name="">
            <a:extLst xmlns:a="http://schemas.openxmlformats.org/drawingml/2006/main">
              <a:ext uri="{FF2B5EF4-FFF2-40B4-BE49-F238E27FC236}">
                <a16:creationId xmlns:a16="http://schemas.microsoft.com/office/drawing/2014/main" id="{49968326-C47A-4928-8ADE-6840F4358000}"/>
              </a:ext>
            </a:extLst>
          </p:cNvPr>
          <p:cNvSpPr>
            <a:spLocks xmlns:a="http://schemas.openxmlformats.org/drawingml/2006/main" noGrp="1"/>
          </p:cNvSpPr>
          <p:nvPr/>
        </p:nvSpPr>
        <p:spPr>
          <a:xfrm xmlns:a="http://schemas.openxmlformats.org/drawingml/2006/main">
            <a:off x="714375" y="2047875"/>
            <a:ext cx="5048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1">
                <a:solidFill>
                  <a:srgbClr val="153A49"/>
                </a:solidFill>
                <a:latin typeface="Arial"/>
                <a:ea typeface="Arial"/>
                <a:cs typeface="Arial"/>
              </a:defRPr>
            </a:defPPr>
          </a:lstStyle>
          <a:p xmlns:a="http://schemas.openxmlformats.org/drawingml/2006/main">
            <a:pPr>
              <a:defRPr sz="2475" b="1">
                <a:solidFill>
                  <a:srgbClr val="153A49"/>
                </a:solidFill>
                <a:latin typeface="Arial"/>
                <a:ea typeface="Arial"/>
                <a:cs typeface="Arial"/>
              </a:defRPr>
            </a:pPr>
            <a:r>
              <a:rPr sz="2475" b="1">
                <a:solidFill>
                  <a:srgbClr val="153A49"/>
                </a:solidFill>
                <a:latin typeface="Arial"/>
                <a:ea typeface="Arial"/>
                <a:cs typeface="Arial"/>
              </a:rPr>
              <a:t>Lương Công Hoàng Duy</a:t>
            </a:r>
          </a:p>
          <a:p xmlns:a="http://schemas.openxmlformats.org/drawingml/2006/main">
            <a:pPr>
              <a:defRPr sz="2475" b="1">
                <a:solidFill>
                  <a:srgbClr val="153A49"/>
                </a:solidFill>
                <a:latin typeface="Arial"/>
                <a:ea typeface="Arial"/>
                <a:cs typeface="Arial"/>
              </a:defRPr>
            </a:pPr>
            <a:r>
              <a:rPr sz="2475" b="1">
                <a:solidFill>
                  <a:srgbClr val="153A49"/>
                </a:solidFill>
                <a:latin typeface="Arial"/>
                <a:ea typeface="Arial"/>
                <a:cs typeface="Arial"/>
              </a:rPr>
              <a:t>MSSV 240464</a:t>
            </a:r>
          </a:p>
        </p:txBody>
      </p:sp>
      <p:sp>
        <p:nvSpPr>
          <p:cNvPr id="3" name="">
            <a:extLst xmlns:a="http://schemas.openxmlformats.org/drawingml/2006/main">
              <a:ext uri="{FF2B5EF4-FFF2-40B4-BE49-F238E27FC236}">
                <a16:creationId xmlns:a16="http://schemas.microsoft.com/office/drawing/2014/main" id="{09CB9780-A558-48F8-B724-8D47A4A76014}"/>
              </a:ext>
            </a:extLst>
          </p:cNvPr>
          <p:cNvSpPr>
            <a:spLocks xmlns:a="http://schemas.openxmlformats.org/drawingml/2006/main" noGrp="1"/>
          </p:cNvSpPr>
          <p:nvPr/>
        </p:nvSpPr>
        <p:spPr>
          <a:xfrm xmlns:a="http://schemas.openxmlformats.org/drawingml/2006/main">
            <a:off x="714375" y="3105150"/>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950" b="1">
                <a:solidFill>
                  <a:srgbClr val="087F86"/>
                </a:solidFill>
                <a:latin typeface="Arial"/>
                <a:ea typeface="Arial"/>
                <a:cs typeface="Arial"/>
              </a:defRPr>
            </a:defPPr>
          </a:lstStyle>
          <a:p xmlns:a="http://schemas.openxmlformats.org/drawingml/2006/main">
            <a:pPr>
              <a:defRPr sz="4950" b="1">
                <a:solidFill>
                  <a:srgbClr val="087F86"/>
                </a:solidFill>
                <a:latin typeface="Arial"/>
                <a:ea typeface="Arial"/>
                <a:cs typeface="Arial"/>
              </a:defRPr>
            </a:pPr>
            <a:r>
              <a:rPr sz="4950" b="1">
                <a:solidFill>
                  <a:srgbClr val="087F86"/>
                </a:solidFill>
                <a:latin typeface="Arial"/>
                <a:ea typeface="Arial"/>
                <a:cs typeface="Arial"/>
              </a:rPr>
              <a:t>60%</a:t>
            </a:r>
          </a:p>
        </p:txBody>
      </p:sp>
      <p:sp>
        <p:nvSpPr>
          <p:cNvPr id="4" name="">
            <a:extLst xmlns:a="http://schemas.openxmlformats.org/drawingml/2006/main">
              <a:ext uri="{FF2B5EF4-FFF2-40B4-BE49-F238E27FC236}">
                <a16:creationId xmlns:a16="http://schemas.microsoft.com/office/drawing/2014/main" id="{DC2087B8-55D2-4D17-A19E-BEF6F3DD14EA}"/>
              </a:ext>
            </a:extLst>
          </p:cNvPr>
          <p:cNvSpPr>
            <a:spLocks xmlns:a="http://schemas.openxmlformats.org/drawingml/2006/main" noGrp="1"/>
          </p:cNvSpPr>
          <p:nvPr/>
        </p:nvSpPr>
        <p:spPr>
          <a:xfrm xmlns:a="http://schemas.openxmlformats.org/drawingml/2006/main">
            <a:off x="714375" y="4095750"/>
            <a:ext cx="5048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53A49"/>
                </a:solidFill>
                <a:latin typeface="Arial"/>
                <a:ea typeface="Arial"/>
                <a:cs typeface="Arial"/>
              </a:defRPr>
            </a:defPPr>
          </a:lstStyle>
          <a:p xmlns:a="http://schemas.openxmlformats.org/drawingml/2006/main">
            <a:pPr>
              <a:defRPr sz="2100" b="0">
                <a:solidFill>
                  <a:srgbClr val="153A49"/>
                </a:solidFill>
                <a:latin typeface="Arial"/>
                <a:ea typeface="Arial"/>
                <a:cs typeface="Arial"/>
              </a:defRPr>
            </a:pPr>
            <a:r>
              <a:rPr sz="2100" b="0">
                <a:solidFill>
                  <a:srgbClr val="153A49"/>
                </a:solidFill>
                <a:latin typeface="Arial"/>
                <a:ea typeface="Arial"/>
                <a:cs typeface="Arial"/>
              </a:rPr>
              <a:t>Notebook và làm sạch</a:t>
            </a:r>
          </a:p>
          <a:p xmlns:a="http://schemas.openxmlformats.org/drawingml/2006/main">
            <a:pPr>
              <a:defRPr sz="2100" b="0">
                <a:solidFill>
                  <a:srgbClr val="153A49"/>
                </a:solidFill>
                <a:latin typeface="Arial"/>
                <a:ea typeface="Arial"/>
                <a:cs typeface="Arial"/>
              </a:defRPr>
            </a:pPr>
            <a:r>
              <a:rPr sz="2100" b="0">
                <a:solidFill>
                  <a:srgbClr val="153A49"/>
                </a:solidFill>
                <a:latin typeface="Arial"/>
                <a:ea typeface="Arial"/>
                <a:cs typeface="Arial"/>
              </a:rPr>
              <a:t>Câu 1, câu 3</a:t>
            </a:r>
          </a:p>
          <a:p xmlns:a="http://schemas.openxmlformats.org/drawingml/2006/main">
            <a:pPr>
              <a:defRPr sz="2100" b="0">
                <a:solidFill>
                  <a:srgbClr val="153A49"/>
                </a:solidFill>
                <a:latin typeface="Arial"/>
                <a:ea typeface="Arial"/>
                <a:cs typeface="Arial"/>
              </a:defRPr>
            </a:pPr>
            <a:r>
              <a:rPr sz="2100" b="0">
                <a:solidFill>
                  <a:srgbClr val="153A49"/>
                </a:solidFill>
                <a:latin typeface="Arial"/>
                <a:ea typeface="Arial"/>
                <a:cs typeface="Arial"/>
              </a:rPr>
              <a:t>Tổng hợp báo cáo</a:t>
            </a:r>
          </a:p>
        </p:txBody>
      </p:sp>
      <p:sp>
        <p:nvSpPr>
          <p:cNvPr id="5" name="">
            <a:extLst xmlns:a="http://schemas.openxmlformats.org/drawingml/2006/main">
              <a:ext uri="{FF2B5EF4-FFF2-40B4-BE49-F238E27FC236}">
                <a16:creationId xmlns:a16="http://schemas.microsoft.com/office/drawing/2014/main" id="{74D4B1AC-F00F-410D-887C-32A4A83643E1}"/>
              </a:ext>
            </a:extLst>
          </p:cNvPr>
          <p:cNvSpPr>
            <a:spLocks xmlns:a="http://schemas.openxmlformats.org/drawingml/2006/main" noGrp="1"/>
          </p:cNvSpPr>
          <p:nvPr/>
        </p:nvSpPr>
        <p:spPr>
          <a:xfrm xmlns:a="http://schemas.openxmlformats.org/drawingml/2006/main">
            <a:off x="6572250" y="2047875"/>
            <a:ext cx="4953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1">
                <a:solidFill>
                  <a:srgbClr val="153A49"/>
                </a:solidFill>
                <a:latin typeface="Arial"/>
                <a:ea typeface="Arial"/>
                <a:cs typeface="Arial"/>
              </a:defRPr>
            </a:defPPr>
          </a:lstStyle>
          <a:p xmlns:a="http://schemas.openxmlformats.org/drawingml/2006/main">
            <a:pPr>
              <a:defRPr sz="2475" b="1">
                <a:solidFill>
                  <a:srgbClr val="153A49"/>
                </a:solidFill>
                <a:latin typeface="Arial"/>
                <a:ea typeface="Arial"/>
                <a:cs typeface="Arial"/>
              </a:defRPr>
            </a:pPr>
            <a:r>
              <a:rPr sz="2475" b="1">
                <a:solidFill>
                  <a:srgbClr val="153A49"/>
                </a:solidFill>
                <a:latin typeface="Arial"/>
                <a:ea typeface="Arial"/>
                <a:cs typeface="Arial"/>
              </a:rPr>
              <a:t>Lê Nguyễn Gia Bảo</a:t>
            </a:r>
          </a:p>
          <a:p xmlns:a="http://schemas.openxmlformats.org/drawingml/2006/main">
            <a:pPr>
              <a:defRPr sz="2475" b="1">
                <a:solidFill>
                  <a:srgbClr val="153A49"/>
                </a:solidFill>
                <a:latin typeface="Arial"/>
                <a:ea typeface="Arial"/>
                <a:cs typeface="Arial"/>
              </a:defRPr>
            </a:pPr>
            <a:r>
              <a:rPr sz="2475" b="1">
                <a:solidFill>
                  <a:srgbClr val="153A49"/>
                </a:solidFill>
                <a:latin typeface="Arial"/>
                <a:ea typeface="Arial"/>
                <a:cs typeface="Arial"/>
              </a:rPr>
              <a:t>MSSV 240233</a:t>
            </a:r>
          </a:p>
        </p:txBody>
      </p:sp>
      <p:sp>
        <p:nvSpPr>
          <p:cNvPr id="6" name="">
            <a:extLst xmlns:a="http://schemas.openxmlformats.org/drawingml/2006/main">
              <a:ext uri="{FF2B5EF4-FFF2-40B4-BE49-F238E27FC236}">
                <a16:creationId xmlns:a16="http://schemas.microsoft.com/office/drawing/2014/main" id="{26143A7D-FAAB-4DF8-8A9E-1C46B7323EC2}"/>
              </a:ext>
            </a:extLst>
          </p:cNvPr>
          <p:cNvSpPr>
            <a:spLocks xmlns:a="http://schemas.openxmlformats.org/drawingml/2006/main" noGrp="1"/>
          </p:cNvSpPr>
          <p:nvPr/>
        </p:nvSpPr>
        <p:spPr>
          <a:xfrm xmlns:a="http://schemas.openxmlformats.org/drawingml/2006/main">
            <a:off x="6572250" y="3105150"/>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950" b="1">
                <a:solidFill>
                  <a:srgbClr val="087F86"/>
                </a:solidFill>
                <a:latin typeface="Arial"/>
                <a:ea typeface="Arial"/>
                <a:cs typeface="Arial"/>
              </a:defRPr>
            </a:defPPr>
          </a:lstStyle>
          <a:p xmlns:a="http://schemas.openxmlformats.org/drawingml/2006/main">
            <a:pPr>
              <a:defRPr sz="4950" b="1">
                <a:solidFill>
                  <a:srgbClr val="087F86"/>
                </a:solidFill>
                <a:latin typeface="Arial"/>
                <a:ea typeface="Arial"/>
                <a:cs typeface="Arial"/>
              </a:defRPr>
            </a:pPr>
            <a:r>
              <a:rPr sz="4950" b="1">
                <a:solidFill>
                  <a:srgbClr val="087F86"/>
                </a:solidFill>
                <a:latin typeface="Arial"/>
                <a:ea typeface="Arial"/>
                <a:cs typeface="Arial"/>
              </a:rPr>
              <a:t>40%</a:t>
            </a:r>
          </a:p>
        </p:txBody>
      </p:sp>
      <p:sp>
        <p:nvSpPr>
          <p:cNvPr id="7" name="">
            <a:extLst xmlns:a="http://schemas.openxmlformats.org/drawingml/2006/main">
              <a:ext uri="{FF2B5EF4-FFF2-40B4-BE49-F238E27FC236}">
                <a16:creationId xmlns:a16="http://schemas.microsoft.com/office/drawing/2014/main" id="{95E6BF3D-C586-4790-8597-95F650AF2CD9}"/>
              </a:ext>
            </a:extLst>
          </p:cNvPr>
          <p:cNvSpPr>
            <a:spLocks xmlns:a="http://schemas.openxmlformats.org/drawingml/2006/main" noGrp="1"/>
          </p:cNvSpPr>
          <p:nvPr/>
        </p:nvSpPr>
        <p:spPr>
          <a:xfrm xmlns:a="http://schemas.openxmlformats.org/drawingml/2006/main">
            <a:off x="6572250" y="4095750"/>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53A49"/>
                </a:solidFill>
                <a:latin typeface="Arial"/>
                <a:ea typeface="Arial"/>
                <a:cs typeface="Arial"/>
              </a:defRPr>
            </a:defPPr>
          </a:lstStyle>
          <a:p xmlns:a="http://schemas.openxmlformats.org/drawingml/2006/main">
            <a:pPr>
              <a:defRPr sz="2100" b="0">
                <a:solidFill>
                  <a:srgbClr val="153A49"/>
                </a:solidFill>
                <a:latin typeface="Arial"/>
                <a:ea typeface="Arial"/>
                <a:cs typeface="Arial"/>
              </a:defRPr>
            </a:pPr>
            <a:r>
              <a:rPr sz="2100" b="0">
                <a:solidFill>
                  <a:srgbClr val="153A49"/>
                </a:solidFill>
                <a:latin typeface="Arial"/>
                <a:ea typeface="Arial"/>
                <a:cs typeface="Arial"/>
              </a:rPr>
              <a:t>Đối chiếu nguồn và biểu đồ</a:t>
            </a:r>
          </a:p>
          <a:p xmlns:a="http://schemas.openxmlformats.org/drawingml/2006/main">
            <a:pPr>
              <a:defRPr sz="2100" b="0">
                <a:solidFill>
                  <a:srgbClr val="153A49"/>
                </a:solidFill>
                <a:latin typeface="Arial"/>
                <a:ea typeface="Arial"/>
                <a:cs typeface="Arial"/>
              </a:defRPr>
            </a:pPr>
            <a:r>
              <a:rPr sz="2100" b="0">
                <a:solidFill>
                  <a:srgbClr val="153A49"/>
                </a:solidFill>
                <a:latin typeface="Arial"/>
                <a:ea typeface="Arial"/>
                <a:cs typeface="Arial"/>
              </a:rPr>
              <a:t>Câu 2, kiểm tra mẫu số</a:t>
            </a:r>
          </a:p>
          <a:p xmlns:a="http://schemas.openxmlformats.org/drawingml/2006/main">
            <a:pPr>
              <a:defRPr sz="2100" b="0">
                <a:solidFill>
                  <a:srgbClr val="153A49"/>
                </a:solidFill>
                <a:latin typeface="Arial"/>
                <a:ea typeface="Arial"/>
                <a:cs typeface="Arial"/>
              </a:defRPr>
            </a:pPr>
            <a:r>
              <a:rPr sz="2100" b="0">
                <a:solidFill>
                  <a:srgbClr val="153A49"/>
                </a:solidFill>
                <a:latin typeface="Arial"/>
                <a:ea typeface="Arial"/>
                <a:cs typeface="Arial"/>
              </a:rPr>
              <a:t>Chuẩn bị hỏi đáp</a:t>
            </a:r>
          </a:p>
        </p:txBody>
      </p:sp>
      <p:sp>
        <p:nvSpPr>
          <p:cNvPr id="8" name="">
            <a:extLst xmlns:a="http://schemas.openxmlformats.org/drawingml/2006/main">
              <a:ext uri="{FF2B5EF4-FFF2-40B4-BE49-F238E27FC236}">
                <a16:creationId xmlns:a16="http://schemas.microsoft.com/office/drawing/2014/main" id="{48353557-B20D-44B3-86F3-BFFDC4A29B69}"/>
              </a:ext>
            </a:extLst>
          </p:cNvPr>
          <p:cNvSpPr>
            <a:spLocks xmlns:a="http://schemas.openxmlformats.org/drawingml/2006/main" noGrp="1"/>
          </p:cNvSpPr>
          <p:nvPr/>
        </p:nvSpPr>
        <p:spPr>
          <a:xfrm xmlns:a="http://schemas.openxmlformats.org/drawingml/2006/main">
            <a:off x="714375" y="5619750"/>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8717B"/>
                </a:solidFill>
                <a:latin typeface="Arial"/>
                <a:ea typeface="Arial"/>
                <a:cs typeface="Arial"/>
              </a:defRPr>
            </a:defPPr>
          </a:lstStyle>
          <a:p xmlns:a="http://schemas.openxmlformats.org/drawingml/2006/main">
            <a:pPr>
              <a:defRPr sz="1725" b="0">
                <a:solidFill>
                  <a:srgbClr val="58717B"/>
                </a:solidFill>
                <a:latin typeface="Arial"/>
                <a:ea typeface="Arial"/>
                <a:cs typeface="Arial"/>
              </a:defRPr>
            </a:pPr>
            <a:r>
              <a:rPr sz="1725" b="0">
                <a:solidFill>
                  <a:srgbClr val="58717B"/>
                </a:solidFill>
                <a:latin typeface="Arial"/>
                <a:ea typeface="Arial"/>
                <a:cs typeface="Arial"/>
              </a:rPr>
              <a:t>AI: OpenAI Codex hỗ trợ mã và soạn thảo. Python, Pandas, Matplotlib, Seaborn</a:t>
            </a:r>
          </a:p>
          <a:p xmlns:a="http://schemas.openxmlformats.org/drawingml/2006/main">
            <a:pPr>
              <a:defRPr sz="1725" b="0">
                <a:solidFill>
                  <a:srgbClr val="58717B"/>
                </a:solidFill>
                <a:latin typeface="Arial"/>
                <a:ea typeface="Arial"/>
                <a:cs typeface="Arial"/>
              </a:defRPr>
            </a:pPr>
            <a:r>
              <a:rPr sz="1725" b="0">
                <a:solidFill>
                  <a:srgbClr val="58717B"/>
                </a:solidFill>
                <a:latin typeface="Arial"/>
                <a:ea typeface="Arial"/>
                <a:cs typeface="Arial"/>
              </a:rPr>
              <a:t>Hai thành viên cần tự chạy lại notebook và giải thích được mọi dòng mã</a:t>
            </a:r>
          </a:p>
        </p:txBody>
      </p:sp>
      <p:sp>
        <p:nvSpPr>
          <p:cNvPr id="9" name="">
            <a:extLst xmlns:a="http://schemas.openxmlformats.org/drawingml/2006/main">
              <a:ext uri="{FF2B5EF4-FFF2-40B4-BE49-F238E27FC236}">
                <a16:creationId xmlns:a16="http://schemas.microsoft.com/office/drawing/2014/main" id="{6158DDD6-87CB-44C6-9AE6-385468A598B1}"/>
              </a:ext>
            </a:extLst>
          </p:cNvPr>
          <p:cNvSpPr>
            <a:spLocks xmlns:a="http://schemas.openxmlformats.org/drawingml/2006/main" noGrp="1"/>
          </p:cNvSpPr>
          <p:nvPr/>
        </p:nvSpPr>
        <p:spPr>
          <a:xfrm xmlns:a="http://schemas.openxmlformats.org/drawingml/2006/main">
            <a:off x="609600" y="64198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58717B"/>
                </a:solidFill>
                <a:latin typeface="Arial"/>
                <a:ea typeface="Arial"/>
                <a:cs typeface="Arial"/>
              </a:defRPr>
            </a:defPPr>
          </a:lstStyle>
          <a:p xmlns:a="http://schemas.openxmlformats.org/drawingml/2006/main">
            <a:pPr>
              <a:defRPr sz="1425" b="0">
                <a:solidFill>
                  <a:srgbClr val="58717B"/>
                </a:solidFill>
                <a:latin typeface="Arial"/>
                <a:ea typeface="Arial"/>
                <a:cs typeface="Arial"/>
              </a:defRPr>
            </a:pPr>
            <a:r>
              <a:rPr sz="1425" b="0">
                <a:solidFill>
                  <a:srgbClr val="58717B"/>
                </a:solidFill>
                <a:latin typeface="Arial"/>
                <a:ea typeface="Arial"/>
                <a:cs typeface="Arial"/>
              </a:rPr>
              <a:t>A2-02   Titanic Kaggle 891</a:t>
            </a:r>
          </a:p>
        </p:txBody>
      </p:sp>
      <p:sp>
        <p:nvSpPr>
          <p:cNvPr id="10" name="">
            <a:extLst xmlns:a="http://schemas.openxmlformats.org/drawingml/2006/main">
              <a:ext uri="{FF2B5EF4-FFF2-40B4-BE49-F238E27FC236}">
                <a16:creationId xmlns:a16="http://schemas.microsoft.com/office/drawing/2014/main" id="{7CD65514-8FBD-4C4D-AF62-3DD818D9A19B}"/>
              </a:ext>
            </a:extLst>
          </p:cNvPr>
          <p:cNvSpPr>
            <a:spLocks xmlns:a="http://schemas.openxmlformats.org/drawingml/2006/main" noGrp="1"/>
          </p:cNvSpPr>
          <p:nvPr/>
        </p:nvSpPr>
        <p:spPr>
          <a:xfrm xmlns:a="http://schemas.openxmlformats.org/drawingml/2006/main">
            <a:off x="11068050" y="6381750"/>
            <a:ext cx="514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087F86"/>
                </a:solidFill>
                <a:latin typeface="Arial"/>
                <a:ea typeface="Arial"/>
                <a:cs typeface="Arial"/>
              </a:defRPr>
            </a:defPPr>
          </a:lstStyle>
          <a:p xmlns:a="http://schemas.openxmlformats.org/drawingml/2006/main">
            <a:pPr>
              <a:defRPr sz="1650" b="1">
                <a:solidFill>
                  <a:srgbClr val="087F86"/>
                </a:solidFill>
                <a:latin typeface="Arial"/>
                <a:ea typeface="Arial"/>
                <a:cs typeface="Arial"/>
              </a:defRPr>
            </a:pPr>
            <a:r>
              <a:rPr sz="1650" b="1">
                <a:solidFill>
                  <a:srgbClr val="087F86"/>
                </a:solidFill>
                <a:latin typeface="Arial"/>
                <a:ea typeface="Arial"/>
                <a:cs typeface="Arial"/>
              </a:rPr>
              <a:t>09</a:t>
            </a:r>
          </a:p>
        </p:txBody>
      </p:sp>
    </p:spTree>
    <p:extLst>
      <p:ext uri="{BB962C8B-B14F-4D97-AF65-F5344CB8AC3E}">
        <p14:creationId xmlns:p14="http://schemas.microsoft.com/office/powerpoint/2010/main" val="1404809766"/>
      </p:ext>
    </p:extLst>
  </p:cSld>
</p:sld>
</file>

<file path=ppt/slides/slide10.xml><?xml version="1.0" encoding="utf-8"?>
<p:sld xmlns:p="http://schemas.openxmlformats.org/presentationml/2006/main">
  <p:cSld>
    <p:bg>
      <p:bgPr>
        <a:solidFill xmlns:a="http://schemas.openxmlformats.org/drawingml/2006/main">
          <a:srgbClr val="FAF8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31C45A8-747E-4E62-84F6-0DCB894E6F51}"/>
              </a:ext>
            </a:extLst>
          </p:cNvPr>
          <p:cNvSpPr>
            <a:spLocks xmlns:a="http://schemas.openxmlformats.org/drawingml/2006/main" noGrp="1"/>
          </p:cNvSpPr>
          <p:nvPr/>
        </p:nvSpPr>
        <p:spPr>
          <a:xfrm xmlns:a="http://schemas.openxmlformats.org/drawingml/2006/main">
            <a:off x="609600" y="428625"/>
            <a:ext cx="10858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53A49"/>
                </a:solidFill>
                <a:latin typeface="Arial"/>
                <a:ea typeface="Arial"/>
                <a:cs typeface="Arial"/>
              </a:defRPr>
            </a:defPPr>
          </a:lstStyle>
          <a:p xmlns:a="http://schemas.openxmlformats.org/drawingml/2006/main">
            <a:pPr>
              <a:defRPr sz="3300" b="1">
                <a:solidFill>
                  <a:srgbClr val="153A49"/>
                </a:solidFill>
                <a:latin typeface="Arial"/>
                <a:ea typeface="Arial"/>
                <a:cs typeface="Arial"/>
              </a:defRPr>
            </a:pPr>
            <a:r>
              <a:rPr sz="3300" b="1">
                <a:solidFill>
                  <a:srgbClr val="153A49"/>
                </a:solidFill>
                <a:latin typeface="Arial"/>
                <a:ea typeface="Arial"/>
                <a:cs typeface="Arial"/>
              </a:rPr>
              <a:t>Phụ lục: Tỷ lệ sống gộp giảm</a:t>
            </a:r>
          </a:p>
          <a:p xmlns:a="http://schemas.openxmlformats.org/drawingml/2006/main">
            <a:pPr>
              <a:defRPr sz="3300" b="1">
                <a:solidFill>
                  <a:srgbClr val="153A49"/>
                </a:solidFill>
                <a:latin typeface="Arial"/>
                <a:ea typeface="Arial"/>
                <a:cs typeface="Arial"/>
              </a:defRPr>
            </a:pPr>
            <a:r>
              <a:rPr sz="3300" b="1">
                <a:solidFill>
                  <a:srgbClr val="153A49"/>
                </a:solidFill>
                <a:latin typeface="Arial"/>
                <a:ea typeface="Arial"/>
                <a:cs typeface="Arial"/>
              </a:rPr>
              <a:t>từ hạng vé 1 xuống hạng 3</a:t>
            </a:r>
          </a:p>
        </p:txBody>
      </p:sp>
      <p:graphicFrame>
        <p:nvGraphicFramePr>
          <p:cNvPr id="2" name="Chart">
            <a:extLst xmlns:a="http://schemas.openxmlformats.org/drawingml/2006/main">
              <a:ext uri="{FF2B5EF4-FFF2-40B4-BE49-F238E27FC236}">
                <a16:creationId xmlns:a16="http://schemas.microsoft.com/office/drawing/2014/main" id="{4C6AAC95-94B3-49F2-94DC-675A30DF6F6F}"/>
              </a:ext>
            </a:extLst>
          </p:cNvPr>
          <p:cNvGraphicFramePr/>
          <p:nvPr/>
        </p:nvGraphicFramePr>
        <p:xfrm>
          <a:off xmlns:a="http://schemas.openxmlformats.org/drawingml/2006/main" x="666750" y="1971675"/>
          <a:ext xmlns:a="http://schemas.openxmlformats.org/drawingml/2006/main" cx="7334250" cy="3638550"/>
        </p:xfrm>
        <a:graphic xmlns:a="http://schemas.openxmlformats.org/drawingml/2006/main">
          <a:graphicData uri="http://schemas.openxmlformats.org/drawingml/2006/chart">
            <c:chart xmlns:r="http://schemas.openxmlformats.org/officeDocument/2006/relationships" xmlns:c="http://schemas.openxmlformats.org/drawingml/2006/chart" r:id="R762d2ff8eae94c2a"/>
          </a:graphicData>
        </a:graphic>
      </p:graphicFrame>
      <p:sp>
        <p:nvSpPr>
          <p:cNvPr id="3" name="">
            <a:extLst xmlns:a="http://schemas.openxmlformats.org/drawingml/2006/main">
              <a:ext uri="{FF2B5EF4-FFF2-40B4-BE49-F238E27FC236}">
                <a16:creationId xmlns:a16="http://schemas.microsoft.com/office/drawing/2014/main" id="{950492C8-99F1-47D5-A7F6-F67C1498E6B9}"/>
              </a:ext>
            </a:extLst>
          </p:cNvPr>
          <p:cNvSpPr>
            <a:spLocks xmlns:a="http://schemas.openxmlformats.org/drawingml/2006/main" noGrp="1"/>
          </p:cNvSpPr>
          <p:nvPr/>
        </p:nvSpPr>
        <p:spPr>
          <a:xfrm xmlns:a="http://schemas.openxmlformats.org/drawingml/2006/main">
            <a:off x="8382000" y="2524125"/>
            <a:ext cx="3143250"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087F86"/>
                </a:solidFill>
                <a:latin typeface="Arial"/>
                <a:ea typeface="Arial"/>
                <a:cs typeface="Arial"/>
              </a:defRPr>
            </a:defPPr>
          </a:lstStyle>
          <a:p xmlns:a="http://schemas.openxmlformats.org/drawingml/2006/main">
            <a:pPr>
              <a:defRPr sz="2250" b="1">
                <a:solidFill>
                  <a:srgbClr val="087F86"/>
                </a:solidFill>
                <a:latin typeface="Arial"/>
                <a:ea typeface="Arial"/>
                <a:cs typeface="Arial"/>
              </a:defRPr>
            </a:pPr>
            <a:r>
              <a:rPr sz="2250" b="1">
                <a:solidFill>
                  <a:srgbClr val="087F86"/>
                </a:solidFill>
                <a:latin typeface="Arial"/>
                <a:ea typeface="Arial"/>
                <a:cs typeface="Arial"/>
              </a:rPr>
              <a:t>136/216 = 63,0%</a:t>
            </a:r>
          </a:p>
          <a:p xmlns:a="http://schemas.openxmlformats.org/drawingml/2006/main">
            <a:pPr>
              <a:defRPr sz="2250" b="1">
                <a:solidFill>
                  <a:srgbClr val="087F86"/>
                </a:solidFill>
                <a:latin typeface="Arial"/>
                <a:ea typeface="Arial"/>
                <a:cs typeface="Arial"/>
              </a:defRPr>
            </a:pPr>
            <a:r>
              <a:rPr sz="2250" b="1">
                <a:solidFill>
                  <a:srgbClr val="087F86"/>
                </a:solidFill>
                <a:latin typeface="Arial"/>
                <a:ea typeface="Arial"/>
                <a:cs typeface="Arial"/>
              </a:rPr>
              <a:t>87/184 = 47,3%</a:t>
            </a:r>
          </a:p>
          <a:p xmlns:a="http://schemas.openxmlformats.org/drawingml/2006/main">
            <a:pPr>
              <a:defRPr sz="2250" b="1">
                <a:solidFill>
                  <a:srgbClr val="087F86"/>
                </a:solidFill>
                <a:latin typeface="Arial"/>
                <a:ea typeface="Arial"/>
                <a:cs typeface="Arial"/>
              </a:defRPr>
            </a:pPr>
            <a:r>
              <a:rPr sz="2250" b="1">
                <a:solidFill>
                  <a:srgbClr val="087F86"/>
                </a:solidFill>
                <a:latin typeface="Arial"/>
                <a:ea typeface="Arial"/>
                <a:cs typeface="Arial"/>
              </a:rPr>
              <a:t>119/491 = 24,2%</a:t>
            </a:r>
          </a:p>
        </p:txBody>
      </p:sp>
      <p:sp>
        <p:nvSpPr>
          <p:cNvPr id="4" name="">
            <a:extLst xmlns:a="http://schemas.openxmlformats.org/drawingml/2006/main">
              <a:ext uri="{FF2B5EF4-FFF2-40B4-BE49-F238E27FC236}">
                <a16:creationId xmlns:a16="http://schemas.microsoft.com/office/drawing/2014/main" id="{ED3B9AAA-A00C-405D-840A-E582873A722B}"/>
              </a:ext>
            </a:extLst>
          </p:cNvPr>
          <p:cNvSpPr>
            <a:spLocks xmlns:a="http://schemas.openxmlformats.org/drawingml/2006/main" noGrp="1"/>
          </p:cNvSpPr>
          <p:nvPr/>
        </p:nvSpPr>
        <p:spPr>
          <a:xfrm xmlns:a="http://schemas.openxmlformats.org/drawingml/2006/main">
            <a:off x="666750" y="585787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58717B"/>
                </a:solidFill>
                <a:latin typeface="Arial"/>
                <a:ea typeface="Arial"/>
                <a:cs typeface="Arial"/>
              </a:defRPr>
            </a:defPPr>
          </a:lstStyle>
          <a:p xmlns:a="http://schemas.openxmlformats.org/drawingml/2006/main">
            <a:pPr>
              <a:defRPr sz="1800" b="0">
                <a:solidFill>
                  <a:srgbClr val="58717B"/>
                </a:solidFill>
                <a:latin typeface="Arial"/>
                <a:ea typeface="Arial"/>
                <a:cs typeface="Arial"/>
              </a:defRPr>
            </a:pPr>
            <a:r>
              <a:rPr sz="1800" b="0">
                <a:solidFill>
                  <a:srgbClr val="58717B"/>
                </a:solidFill>
                <a:latin typeface="Arial"/>
                <a:ea typeface="Arial"/>
                <a:cs typeface="Arial"/>
              </a:rPr>
              <a:t>Khác biệt gộp là bằng chứng khởi đầu. Câu 3 cần so sánh trong từng giới</a:t>
            </a:r>
          </a:p>
        </p:txBody>
      </p:sp>
      <p:sp>
        <p:nvSpPr>
          <p:cNvPr id="5" name="">
            <a:extLst xmlns:a="http://schemas.openxmlformats.org/drawingml/2006/main">
              <a:ext uri="{FF2B5EF4-FFF2-40B4-BE49-F238E27FC236}">
                <a16:creationId xmlns:a16="http://schemas.microsoft.com/office/drawing/2014/main" id="{635D5191-A458-405C-BF01-3F8BA18DBDAF}"/>
              </a:ext>
            </a:extLst>
          </p:cNvPr>
          <p:cNvSpPr>
            <a:spLocks xmlns:a="http://schemas.openxmlformats.org/drawingml/2006/main" noGrp="1"/>
          </p:cNvSpPr>
          <p:nvPr/>
        </p:nvSpPr>
        <p:spPr>
          <a:xfrm xmlns:a="http://schemas.openxmlformats.org/drawingml/2006/main">
            <a:off x="609600" y="64198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58717B"/>
                </a:solidFill>
                <a:latin typeface="Arial"/>
                <a:ea typeface="Arial"/>
                <a:cs typeface="Arial"/>
              </a:defRPr>
            </a:defPPr>
          </a:lstStyle>
          <a:p xmlns:a="http://schemas.openxmlformats.org/drawingml/2006/main">
            <a:pPr>
              <a:defRPr sz="1425" b="0">
                <a:solidFill>
                  <a:srgbClr val="58717B"/>
                </a:solidFill>
                <a:latin typeface="Arial"/>
                <a:ea typeface="Arial"/>
                <a:cs typeface="Arial"/>
              </a:defRPr>
            </a:pPr>
            <a:r>
              <a:rPr sz="1425" b="0">
                <a:solidFill>
                  <a:srgbClr val="58717B"/>
                </a:solidFill>
                <a:latin typeface="Arial"/>
                <a:ea typeface="Arial"/>
                <a:cs typeface="Arial"/>
              </a:rPr>
              <a:t>Phụ lục hỏi đáp</a:t>
            </a:r>
          </a:p>
        </p:txBody>
      </p:sp>
      <p:sp>
        <p:nvSpPr>
          <p:cNvPr id="6" name="">
            <a:extLst xmlns:a="http://schemas.openxmlformats.org/drawingml/2006/main">
              <a:ext uri="{FF2B5EF4-FFF2-40B4-BE49-F238E27FC236}">
                <a16:creationId xmlns:a16="http://schemas.microsoft.com/office/drawing/2014/main" id="{1F3AC379-995E-489C-929C-9275D914826C}"/>
              </a:ext>
            </a:extLst>
          </p:cNvPr>
          <p:cNvSpPr>
            <a:spLocks xmlns:a="http://schemas.openxmlformats.org/drawingml/2006/main" noGrp="1"/>
          </p:cNvSpPr>
          <p:nvPr/>
        </p:nvSpPr>
        <p:spPr>
          <a:xfrm xmlns:a="http://schemas.openxmlformats.org/drawingml/2006/main">
            <a:off x="11068050" y="6381750"/>
            <a:ext cx="514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087F86"/>
                </a:solidFill>
                <a:latin typeface="Arial"/>
                <a:ea typeface="Arial"/>
                <a:cs typeface="Arial"/>
              </a:defRPr>
            </a:defPPr>
          </a:lstStyle>
          <a:p xmlns:a="http://schemas.openxmlformats.org/drawingml/2006/main">
            <a:pPr>
              <a:defRPr sz="1650" b="1">
                <a:solidFill>
                  <a:srgbClr val="087F86"/>
                </a:solidFill>
                <a:latin typeface="Arial"/>
                <a:ea typeface="Arial"/>
                <a:cs typeface="Arial"/>
              </a:defRPr>
            </a:pPr>
            <a:r>
              <a:rPr sz="1650" b="1">
                <a:solidFill>
                  <a:srgbClr val="087F86"/>
                </a:solidFill>
                <a:latin typeface="Arial"/>
                <a:ea typeface="Arial"/>
                <a:cs typeface="Arial"/>
              </a:rPr>
              <a:t>10</a:t>
            </a:r>
          </a:p>
        </p:txBody>
      </p:sp>
    </p:spTree>
    <p:extLst>
      <p:ext uri="{BB962C8B-B14F-4D97-AF65-F5344CB8AC3E}">
        <p14:creationId xmlns:p14="http://schemas.microsoft.com/office/powerpoint/2010/main" val="901327129"/>
      </p:ext>
    </p:extLst>
  </p:cSld>
</p:sld>
</file>

<file path=ppt/slides/slide11.xml><?xml version="1.0" encoding="utf-8"?>
<p:sld xmlns:p="http://schemas.openxmlformats.org/presentationml/2006/main">
  <p:cSld>
    <p:bg>
      <p:bgPr>
        <a:solidFill xmlns:a="http://schemas.openxmlformats.org/drawingml/2006/main">
          <a:srgbClr val="FAF8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E2EAC8B-A07C-4E8C-A6AB-E16CE0CE5493}"/>
              </a:ext>
            </a:extLst>
          </p:cNvPr>
          <p:cNvSpPr>
            <a:spLocks xmlns:a="http://schemas.openxmlformats.org/drawingml/2006/main" noGrp="1"/>
          </p:cNvSpPr>
          <p:nvPr/>
        </p:nvSpPr>
        <p:spPr>
          <a:xfrm xmlns:a="http://schemas.openxmlformats.org/drawingml/2006/main">
            <a:off x="609600" y="428625"/>
            <a:ext cx="10858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53A49"/>
                </a:solidFill>
                <a:latin typeface="Arial"/>
                <a:ea typeface="Arial"/>
                <a:cs typeface="Arial"/>
              </a:defRPr>
            </a:defPPr>
          </a:lstStyle>
          <a:p xmlns:a="http://schemas.openxmlformats.org/drawingml/2006/main">
            <a:pPr>
              <a:defRPr sz="3300" b="1">
                <a:solidFill>
                  <a:srgbClr val="153A49"/>
                </a:solidFill>
                <a:latin typeface="Arial"/>
                <a:ea typeface="Arial"/>
                <a:cs typeface="Arial"/>
              </a:defRPr>
            </a:pPr>
            <a:r>
              <a:rPr sz="3300" b="1">
                <a:solidFill>
                  <a:srgbClr val="153A49"/>
                </a:solidFill>
                <a:latin typeface="Arial"/>
                <a:ea typeface="Arial"/>
                <a:cs typeface="Arial"/>
              </a:rPr>
              <a:t>Phụ lục: Ba chiến lược xử lý tuổi thiếu</a:t>
            </a:r>
          </a:p>
        </p:txBody>
      </p:sp>
      <p:graphicFrame>
        <p:nvGraphicFramePr>
          <p:cNvPr id="2" name="">
            <a:extLst xmlns:a="http://schemas.openxmlformats.org/drawingml/2006/main">
              <a:ext uri="{FF2B5EF4-FFF2-40B4-BE49-F238E27FC236}">
                <a16:creationId xmlns:a16="http://schemas.microsoft.com/office/drawing/2014/main" id="{D3F72C78-4544-4154-BA27-00EA2998C7F3}"/>
              </a:ext>
            </a:extLst>
          </p:cNvPr>
          <p:cNvGraphicFramePr/>
          <p:nvPr/>
        </p:nvGraphicFramePr>
        <p:xfrm>
          <a:off xmlns:a="http://schemas.openxmlformats.org/drawingml/2006/main" x="666750" y="1971675"/>
          <a:ext xmlns:a="http://schemas.openxmlformats.org/drawingml/2006/main" cx="10763250" cy="3257550"/>
        </p:xfrm>
        <a:graphic xmlns:a="http://schemas.openxmlformats.org/drawingml/2006/main">
          <a:graphicData uri="http://schemas.openxmlformats.org/drawingml/2006/table">
            <a:tbl>
              <a:tblPr/>
              <a:tblGrid>
                <a:gridCol w="2762250"/>
                <a:gridCol w="2667000"/>
                <a:gridCol w="2667000"/>
                <a:gridCol w="2667000"/>
              </a:tblGrid>
              <a:tr h="542925">
                <a:tc>
                  <a:txBody>
                    <a:bodyPr lIns="104775" tIns="104775" rIns="104775" bIns="104775"/>
                    <a:lstStyle/>
                    <a:p>
                      <a:r>
                        <a:rPr sz="1800" b="1">
                          <a:solidFill>
                            <a:srgbClr val="FFFFFF"/>
                          </a:solidFill>
                          <a:latin typeface="Arial"/>
                          <a:ea typeface="Arial"/>
                          <a:cs typeface="Arial"/>
                        </a:rPr>
                        <a:t>Chỉ tiêu</a:t>
                      </a:r>
                    </a:p>
                  </a:txBody>
                  <a:tcPr marL="91440" marR="91440" marT="45720" marB="45720" anchor="ctr">
                    <a:lnL w="6668">
                      <a:solidFill>
                        <a:srgbClr val="CBD7D5"/>
                      </a:solidFill>
                      <a:prstDash val="solid"/>
                    </a:lnL>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c>
                  <a:txBody>
                    <a:bodyPr lIns="104775" tIns="104775" rIns="104775" bIns="104775"/>
                    <a:lstStyle/>
                    <a:p>
                      <a:r>
                        <a:rPr sz="1800" b="1">
                          <a:solidFill>
                            <a:srgbClr val="FFFFFF"/>
                          </a:solidFill>
                          <a:latin typeface="Arial"/>
                          <a:ea typeface="Arial"/>
                          <a:cs typeface="Arial"/>
                        </a:rPr>
                        <a:t>A Tuổi quan sát</a:t>
                      </a:r>
                    </a:p>
                  </a:txBody>
                  <a:tcPr marL="91440" marR="91440" marT="45720" marB="45720" anchor="ctr">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c>
                  <a:txBody>
                    <a:bodyPr lIns="104775" tIns="104775" rIns="104775" bIns="104775"/>
                    <a:lstStyle/>
                    <a:p>
                      <a:r>
                        <a:rPr sz="1800" b="1">
                          <a:solidFill>
                            <a:srgbClr val="FFFFFF"/>
                          </a:solidFill>
                          <a:latin typeface="Arial"/>
                          <a:ea typeface="Arial"/>
                          <a:cs typeface="Arial"/>
                        </a:rPr>
                        <a:t>B Trung vị chung</a:t>
                      </a:r>
                    </a:p>
                  </a:txBody>
                  <a:tcPr marL="91440" marR="91440" marT="45720" marB="45720" anchor="ctr">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c>
                  <a:txBody>
                    <a:bodyPr lIns="104775" tIns="104775" rIns="104775" bIns="104775"/>
                    <a:lstStyle/>
                    <a:p>
                      <a:r>
                        <a:rPr sz="1800" b="1">
                          <a:solidFill>
                            <a:srgbClr val="FFFFFF"/>
                          </a:solidFill>
                          <a:latin typeface="Arial"/>
                          <a:ea typeface="Arial"/>
                          <a:cs typeface="Arial"/>
                        </a:rPr>
                        <a:t>C Giới × hạng</a:t>
                      </a:r>
                    </a:p>
                  </a:txBody>
                  <a:tcPr marL="91440" marR="91440" marT="45720" marB="45720" anchor="ctr">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r>
              <a:tr h="542925">
                <a:tc>
                  <a:txBody>
                    <a:bodyPr lIns="104775" tIns="104775" rIns="104775" bIns="104775"/>
                    <a:lstStyle/>
                    <a:p>
                      <a:r>
                        <a:rPr sz="1800" b="0">
                          <a:solidFill>
                            <a:srgbClr val="153A49"/>
                          </a:solidFill>
                          <a:latin typeface="Arial"/>
                          <a:ea typeface="Arial"/>
                          <a:cs typeface="Arial"/>
                        </a:rPr>
                        <a:t>Số hồ sơ</a:t>
                      </a:r>
                    </a:p>
                  </a:txBody>
                  <a:tcPr marL="91440" marR="91440" marT="45720" marB="45720" anchor="ctr">
                    <a:lnL w="6668">
                      <a:solidFill>
                        <a:srgbClr val="CBD7D5"/>
                      </a:solidFill>
                      <a:prstDash val="solid"/>
                    </a:lnL>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800" b="0">
                          <a:solidFill>
                            <a:srgbClr val="153A49"/>
                          </a:solidFill>
                          <a:latin typeface="Arial"/>
                          <a:ea typeface="Arial"/>
                          <a:cs typeface="Arial"/>
                        </a:rPr>
                        <a:t>714</a:t>
                      </a:r>
                    </a:p>
                  </a:txBody>
                  <a:tcPr marL="91440" marR="91440" marT="45720" marB="45720" anchor="ctr">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800" b="0">
                          <a:solidFill>
                            <a:srgbClr val="153A49"/>
                          </a:solidFill>
                          <a:latin typeface="Arial"/>
                          <a:ea typeface="Arial"/>
                          <a:cs typeface="Arial"/>
                        </a:rPr>
                        <a:t>891</a:t>
                      </a:r>
                    </a:p>
                  </a:txBody>
                  <a:tcPr marL="91440" marR="91440" marT="45720" marB="45720" anchor="ctr">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800" b="0">
                          <a:solidFill>
                            <a:srgbClr val="153A49"/>
                          </a:solidFill>
                          <a:latin typeface="Arial"/>
                          <a:ea typeface="Arial"/>
                          <a:cs typeface="Arial"/>
                        </a:rPr>
                        <a:t>891</a:t>
                      </a:r>
                    </a:p>
                  </a:txBody>
                  <a:tcPr marL="91440" marR="91440" marT="45720" marB="45720" anchor="ctr">
                    <a:lnR w="6668">
                      <a:solidFill>
                        <a:srgbClr val="CBD7D5"/>
                      </a:solidFill>
                      <a:prstDash val="solid"/>
                    </a:lnR>
                    <a:lnB w="6668">
                      <a:solidFill>
                        <a:srgbClr val="CBD7D5"/>
                      </a:solidFill>
                      <a:prstDash val="solid"/>
                    </a:lnB>
                    <a:solidFill>
                      <a:srgbClr val="FAF8F2"/>
                    </a:solidFill>
                  </a:tcPr>
                </a:tc>
              </a:tr>
              <a:tr h="542925">
                <a:tc>
                  <a:txBody>
                    <a:bodyPr lIns="104775" tIns="104775" rIns="104775" bIns="104775"/>
                    <a:lstStyle/>
                    <a:p>
                      <a:r>
                        <a:rPr sz="1800" b="0">
                          <a:solidFill>
                            <a:srgbClr val="153A49"/>
                          </a:solidFill>
                          <a:latin typeface="Arial"/>
                          <a:ea typeface="Arial"/>
                          <a:cs typeface="Arial"/>
                        </a:rPr>
                        <a:t>Số tuổi điền</a:t>
                      </a:r>
                    </a:p>
                  </a:txBody>
                  <a:tcPr marL="91440" marR="91440" marT="45720" marB="45720" anchor="ctr">
                    <a:lnL w="6668">
                      <a:solidFill>
                        <a:srgbClr val="CBD7D5"/>
                      </a:solidFill>
                      <a:prstDash val="solid"/>
                    </a:lnL>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1800" b="0">
                          <a:solidFill>
                            <a:srgbClr val="153A49"/>
                          </a:solidFill>
                          <a:latin typeface="Arial"/>
                          <a:ea typeface="Arial"/>
                          <a:cs typeface="Arial"/>
                        </a:rPr>
                        <a:t>0</a:t>
                      </a:r>
                    </a:p>
                  </a:txBody>
                  <a:tcPr marL="91440" marR="91440" marT="45720" marB="45720" anchor="ctr">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1800" b="0">
                          <a:solidFill>
                            <a:srgbClr val="153A49"/>
                          </a:solidFill>
                          <a:latin typeface="Arial"/>
                          <a:ea typeface="Arial"/>
                          <a:cs typeface="Arial"/>
                        </a:rPr>
                        <a:t>177</a:t>
                      </a:r>
                    </a:p>
                  </a:txBody>
                  <a:tcPr marL="91440" marR="91440" marT="45720" marB="45720" anchor="ctr">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1800" b="0">
                          <a:solidFill>
                            <a:srgbClr val="153A49"/>
                          </a:solidFill>
                          <a:latin typeface="Arial"/>
                          <a:ea typeface="Arial"/>
                          <a:cs typeface="Arial"/>
                        </a:rPr>
                        <a:t>177</a:t>
                      </a:r>
                    </a:p>
                  </a:txBody>
                  <a:tcPr marL="91440" marR="91440" marT="45720" marB="45720" anchor="ctr">
                    <a:lnR w="6668">
                      <a:solidFill>
                        <a:srgbClr val="CBD7D5"/>
                      </a:solidFill>
                      <a:prstDash val="solid"/>
                    </a:lnR>
                    <a:lnB w="6668">
                      <a:solidFill>
                        <a:srgbClr val="CBD7D5"/>
                      </a:solidFill>
                      <a:prstDash val="solid"/>
                    </a:lnB>
                    <a:solidFill>
                      <a:srgbClr val="EEF3EF"/>
                    </a:solidFill>
                  </a:tcPr>
                </a:tc>
              </a:tr>
              <a:tr h="542925">
                <a:tc>
                  <a:txBody>
                    <a:bodyPr lIns="104775" tIns="104775" rIns="104775" bIns="104775"/>
                    <a:lstStyle/>
                    <a:p>
                      <a:r>
                        <a:rPr sz="1800" b="0">
                          <a:solidFill>
                            <a:srgbClr val="153A49"/>
                          </a:solidFill>
                          <a:latin typeface="Arial"/>
                          <a:ea typeface="Arial"/>
                          <a:cs typeface="Arial"/>
                        </a:rPr>
                        <a:t>Tuổi trung bình</a:t>
                      </a:r>
                    </a:p>
                  </a:txBody>
                  <a:tcPr marL="91440" marR="91440" marT="45720" marB="45720" anchor="ctr">
                    <a:lnL w="6668">
                      <a:solidFill>
                        <a:srgbClr val="CBD7D5"/>
                      </a:solidFill>
                      <a:prstDash val="solid"/>
                    </a:lnL>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800" b="0">
                          <a:solidFill>
                            <a:srgbClr val="153A49"/>
                          </a:solidFill>
                          <a:latin typeface="Arial"/>
                          <a:ea typeface="Arial"/>
                          <a:cs typeface="Arial"/>
                        </a:rPr>
                        <a:t>29,70</a:t>
                      </a:r>
                    </a:p>
                  </a:txBody>
                  <a:tcPr marL="91440" marR="91440" marT="45720" marB="45720" anchor="ctr">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800" b="0">
                          <a:solidFill>
                            <a:srgbClr val="153A49"/>
                          </a:solidFill>
                          <a:latin typeface="Arial"/>
                          <a:ea typeface="Arial"/>
                          <a:cs typeface="Arial"/>
                        </a:rPr>
                        <a:t>29,36</a:t>
                      </a:r>
                    </a:p>
                  </a:txBody>
                  <a:tcPr marL="91440" marR="91440" marT="45720" marB="45720" anchor="ctr">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800" b="0">
                          <a:solidFill>
                            <a:srgbClr val="153A49"/>
                          </a:solidFill>
                          <a:latin typeface="Arial"/>
                          <a:ea typeface="Arial"/>
                          <a:cs typeface="Arial"/>
                        </a:rPr>
                        <a:t>29,11</a:t>
                      </a:r>
                    </a:p>
                  </a:txBody>
                  <a:tcPr marL="91440" marR="91440" marT="45720" marB="45720" anchor="ctr">
                    <a:lnR w="6668">
                      <a:solidFill>
                        <a:srgbClr val="CBD7D5"/>
                      </a:solidFill>
                      <a:prstDash val="solid"/>
                    </a:lnR>
                    <a:lnB w="6668">
                      <a:solidFill>
                        <a:srgbClr val="CBD7D5"/>
                      </a:solidFill>
                      <a:prstDash val="solid"/>
                    </a:lnB>
                    <a:solidFill>
                      <a:srgbClr val="FAF8F2"/>
                    </a:solidFill>
                  </a:tcPr>
                </a:tc>
              </a:tr>
              <a:tr h="542925">
                <a:tc>
                  <a:txBody>
                    <a:bodyPr lIns="104775" tIns="104775" rIns="104775" bIns="104775"/>
                    <a:lstStyle/>
                    <a:p>
                      <a:r>
                        <a:rPr sz="1800" b="0">
                          <a:solidFill>
                            <a:srgbClr val="153A49"/>
                          </a:solidFill>
                          <a:latin typeface="Arial"/>
                          <a:ea typeface="Arial"/>
                          <a:cs typeface="Arial"/>
                        </a:rPr>
                        <a:t>Độ lệch chuẩn</a:t>
                      </a:r>
                    </a:p>
                  </a:txBody>
                  <a:tcPr marL="91440" marR="91440" marT="45720" marB="45720" anchor="ctr">
                    <a:lnL w="6668">
                      <a:solidFill>
                        <a:srgbClr val="CBD7D5"/>
                      </a:solidFill>
                      <a:prstDash val="solid"/>
                    </a:lnL>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1800" b="0">
                          <a:solidFill>
                            <a:srgbClr val="153A49"/>
                          </a:solidFill>
                          <a:latin typeface="Arial"/>
                          <a:ea typeface="Arial"/>
                          <a:cs typeface="Arial"/>
                        </a:rPr>
                        <a:t>14,53</a:t>
                      </a:r>
                    </a:p>
                  </a:txBody>
                  <a:tcPr marL="91440" marR="91440" marT="45720" marB="45720" anchor="ctr">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1800" b="0">
                          <a:solidFill>
                            <a:srgbClr val="153A49"/>
                          </a:solidFill>
                          <a:latin typeface="Arial"/>
                          <a:ea typeface="Arial"/>
                          <a:cs typeface="Arial"/>
                        </a:rPr>
                        <a:t>13,02</a:t>
                      </a:r>
                    </a:p>
                  </a:txBody>
                  <a:tcPr marL="91440" marR="91440" marT="45720" marB="45720" anchor="ctr">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1800" b="0">
                          <a:solidFill>
                            <a:srgbClr val="153A49"/>
                          </a:solidFill>
                          <a:latin typeface="Arial"/>
                          <a:ea typeface="Arial"/>
                          <a:cs typeface="Arial"/>
                        </a:rPr>
                        <a:t>13,30</a:t>
                      </a:r>
                    </a:p>
                  </a:txBody>
                  <a:tcPr marL="91440" marR="91440" marT="45720" marB="45720" anchor="ctr">
                    <a:lnR w="6668">
                      <a:solidFill>
                        <a:srgbClr val="CBD7D5"/>
                      </a:solidFill>
                      <a:prstDash val="solid"/>
                    </a:lnR>
                    <a:lnB w="6668">
                      <a:solidFill>
                        <a:srgbClr val="CBD7D5"/>
                      </a:solidFill>
                      <a:prstDash val="solid"/>
                    </a:lnB>
                    <a:solidFill>
                      <a:srgbClr val="EEF3EF"/>
                    </a:solidFill>
                  </a:tcPr>
                </a:tc>
              </a:tr>
              <a:tr h="542925">
                <a:tc>
                  <a:txBody>
                    <a:bodyPr lIns="104775" tIns="104775" rIns="104775" bIns="104775"/>
                    <a:lstStyle/>
                    <a:p>
                      <a:r>
                        <a:rPr sz="1800" b="0">
                          <a:solidFill>
                            <a:srgbClr val="153A49"/>
                          </a:solidFill>
                          <a:latin typeface="Arial"/>
                          <a:ea typeface="Arial"/>
                          <a:cs typeface="Arial"/>
                        </a:rPr>
                        <a:t>Tỷ lệ sống tuổi &gt;12</a:t>
                      </a:r>
                    </a:p>
                  </a:txBody>
                  <a:tcPr marL="91440" marR="91440" marT="45720" marB="45720" anchor="ctr">
                    <a:lnL w="6668">
                      <a:solidFill>
                        <a:srgbClr val="CBD7D5"/>
                      </a:solidFill>
                      <a:prstDash val="solid"/>
                    </a:lnL>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800" b="0">
                          <a:solidFill>
                            <a:srgbClr val="153A49"/>
                          </a:solidFill>
                          <a:latin typeface="Arial"/>
                          <a:ea typeface="Arial"/>
                          <a:cs typeface="Arial"/>
                        </a:rPr>
                        <a:t>38,8%</a:t>
                      </a:r>
                    </a:p>
                  </a:txBody>
                  <a:tcPr marL="91440" marR="91440" marT="45720" marB="45720" anchor="ctr">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800" b="0">
                          <a:solidFill>
                            <a:srgbClr val="153A49"/>
                          </a:solidFill>
                          <a:latin typeface="Arial"/>
                          <a:ea typeface="Arial"/>
                          <a:cs typeface="Arial"/>
                        </a:rPr>
                        <a:t>36,7%</a:t>
                      </a:r>
                    </a:p>
                  </a:txBody>
                  <a:tcPr marL="91440" marR="91440" marT="45720" marB="45720" anchor="ctr">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800" b="0">
                          <a:solidFill>
                            <a:srgbClr val="153A49"/>
                          </a:solidFill>
                          <a:latin typeface="Arial"/>
                          <a:ea typeface="Arial"/>
                          <a:cs typeface="Arial"/>
                        </a:rPr>
                        <a:t>36,7%</a:t>
                      </a:r>
                    </a:p>
                  </a:txBody>
                  <a:tcPr marL="91440" marR="91440" marT="45720" marB="45720" anchor="ctr">
                    <a:lnR w="6668">
                      <a:solidFill>
                        <a:srgbClr val="CBD7D5"/>
                      </a:solidFill>
                      <a:prstDash val="solid"/>
                    </a:lnR>
                    <a:lnB w="6668">
                      <a:solidFill>
                        <a:srgbClr val="CBD7D5"/>
                      </a:solidFill>
                      <a:prstDash val="solid"/>
                    </a:lnB>
                    <a:solidFill>
                      <a:srgbClr val="FAF8F2"/>
                    </a:solidFill>
                  </a:tcPr>
                </a:tc>
              </a:tr>
            </a:tbl>
          </a:graphicData>
        </a:graphic>
      </p:graphicFrame>
      <p:sp>
        <p:nvSpPr>
          <p:cNvPr id="3" name="">
            <a:extLst xmlns:a="http://schemas.openxmlformats.org/drawingml/2006/main">
              <a:ext uri="{FF2B5EF4-FFF2-40B4-BE49-F238E27FC236}">
                <a16:creationId xmlns:a16="http://schemas.microsoft.com/office/drawing/2014/main" id="{AC81A71E-12CD-454B-8D2E-E0A78B2FC80F}"/>
              </a:ext>
            </a:extLst>
          </p:cNvPr>
          <p:cNvSpPr>
            <a:spLocks xmlns:a="http://schemas.openxmlformats.org/drawingml/2006/main" noGrp="1"/>
          </p:cNvSpPr>
          <p:nvPr/>
        </p:nvSpPr>
        <p:spPr>
          <a:xfrm xmlns:a="http://schemas.openxmlformats.org/drawingml/2006/main">
            <a:off x="714375" y="548640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087F86"/>
                </a:solidFill>
                <a:latin typeface="Arial"/>
                <a:ea typeface="Arial"/>
                <a:cs typeface="Arial"/>
              </a:defRPr>
            </a:defPPr>
          </a:lstStyle>
          <a:p xmlns:a="http://schemas.openxmlformats.org/drawingml/2006/main">
            <a:pPr>
              <a:defRPr sz="2100" b="1">
                <a:solidFill>
                  <a:srgbClr val="087F86"/>
                </a:solidFill>
                <a:latin typeface="Arial"/>
                <a:ea typeface="Arial"/>
                <a:cs typeface="Arial"/>
              </a:defRPr>
            </a:pPr>
            <a:r>
              <a:rPr sz="2100" b="1">
                <a:solidFill>
                  <a:srgbClr val="087F86"/>
                </a:solidFill>
                <a:latin typeface="Arial"/>
                <a:ea typeface="Arial"/>
                <a:cs typeface="Arial"/>
              </a:rPr>
              <a:t>Chọn A cho phân tích chính. B và C dùng kiểm tra độ nhạy</a:t>
            </a:r>
          </a:p>
        </p:txBody>
      </p:sp>
      <p:sp>
        <p:nvSpPr>
          <p:cNvPr id="4" name="">
            <a:extLst xmlns:a="http://schemas.openxmlformats.org/drawingml/2006/main">
              <a:ext uri="{FF2B5EF4-FFF2-40B4-BE49-F238E27FC236}">
                <a16:creationId xmlns:a16="http://schemas.microsoft.com/office/drawing/2014/main" id="{9F637ACC-0E18-4F9F-828E-086D3525F542}"/>
              </a:ext>
            </a:extLst>
          </p:cNvPr>
          <p:cNvSpPr>
            <a:spLocks xmlns:a="http://schemas.openxmlformats.org/drawingml/2006/main" noGrp="1"/>
          </p:cNvSpPr>
          <p:nvPr/>
        </p:nvSpPr>
        <p:spPr>
          <a:xfrm xmlns:a="http://schemas.openxmlformats.org/drawingml/2006/main">
            <a:off x="714375" y="5981700"/>
            <a:ext cx="10668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8717B"/>
                </a:solidFill>
                <a:latin typeface="Arial"/>
                <a:ea typeface="Arial"/>
                <a:cs typeface="Arial"/>
              </a:defRPr>
            </a:defPPr>
          </a:lstStyle>
          <a:p xmlns:a="http://schemas.openxmlformats.org/drawingml/2006/main">
            <a:pPr>
              <a:defRPr sz="1725" b="0">
                <a:solidFill>
                  <a:srgbClr val="58717B"/>
                </a:solidFill>
                <a:latin typeface="Arial"/>
                <a:ea typeface="Arial"/>
                <a:cs typeface="Arial"/>
              </a:defRPr>
            </a:pPr>
            <a:r>
              <a:rPr sz="1725" b="0">
                <a:solidFill>
                  <a:srgbClr val="58717B"/>
                </a:solidFill>
                <a:latin typeface="Arial"/>
                <a:ea typeface="Arial"/>
                <a:cs typeface="Arial"/>
              </a:rPr>
              <a:t>Điền tuổi thay đổi mẫu số, giảm độ phân tán nhưng không khôi phục tuổi thật</a:t>
            </a:r>
          </a:p>
        </p:txBody>
      </p:sp>
      <p:sp>
        <p:nvSpPr>
          <p:cNvPr id="5" name="">
            <a:extLst xmlns:a="http://schemas.openxmlformats.org/drawingml/2006/main">
              <a:ext uri="{FF2B5EF4-FFF2-40B4-BE49-F238E27FC236}">
                <a16:creationId xmlns:a16="http://schemas.microsoft.com/office/drawing/2014/main" id="{11A0F577-188D-4FAE-87AF-780478D84179}"/>
              </a:ext>
            </a:extLst>
          </p:cNvPr>
          <p:cNvSpPr>
            <a:spLocks xmlns:a="http://schemas.openxmlformats.org/drawingml/2006/main" noGrp="1"/>
          </p:cNvSpPr>
          <p:nvPr/>
        </p:nvSpPr>
        <p:spPr>
          <a:xfrm xmlns:a="http://schemas.openxmlformats.org/drawingml/2006/main">
            <a:off x="609600" y="64198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58717B"/>
                </a:solidFill>
                <a:latin typeface="Arial"/>
                <a:ea typeface="Arial"/>
                <a:cs typeface="Arial"/>
              </a:defRPr>
            </a:defPPr>
          </a:lstStyle>
          <a:p xmlns:a="http://schemas.openxmlformats.org/drawingml/2006/main">
            <a:pPr>
              <a:defRPr sz="1425" b="0">
                <a:solidFill>
                  <a:srgbClr val="58717B"/>
                </a:solidFill>
                <a:latin typeface="Arial"/>
                <a:ea typeface="Arial"/>
                <a:cs typeface="Arial"/>
              </a:defRPr>
            </a:pPr>
            <a:r>
              <a:rPr sz="1425" b="0">
                <a:solidFill>
                  <a:srgbClr val="58717B"/>
                </a:solidFill>
                <a:latin typeface="Arial"/>
                <a:ea typeface="Arial"/>
                <a:cs typeface="Arial"/>
              </a:rPr>
              <a:t>Phụ lục hỏi đáp</a:t>
            </a:r>
          </a:p>
        </p:txBody>
      </p:sp>
      <p:sp>
        <p:nvSpPr>
          <p:cNvPr id="6" name="">
            <a:extLst xmlns:a="http://schemas.openxmlformats.org/drawingml/2006/main">
              <a:ext uri="{FF2B5EF4-FFF2-40B4-BE49-F238E27FC236}">
                <a16:creationId xmlns:a16="http://schemas.microsoft.com/office/drawing/2014/main" id="{8584530A-F90B-4062-A742-8512B681856C}"/>
              </a:ext>
            </a:extLst>
          </p:cNvPr>
          <p:cNvSpPr>
            <a:spLocks xmlns:a="http://schemas.openxmlformats.org/drawingml/2006/main" noGrp="1"/>
          </p:cNvSpPr>
          <p:nvPr/>
        </p:nvSpPr>
        <p:spPr>
          <a:xfrm xmlns:a="http://schemas.openxmlformats.org/drawingml/2006/main">
            <a:off x="11068050" y="6381750"/>
            <a:ext cx="514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087F86"/>
                </a:solidFill>
                <a:latin typeface="Arial"/>
                <a:ea typeface="Arial"/>
                <a:cs typeface="Arial"/>
              </a:defRPr>
            </a:defPPr>
          </a:lstStyle>
          <a:p xmlns:a="http://schemas.openxmlformats.org/drawingml/2006/main">
            <a:pPr>
              <a:defRPr sz="1650" b="1">
                <a:solidFill>
                  <a:srgbClr val="087F86"/>
                </a:solidFill>
                <a:latin typeface="Arial"/>
                <a:ea typeface="Arial"/>
                <a:cs typeface="Arial"/>
              </a:defRPr>
            </a:pPr>
            <a:r>
              <a:rPr sz="1650" b="1">
                <a:solidFill>
                  <a:srgbClr val="087F86"/>
                </a:solidFill>
                <a:latin typeface="Arial"/>
                <a:ea typeface="Arial"/>
                <a:cs typeface="Arial"/>
              </a:rPr>
              <a:t>11</a:t>
            </a:r>
          </a:p>
        </p:txBody>
      </p:sp>
    </p:spTree>
    <p:extLst>
      <p:ext uri="{BB962C8B-B14F-4D97-AF65-F5344CB8AC3E}">
        <p14:creationId xmlns:p14="http://schemas.microsoft.com/office/powerpoint/2010/main" val="1888322604"/>
      </p:ext>
    </p:extLst>
  </p:cSld>
</p:sld>
</file>

<file path=ppt/slides/slide12.xml><?xml version="1.0" encoding="utf-8"?>
<p:sld xmlns:p="http://schemas.openxmlformats.org/presentationml/2006/main">
  <p:cSld>
    <p:bg>
      <p:bgPr>
        <a:solidFill xmlns:a="http://schemas.openxmlformats.org/drawingml/2006/main">
          <a:srgbClr val="FAF8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C3AC341-2F1E-46B8-8A27-8F8851FE34C0}"/>
              </a:ext>
            </a:extLst>
          </p:cNvPr>
          <p:cNvSpPr>
            <a:spLocks xmlns:a="http://schemas.openxmlformats.org/drawingml/2006/main" noGrp="1"/>
          </p:cNvSpPr>
          <p:nvPr/>
        </p:nvSpPr>
        <p:spPr>
          <a:xfrm xmlns:a="http://schemas.openxmlformats.org/drawingml/2006/main">
            <a:off x="609600" y="428625"/>
            <a:ext cx="10858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53A49"/>
                </a:solidFill>
                <a:latin typeface="Arial"/>
                <a:ea typeface="Arial"/>
                <a:cs typeface="Arial"/>
              </a:defRPr>
            </a:defPPr>
          </a:lstStyle>
          <a:p xmlns:a="http://schemas.openxmlformats.org/drawingml/2006/main">
            <a:pPr>
              <a:defRPr sz="3300" b="1">
                <a:solidFill>
                  <a:srgbClr val="153A49"/>
                </a:solidFill>
                <a:latin typeface="Arial"/>
                <a:ea typeface="Arial"/>
                <a:cs typeface="Arial"/>
              </a:defRPr>
            </a:pPr>
            <a:r>
              <a:rPr sz="3300" b="1">
                <a:solidFill>
                  <a:srgbClr val="153A49"/>
                </a:solidFill>
                <a:latin typeface="Arial"/>
                <a:ea typeface="Arial"/>
                <a:cs typeface="Arial"/>
              </a:rPr>
              <a:t>Phụ lục: Vì sao nhóm 4 có tỷ lệ cao nhất?</a:t>
            </a:r>
          </a:p>
        </p:txBody>
      </p:sp>
      <p:graphicFrame>
        <p:nvGraphicFramePr>
          <p:cNvPr id="2" name="">
            <a:extLst xmlns:a="http://schemas.openxmlformats.org/drawingml/2006/main">
              <a:ext uri="{FF2B5EF4-FFF2-40B4-BE49-F238E27FC236}">
                <a16:creationId xmlns:a16="http://schemas.microsoft.com/office/drawing/2014/main" id="{032A1491-D50A-4CAF-9102-D1DE63F4EB41}"/>
              </a:ext>
            </a:extLst>
          </p:cNvPr>
          <p:cNvGraphicFramePr/>
          <p:nvPr/>
        </p:nvGraphicFramePr>
        <p:xfrm>
          <a:off xmlns:a="http://schemas.openxmlformats.org/drawingml/2006/main" x="666750" y="2009775"/>
          <a:ext xmlns:a="http://schemas.openxmlformats.org/drawingml/2006/main" cx="10763250" cy="3143250"/>
        </p:xfrm>
        <a:graphic xmlns:a="http://schemas.openxmlformats.org/drawingml/2006/main">
          <a:graphicData uri="http://schemas.openxmlformats.org/drawingml/2006/table">
            <a:tbl>
              <a:tblPr/>
              <a:tblGrid>
                <a:gridCol w="3048000"/>
                <a:gridCol w="2571750"/>
                <a:gridCol w="2571750"/>
                <a:gridCol w="2571750"/>
              </a:tblGrid>
              <a:tr h="628650">
                <a:tc>
                  <a:txBody>
                    <a:bodyPr lIns="104775" tIns="104775" rIns="104775" bIns="104775"/>
                    <a:lstStyle/>
                    <a:p>
                      <a:r>
                        <a:rPr sz="1875" b="1">
                          <a:solidFill>
                            <a:srgbClr val="FFFFFF"/>
                          </a:solidFill>
                          <a:latin typeface="Arial"/>
                          <a:ea typeface="Arial"/>
                          <a:cs typeface="Arial"/>
                        </a:rPr>
                        <a:t>Chỉ tiêu</a:t>
                      </a:r>
                    </a:p>
                  </a:txBody>
                  <a:tcPr marL="91440" marR="91440" marT="45720" marB="45720" anchor="ctr">
                    <a:lnL w="6668">
                      <a:solidFill>
                        <a:srgbClr val="CBD7D5"/>
                      </a:solidFill>
                      <a:prstDash val="solid"/>
                    </a:lnL>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c>
                  <a:txBody>
                    <a:bodyPr lIns="104775" tIns="104775" rIns="104775" bIns="104775"/>
                    <a:lstStyle/>
                    <a:p>
                      <a:r>
                        <a:rPr sz="1875" b="1">
                          <a:solidFill>
                            <a:srgbClr val="FFFFFF"/>
                          </a:solidFill>
                          <a:latin typeface="Arial"/>
                          <a:ea typeface="Arial"/>
                          <a:cs typeface="Arial"/>
                        </a:rPr>
                        <a:t>Đi một mình</a:t>
                      </a:r>
                    </a:p>
                  </a:txBody>
                  <a:tcPr marL="91440" marR="91440" marT="45720" marB="45720" anchor="ctr">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c>
                  <a:txBody>
                    <a:bodyPr lIns="104775" tIns="104775" rIns="104775" bIns="104775"/>
                    <a:lstStyle/>
                    <a:p>
                      <a:r>
                        <a:rPr sz="1875" b="1">
                          <a:solidFill>
                            <a:srgbClr val="FFFFFF"/>
                          </a:solidFill>
                          <a:latin typeface="Arial"/>
                          <a:ea typeface="Arial"/>
                          <a:cs typeface="Arial"/>
                        </a:rPr>
                        <a:t>Quy mô 4</a:t>
                      </a:r>
                    </a:p>
                  </a:txBody>
                  <a:tcPr marL="91440" marR="91440" marT="45720" marB="45720" anchor="ctr">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c>
                  <a:txBody>
                    <a:bodyPr lIns="104775" tIns="104775" rIns="104775" bIns="104775"/>
                    <a:lstStyle/>
                    <a:p>
                      <a:r>
                        <a:rPr sz="1875" b="1">
                          <a:solidFill>
                            <a:srgbClr val="FFFFFF"/>
                          </a:solidFill>
                          <a:latin typeface="Arial"/>
                          <a:ea typeface="Arial"/>
                          <a:cs typeface="Arial"/>
                        </a:rPr>
                        <a:t>Quy mô 5</a:t>
                      </a:r>
                    </a:p>
                  </a:txBody>
                  <a:tcPr marL="91440" marR="91440" marT="45720" marB="45720" anchor="ctr">
                    <a:lnR w="6668">
                      <a:solidFill>
                        <a:srgbClr val="CBD7D5"/>
                      </a:solidFill>
                      <a:prstDash val="solid"/>
                    </a:lnR>
                    <a:lnT w="6668">
                      <a:solidFill>
                        <a:srgbClr val="CBD7D5"/>
                      </a:solidFill>
                      <a:prstDash val="solid"/>
                    </a:lnT>
                    <a:lnB w="6668">
                      <a:solidFill>
                        <a:srgbClr val="CBD7D5"/>
                      </a:solidFill>
                      <a:prstDash val="solid"/>
                    </a:lnB>
                    <a:solidFill>
                      <a:srgbClr val="0B2638"/>
                    </a:solidFill>
                  </a:tcPr>
                </a:tc>
              </a:tr>
              <a:tr h="628650">
                <a:tc>
                  <a:txBody>
                    <a:bodyPr lIns="104775" tIns="104775" rIns="104775" bIns="104775"/>
                    <a:lstStyle/>
                    <a:p>
                      <a:r>
                        <a:rPr sz="1875" b="0">
                          <a:solidFill>
                            <a:srgbClr val="153A49"/>
                          </a:solidFill>
                          <a:latin typeface="Arial"/>
                          <a:ea typeface="Arial"/>
                          <a:cs typeface="Arial"/>
                        </a:rPr>
                        <a:t>Số sống / tổng</a:t>
                      </a:r>
                    </a:p>
                  </a:txBody>
                  <a:tcPr marL="91440" marR="91440" marT="45720" marB="45720" anchor="ctr">
                    <a:lnL w="6668">
                      <a:solidFill>
                        <a:srgbClr val="CBD7D5"/>
                      </a:solidFill>
                      <a:prstDash val="solid"/>
                    </a:lnL>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875" b="0">
                          <a:solidFill>
                            <a:srgbClr val="153A49"/>
                          </a:solidFill>
                          <a:latin typeface="Arial"/>
                          <a:ea typeface="Arial"/>
                          <a:cs typeface="Arial"/>
                        </a:rPr>
                        <a:t>163/537</a:t>
                      </a:r>
                    </a:p>
                  </a:txBody>
                  <a:tcPr marL="91440" marR="91440" marT="45720" marB="45720" anchor="ctr">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875" b="0">
                          <a:solidFill>
                            <a:srgbClr val="153A49"/>
                          </a:solidFill>
                          <a:latin typeface="Arial"/>
                          <a:ea typeface="Arial"/>
                          <a:cs typeface="Arial"/>
                        </a:rPr>
                        <a:t>21/29</a:t>
                      </a:r>
                    </a:p>
                  </a:txBody>
                  <a:tcPr marL="91440" marR="91440" marT="45720" marB="45720" anchor="ctr">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875" b="0">
                          <a:solidFill>
                            <a:srgbClr val="153A49"/>
                          </a:solidFill>
                          <a:latin typeface="Arial"/>
                          <a:ea typeface="Arial"/>
                          <a:cs typeface="Arial"/>
                        </a:rPr>
                        <a:t>3/15</a:t>
                      </a:r>
                    </a:p>
                  </a:txBody>
                  <a:tcPr marL="91440" marR="91440" marT="45720" marB="45720" anchor="ctr">
                    <a:lnR w="6668">
                      <a:solidFill>
                        <a:srgbClr val="CBD7D5"/>
                      </a:solidFill>
                      <a:prstDash val="solid"/>
                    </a:lnR>
                    <a:lnB w="6668">
                      <a:solidFill>
                        <a:srgbClr val="CBD7D5"/>
                      </a:solidFill>
                      <a:prstDash val="solid"/>
                    </a:lnB>
                    <a:solidFill>
                      <a:srgbClr val="FAF8F2"/>
                    </a:solidFill>
                  </a:tcPr>
                </a:tc>
              </a:tr>
              <a:tr h="628650">
                <a:tc>
                  <a:txBody>
                    <a:bodyPr lIns="104775" tIns="104775" rIns="104775" bIns="104775"/>
                    <a:lstStyle/>
                    <a:p>
                      <a:r>
                        <a:rPr sz="1875" b="0">
                          <a:solidFill>
                            <a:srgbClr val="153A49"/>
                          </a:solidFill>
                          <a:latin typeface="Arial"/>
                          <a:ea typeface="Arial"/>
                          <a:cs typeface="Arial"/>
                        </a:rPr>
                        <a:t>Tỷ lệ sống</a:t>
                      </a:r>
                    </a:p>
                  </a:txBody>
                  <a:tcPr marL="91440" marR="91440" marT="45720" marB="45720" anchor="ctr">
                    <a:lnL w="6668">
                      <a:solidFill>
                        <a:srgbClr val="CBD7D5"/>
                      </a:solidFill>
                      <a:prstDash val="solid"/>
                    </a:lnL>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1875" b="0">
                          <a:solidFill>
                            <a:srgbClr val="153A49"/>
                          </a:solidFill>
                          <a:latin typeface="Arial"/>
                          <a:ea typeface="Arial"/>
                          <a:cs typeface="Arial"/>
                        </a:rPr>
                        <a:t>30,4%</a:t>
                      </a:r>
                    </a:p>
                  </a:txBody>
                  <a:tcPr marL="91440" marR="91440" marT="45720" marB="45720" anchor="ctr">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1875" b="0">
                          <a:solidFill>
                            <a:srgbClr val="153A49"/>
                          </a:solidFill>
                          <a:latin typeface="Arial"/>
                          <a:ea typeface="Arial"/>
                          <a:cs typeface="Arial"/>
                        </a:rPr>
                        <a:t>72,4%</a:t>
                      </a:r>
                    </a:p>
                  </a:txBody>
                  <a:tcPr marL="91440" marR="91440" marT="45720" marB="45720" anchor="ctr">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1875" b="0">
                          <a:solidFill>
                            <a:srgbClr val="153A49"/>
                          </a:solidFill>
                          <a:latin typeface="Arial"/>
                          <a:ea typeface="Arial"/>
                          <a:cs typeface="Arial"/>
                        </a:rPr>
                        <a:t>20,0%</a:t>
                      </a:r>
                    </a:p>
                  </a:txBody>
                  <a:tcPr marL="91440" marR="91440" marT="45720" marB="45720" anchor="ctr">
                    <a:lnR w="6668">
                      <a:solidFill>
                        <a:srgbClr val="CBD7D5"/>
                      </a:solidFill>
                      <a:prstDash val="solid"/>
                    </a:lnR>
                    <a:lnB w="6668">
                      <a:solidFill>
                        <a:srgbClr val="CBD7D5"/>
                      </a:solidFill>
                      <a:prstDash val="solid"/>
                    </a:lnB>
                    <a:solidFill>
                      <a:srgbClr val="EEF3EF"/>
                    </a:solidFill>
                  </a:tcPr>
                </a:tc>
              </a:tr>
              <a:tr h="628650">
                <a:tc>
                  <a:txBody>
                    <a:bodyPr lIns="104775" tIns="104775" rIns="104775" bIns="104775"/>
                    <a:lstStyle/>
                    <a:p>
                      <a:r>
                        <a:rPr sz="1875" b="0">
                          <a:solidFill>
                            <a:srgbClr val="153A49"/>
                          </a:solidFill>
                          <a:latin typeface="Arial"/>
                          <a:ea typeface="Arial"/>
                          <a:cs typeface="Arial"/>
                        </a:rPr>
                        <a:t>Tỷ trọng nữ</a:t>
                      </a:r>
                    </a:p>
                  </a:txBody>
                  <a:tcPr marL="91440" marR="91440" marT="45720" marB="45720" anchor="ctr">
                    <a:lnL w="6668">
                      <a:solidFill>
                        <a:srgbClr val="CBD7D5"/>
                      </a:solidFill>
                      <a:prstDash val="solid"/>
                    </a:lnL>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875" b="0">
                          <a:solidFill>
                            <a:srgbClr val="153A49"/>
                          </a:solidFill>
                          <a:latin typeface="Arial"/>
                          <a:ea typeface="Arial"/>
                          <a:cs typeface="Arial"/>
                        </a:rPr>
                        <a:t>23,5%</a:t>
                      </a:r>
                    </a:p>
                  </a:txBody>
                  <a:tcPr marL="91440" marR="91440" marT="45720" marB="45720" anchor="ctr">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875" b="0">
                          <a:solidFill>
                            <a:srgbClr val="153A49"/>
                          </a:solidFill>
                          <a:latin typeface="Arial"/>
                          <a:ea typeface="Arial"/>
                          <a:cs typeface="Arial"/>
                        </a:rPr>
                        <a:t>65,5%</a:t>
                      </a:r>
                    </a:p>
                  </a:txBody>
                  <a:tcPr marL="91440" marR="91440" marT="45720" marB="45720" anchor="ctr">
                    <a:lnR w="6668">
                      <a:solidFill>
                        <a:srgbClr val="CBD7D5"/>
                      </a:solidFill>
                      <a:prstDash val="solid"/>
                    </a:lnR>
                    <a:lnB w="6668">
                      <a:solidFill>
                        <a:srgbClr val="CBD7D5"/>
                      </a:solidFill>
                      <a:prstDash val="solid"/>
                    </a:lnB>
                    <a:solidFill>
                      <a:srgbClr val="FAF8F2"/>
                    </a:solidFill>
                  </a:tcPr>
                </a:tc>
                <a:tc>
                  <a:txBody>
                    <a:bodyPr lIns="104775" tIns="104775" rIns="104775" bIns="104775"/>
                    <a:lstStyle/>
                    <a:p>
                      <a:r>
                        <a:rPr sz="1875" b="0">
                          <a:solidFill>
                            <a:srgbClr val="153A49"/>
                          </a:solidFill>
                          <a:latin typeface="Arial"/>
                          <a:ea typeface="Arial"/>
                          <a:cs typeface="Arial"/>
                        </a:rPr>
                        <a:t>80,0%</a:t>
                      </a:r>
                    </a:p>
                  </a:txBody>
                  <a:tcPr marL="91440" marR="91440" marT="45720" marB="45720" anchor="ctr">
                    <a:lnR w="6668">
                      <a:solidFill>
                        <a:srgbClr val="CBD7D5"/>
                      </a:solidFill>
                      <a:prstDash val="solid"/>
                    </a:lnR>
                    <a:lnB w="6668">
                      <a:solidFill>
                        <a:srgbClr val="CBD7D5"/>
                      </a:solidFill>
                      <a:prstDash val="solid"/>
                    </a:lnB>
                    <a:solidFill>
                      <a:srgbClr val="FAF8F2"/>
                    </a:solidFill>
                  </a:tcPr>
                </a:tc>
              </a:tr>
              <a:tr h="628650">
                <a:tc>
                  <a:txBody>
                    <a:bodyPr lIns="104775" tIns="104775" rIns="104775" bIns="104775"/>
                    <a:lstStyle/>
                    <a:p>
                      <a:r>
                        <a:rPr sz="1875" b="0">
                          <a:solidFill>
                            <a:srgbClr val="153A49"/>
                          </a:solidFill>
                          <a:latin typeface="Arial"/>
                          <a:ea typeface="Arial"/>
                          <a:cs typeface="Arial"/>
                        </a:rPr>
                        <a:t>Tỷ trọng hạng 3</a:t>
                      </a:r>
                    </a:p>
                  </a:txBody>
                  <a:tcPr marL="91440" marR="91440" marT="45720" marB="45720" anchor="ctr">
                    <a:lnL w="6668">
                      <a:solidFill>
                        <a:srgbClr val="CBD7D5"/>
                      </a:solidFill>
                      <a:prstDash val="solid"/>
                    </a:lnL>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1875" b="0">
                          <a:solidFill>
                            <a:srgbClr val="153A49"/>
                          </a:solidFill>
                          <a:latin typeface="Arial"/>
                          <a:ea typeface="Arial"/>
                          <a:cs typeface="Arial"/>
                        </a:rPr>
                        <a:t>60,3%</a:t>
                      </a:r>
                    </a:p>
                  </a:txBody>
                  <a:tcPr marL="91440" marR="91440" marT="45720" marB="45720" anchor="ctr">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1875" b="0">
                          <a:solidFill>
                            <a:srgbClr val="153A49"/>
                          </a:solidFill>
                          <a:latin typeface="Arial"/>
                          <a:ea typeface="Arial"/>
                          <a:cs typeface="Arial"/>
                        </a:rPr>
                        <a:t>31,0%</a:t>
                      </a:r>
                    </a:p>
                  </a:txBody>
                  <a:tcPr marL="91440" marR="91440" marT="45720" marB="45720" anchor="ctr">
                    <a:lnR w="6668">
                      <a:solidFill>
                        <a:srgbClr val="CBD7D5"/>
                      </a:solidFill>
                      <a:prstDash val="solid"/>
                    </a:lnR>
                    <a:lnB w="6668">
                      <a:solidFill>
                        <a:srgbClr val="CBD7D5"/>
                      </a:solidFill>
                      <a:prstDash val="solid"/>
                    </a:lnB>
                    <a:solidFill>
                      <a:srgbClr val="EEF3EF"/>
                    </a:solidFill>
                  </a:tcPr>
                </a:tc>
                <a:tc>
                  <a:txBody>
                    <a:bodyPr lIns="104775" tIns="104775" rIns="104775" bIns="104775"/>
                    <a:lstStyle/>
                    <a:p>
                      <a:r>
                        <a:rPr sz="1875" b="0">
                          <a:solidFill>
                            <a:srgbClr val="153A49"/>
                          </a:solidFill>
                          <a:latin typeface="Arial"/>
                          <a:ea typeface="Arial"/>
                          <a:cs typeface="Arial"/>
                        </a:rPr>
                        <a:t>80,0%</a:t>
                      </a:r>
                    </a:p>
                  </a:txBody>
                  <a:tcPr marL="91440" marR="91440" marT="45720" marB="45720" anchor="ctr">
                    <a:lnR w="6668">
                      <a:solidFill>
                        <a:srgbClr val="CBD7D5"/>
                      </a:solidFill>
                      <a:prstDash val="solid"/>
                    </a:lnR>
                    <a:lnB w="6668">
                      <a:solidFill>
                        <a:srgbClr val="CBD7D5"/>
                      </a:solidFill>
                      <a:prstDash val="solid"/>
                    </a:lnB>
                    <a:solidFill>
                      <a:srgbClr val="EEF3EF"/>
                    </a:solidFill>
                  </a:tcPr>
                </a:tc>
              </a:tr>
            </a:tbl>
          </a:graphicData>
        </a:graphic>
      </p:graphicFrame>
      <p:sp>
        <p:nvSpPr>
          <p:cNvPr id="3" name="">
            <a:extLst xmlns:a="http://schemas.openxmlformats.org/drawingml/2006/main">
              <a:ext uri="{FF2B5EF4-FFF2-40B4-BE49-F238E27FC236}">
                <a16:creationId xmlns:a16="http://schemas.microsoft.com/office/drawing/2014/main" id="{845F2DFA-3CEB-483D-9381-86CED70E704A}"/>
              </a:ext>
            </a:extLst>
          </p:cNvPr>
          <p:cNvSpPr>
            <a:spLocks xmlns:a="http://schemas.openxmlformats.org/drawingml/2006/main" noGrp="1"/>
          </p:cNvSpPr>
          <p:nvPr/>
        </p:nvSpPr>
        <p:spPr>
          <a:xfrm xmlns:a="http://schemas.openxmlformats.org/drawingml/2006/main">
            <a:off x="714375" y="5410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1">
                <a:solidFill>
                  <a:srgbClr val="087F86"/>
                </a:solidFill>
                <a:latin typeface="Arial"/>
                <a:ea typeface="Arial"/>
                <a:cs typeface="Arial"/>
              </a:defRPr>
            </a:defPPr>
          </a:lstStyle>
          <a:p xmlns:a="http://schemas.openxmlformats.org/drawingml/2006/main">
            <a:pPr>
              <a:defRPr sz="1950" b="1">
                <a:solidFill>
                  <a:srgbClr val="087F86"/>
                </a:solidFill>
                <a:latin typeface="Arial"/>
                <a:ea typeface="Arial"/>
                <a:cs typeface="Arial"/>
              </a:defRPr>
            </a:pPr>
            <a:r>
              <a:rPr sz="1950" b="1">
                <a:solidFill>
                  <a:srgbClr val="087F86"/>
                </a:solidFill>
                <a:latin typeface="Arial"/>
                <a:ea typeface="Arial"/>
                <a:cs typeface="Arial"/>
              </a:rPr>
              <a:t>Nhóm 4 nhiều nữ hơn nhóm đơn và ít hạng 3 hơn nhóm 5.</a:t>
            </a:r>
          </a:p>
          <a:p xmlns:a="http://schemas.openxmlformats.org/drawingml/2006/main">
            <a:pPr>
              <a:defRPr sz="1950" b="1">
                <a:solidFill>
                  <a:srgbClr val="087F86"/>
                </a:solidFill>
                <a:latin typeface="Arial"/>
                <a:ea typeface="Arial"/>
                <a:cs typeface="Arial"/>
              </a:defRPr>
            </a:pPr>
            <a:r>
              <a:rPr sz="1950" b="1">
                <a:solidFill>
                  <a:srgbClr val="087F86"/>
                </a:solidFill>
                <a:latin typeface="Arial"/>
                <a:ea typeface="Arial"/>
                <a:cs typeface="Arial"/>
              </a:rPr>
              <a:t>Đây là khác biệt thành phần, chưa giải thích toàn bộ chênh lệch</a:t>
            </a:r>
          </a:p>
        </p:txBody>
      </p:sp>
      <p:sp>
        <p:nvSpPr>
          <p:cNvPr id="4" name="">
            <a:extLst xmlns:a="http://schemas.openxmlformats.org/drawingml/2006/main">
              <a:ext uri="{FF2B5EF4-FFF2-40B4-BE49-F238E27FC236}">
                <a16:creationId xmlns:a16="http://schemas.microsoft.com/office/drawing/2014/main" id="{80C14CD1-2A56-41E2-81F1-D618F57C39BA}"/>
              </a:ext>
            </a:extLst>
          </p:cNvPr>
          <p:cNvSpPr>
            <a:spLocks xmlns:a="http://schemas.openxmlformats.org/drawingml/2006/main" noGrp="1"/>
          </p:cNvSpPr>
          <p:nvPr/>
        </p:nvSpPr>
        <p:spPr>
          <a:xfrm xmlns:a="http://schemas.openxmlformats.org/drawingml/2006/main">
            <a:off x="609600" y="64198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58717B"/>
                </a:solidFill>
                <a:latin typeface="Arial"/>
                <a:ea typeface="Arial"/>
                <a:cs typeface="Arial"/>
              </a:defRPr>
            </a:defPPr>
          </a:lstStyle>
          <a:p xmlns:a="http://schemas.openxmlformats.org/drawingml/2006/main">
            <a:pPr>
              <a:defRPr sz="1425" b="0">
                <a:solidFill>
                  <a:srgbClr val="58717B"/>
                </a:solidFill>
                <a:latin typeface="Arial"/>
                <a:ea typeface="Arial"/>
                <a:cs typeface="Arial"/>
              </a:defRPr>
            </a:pPr>
            <a:r>
              <a:rPr sz="1425" b="0">
                <a:solidFill>
                  <a:srgbClr val="58717B"/>
                </a:solidFill>
                <a:latin typeface="Arial"/>
                <a:ea typeface="Arial"/>
                <a:cs typeface="Arial"/>
              </a:rPr>
              <a:t>Phụ lục hỏi đáp</a:t>
            </a:r>
          </a:p>
        </p:txBody>
      </p:sp>
      <p:sp>
        <p:nvSpPr>
          <p:cNvPr id="5" name="">
            <a:extLst xmlns:a="http://schemas.openxmlformats.org/drawingml/2006/main">
              <a:ext uri="{FF2B5EF4-FFF2-40B4-BE49-F238E27FC236}">
                <a16:creationId xmlns:a16="http://schemas.microsoft.com/office/drawing/2014/main" id="{8948268A-49D7-4C1B-A10E-071A52AC6501}"/>
              </a:ext>
            </a:extLst>
          </p:cNvPr>
          <p:cNvSpPr>
            <a:spLocks xmlns:a="http://schemas.openxmlformats.org/drawingml/2006/main" noGrp="1"/>
          </p:cNvSpPr>
          <p:nvPr/>
        </p:nvSpPr>
        <p:spPr>
          <a:xfrm xmlns:a="http://schemas.openxmlformats.org/drawingml/2006/main">
            <a:off x="11068050" y="6381750"/>
            <a:ext cx="514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087F86"/>
                </a:solidFill>
                <a:latin typeface="Arial"/>
                <a:ea typeface="Arial"/>
                <a:cs typeface="Arial"/>
              </a:defRPr>
            </a:defPPr>
          </a:lstStyle>
          <a:p xmlns:a="http://schemas.openxmlformats.org/drawingml/2006/main">
            <a:pPr>
              <a:defRPr sz="1650" b="1">
                <a:solidFill>
                  <a:srgbClr val="087F86"/>
                </a:solidFill>
                <a:latin typeface="Arial"/>
                <a:ea typeface="Arial"/>
                <a:cs typeface="Arial"/>
              </a:defRPr>
            </a:pPr>
            <a:r>
              <a:rPr sz="1650" b="1">
                <a:solidFill>
                  <a:srgbClr val="087F86"/>
                </a:solidFill>
                <a:latin typeface="Arial"/>
                <a:ea typeface="Arial"/>
                <a:cs typeface="Arial"/>
              </a:rPr>
              <a:t>12</a:t>
            </a:r>
          </a:p>
        </p:txBody>
      </p:sp>
    </p:spTree>
    <p:extLst>
      <p:ext uri="{BB962C8B-B14F-4D97-AF65-F5344CB8AC3E}">
        <p14:creationId xmlns:p14="http://schemas.microsoft.com/office/powerpoint/2010/main" val="20674604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2026-10-14T10:51:12.0280000Z</dcterms:created>
  <dcterms:modified xsi:type="dcterms:W3CDTF">2026-10-14T10:51:12.0280000Z</dcterms:modified>
</coreProperties>
</file>