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4deea9c5244221" /><Relationship Type="http://schemas.openxmlformats.org/officeDocument/2006/relationships/extended-properties" Target="/docProps/app.xml" Id="R22149e0117ef47c2" /><Relationship Type="http://schemas.openxmlformats.org/officeDocument/2006/relationships/officeDocument" Target="/ppt/presentation.xml" Id="R7a78c72b79254122" /></Relationships>
</file>

<file path=ppt/presentation.xml><?xml version="1.0" encoding="utf-8"?>
<p:presentation xmlns:p="http://schemas.openxmlformats.org/presentationml/2006/main">
  <p:sldMasterIdLst>
    <p:sldMasterId xmlns:r="http://schemas.openxmlformats.org/officeDocument/2006/relationships" id="2147483648" r:id="Ra4dd6217db884a67"/>
  </p:sldMasterIdLst>
  <p:notesMasterIdLst>
    <p:notesMasterId xmlns:r="http://schemas.openxmlformats.org/officeDocument/2006/relationships" r:id="R0517515a3fdc43a7"/>
  </p:notesMasterIdLst>
  <p:sldIdLst>
    <p:sldId xmlns:r="http://schemas.openxmlformats.org/officeDocument/2006/relationships" id="256" r:id="R9ab5e9cf6b104445"/>
    <p:sldId xmlns:r="http://schemas.openxmlformats.org/officeDocument/2006/relationships" id="257" r:id="Re76bfb1e55374852"/>
    <p:sldId xmlns:r="http://schemas.openxmlformats.org/officeDocument/2006/relationships" id="258" r:id="R0ea53197e90c4d51"/>
    <p:sldId xmlns:r="http://schemas.openxmlformats.org/officeDocument/2006/relationships" id="259" r:id="Rbf8529f3dba147bf"/>
    <p:sldId xmlns:r="http://schemas.openxmlformats.org/officeDocument/2006/relationships" id="260" r:id="Rd85274dd44324245"/>
    <p:sldId xmlns:r="http://schemas.openxmlformats.org/officeDocument/2006/relationships" id="261" r:id="R1715da969f04436d"/>
    <p:sldId xmlns:r="http://schemas.openxmlformats.org/officeDocument/2006/relationships" id="262" r:id="Re52bfcaee3ed4087"/>
    <p:sldId xmlns:r="http://schemas.openxmlformats.org/officeDocument/2006/relationships" id="263" r:id="R0d94b9a2608f42a2"/>
    <p:sldId xmlns:r="http://schemas.openxmlformats.org/officeDocument/2006/relationships" id="264" r:id="R8d8c05d79a5c4d1c"/>
    <p:sldId xmlns:r="http://schemas.openxmlformats.org/officeDocument/2006/relationships" id="265" r:id="R12b0bfcf324849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451a665456469d" /><Relationship Type="http://schemas.openxmlformats.org/officeDocument/2006/relationships/slideMaster" Target="/ppt/slideMasters/slideMaster1.xml" Id="Ra4dd6217db884a67" /><Relationship Type="http://schemas.openxmlformats.org/officeDocument/2006/relationships/notesMaster" Target="/ppt/notesMasters/notesMaster1.xml" Id="R0517515a3fdc43a7" /><Relationship Type="http://schemas.openxmlformats.org/officeDocument/2006/relationships/presProps" Target="/ppt/presProps.xml" Id="R6939e897c65a43ba" /><Relationship Type="http://schemas.openxmlformats.org/officeDocument/2006/relationships/tableStyles" Target="/ppt/tableStyles.xml" Id="R1ab7ae337d514d30" /><Relationship Type="http://schemas.openxmlformats.org/officeDocument/2006/relationships/slide" Target="/ppt/slides/slide1.xml" Id="R9ab5e9cf6b104445" /><Relationship Type="http://schemas.openxmlformats.org/officeDocument/2006/relationships/slide" Target="/ppt/slides/slide2.xml" Id="Re76bfb1e55374852" /><Relationship Type="http://schemas.openxmlformats.org/officeDocument/2006/relationships/slide" Target="/ppt/slides/slide3.xml" Id="R0ea53197e90c4d51" /><Relationship Type="http://schemas.openxmlformats.org/officeDocument/2006/relationships/slide" Target="/ppt/slides/slide4.xml" Id="Rbf8529f3dba147bf" /><Relationship Type="http://schemas.openxmlformats.org/officeDocument/2006/relationships/slide" Target="/ppt/slides/slide5.xml" Id="Rd85274dd44324245" /><Relationship Type="http://schemas.openxmlformats.org/officeDocument/2006/relationships/slide" Target="/ppt/slides/slide6.xml" Id="R1715da969f04436d" /><Relationship Type="http://schemas.openxmlformats.org/officeDocument/2006/relationships/slide" Target="/ppt/slides/slide7.xml" Id="Re52bfcaee3ed4087" /><Relationship Type="http://schemas.openxmlformats.org/officeDocument/2006/relationships/slide" Target="/ppt/slides/slide8.xml" Id="R0d94b9a2608f42a2" /><Relationship Type="http://schemas.openxmlformats.org/officeDocument/2006/relationships/slide" Target="/ppt/slides/slide9.xml" Id="R8d8c05d79a5c4d1c" /><Relationship Type="http://schemas.openxmlformats.org/officeDocument/2006/relationships/slide" Target="/ppt/slides/slide10.xml" Id="R12b0bfcf324849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9cdeb1a16c49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259bd44ed44995" /><Relationship Type="http://schemas.openxmlformats.org/officeDocument/2006/relationships/notesMaster" Target="/ppt/notesMasters/notesMaster1.xml" Id="Rac31915d136d4c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7b0e593c52461e" /><Relationship Type="http://schemas.openxmlformats.org/officeDocument/2006/relationships/notesMaster" Target="/ppt/notesMasters/notesMaster1.xml" Id="R614cfc16e96c4f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d1bc20f7224b64" /><Relationship Type="http://schemas.openxmlformats.org/officeDocument/2006/relationships/notesMaster" Target="/ppt/notesMasters/notesMaster1.xml" Id="R5e53d08958c14f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94074625714b7c" /><Relationship Type="http://schemas.openxmlformats.org/officeDocument/2006/relationships/notesMaster" Target="/ppt/notesMasters/notesMaster1.xml" Id="R3211dfd396f049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beb1b462a049a9" /><Relationship Type="http://schemas.openxmlformats.org/officeDocument/2006/relationships/notesMaster" Target="/ppt/notesMasters/notesMaster1.xml" Id="R12c0ab146ab34b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7a875146ca4021" /><Relationship Type="http://schemas.openxmlformats.org/officeDocument/2006/relationships/notesMaster" Target="/ppt/notesMasters/notesMaster1.xml" Id="R6a4c23c224e74b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ba8b4fe3744a52" /><Relationship Type="http://schemas.openxmlformats.org/officeDocument/2006/relationships/notesMaster" Target="/ppt/notesMasters/notesMaster1.xml" Id="R0c4021b3af0649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f07b7ddab84836" /><Relationship Type="http://schemas.openxmlformats.org/officeDocument/2006/relationships/notesMaster" Target="/ppt/notesMasters/notesMaster1.xml" Id="Rcf169ba659234a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675fcea5b24fd3" /><Relationship Type="http://schemas.openxmlformats.org/officeDocument/2006/relationships/notesMaster" Target="/ppt/notesMasters/notesMaster1.xml" Id="R64373c8aab4847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1dcba65e444503" /><Relationship Type="http://schemas.openxmlformats.org/officeDocument/2006/relationships/notesMaster" Target="/ppt/notesMasters/notesMaster1.xml" Id="R814d29bdef954c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giây. Chào thầy, nhóm em phân tích dữ liệu Titanic để tìm những đặc điểm liên quan đến tỷ lệ sống. Nhóm gồm Lương Công Hoàng Duy, 240464, và Lê Nguyễn Gia Bảo, 240233. Bài tập tập trung Pandas và trực quan hóa. Phân công: Duy 60% notebook, làm sạch, câu 1 và 3, tổng hợp báo cáo. Bảo 40% đối chiếu nguồn và biểu đồ, câu 2, kiểm tra mẫu số và hỏi đáp. Codex hỗ trợ mã và soạn thảo. Các số liệu đối chiếu từ notebook đã chạy và 14 nhóm assert.</a:t>
            </a:r>
          </a:p>
          <a:p xmlns:a="http://schemas.openxmlformats.org/drawingml/2006/main">
            <a:r>
              <a:t/>
            </a:r>
          </a:p>
          <a:p xmlns:a="http://schemas.openxmlformats.org/drawingml/2006/main">
            <a:r>
              <a:t>Nguồn số liệu: Kaggle Titanic train.csv, 891 dòng × 12 cột. https://www.kaggle.com/competitions/titanic/data . Quy định sử dụng: https://www.kaggle.com/competitions/titanic/rules . CSV SHA256: 4a437fde05fe5264e1701a7387ac6fb75393772ba38bb2c9c566405af5af4bd7. Đối chiếu A2_240464_240233_PhanTich.ipynb. Phân tích mô tả bằng Pandas, không huấn luyện mô hình học máy.</a:t>
            </a:r>
          </a:p>
          <a:p xmlns:a="http://schemas.openxmlformats.org/drawingml/2006/main">
            <a:r>
              <a:t/>
            </a:r>
          </a:p>
          <a:p xmlns:a="http://schemas.openxmlformats.org/drawingml/2006/main">
            <a:r>
              <a:t>Ảnh bìa: RMS Titanic departing Southampton, 10 April 1912. Tác giả F. G. O. Stuart. Wikimedia Commons ghi public domain. Nguồn: https://commons.wikimedia.org/wiki/File:RMS_Titanic_3.jpg . Tệp gốc: https://upload.wikimedia.org/wikipedia/commons/f/fd/RMS_Titanic_3.jpg . Ảnh được thu nhỏ để nhúng, giữ nguyên nội dung và tỷ lệ.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giây. Ba câu hỏi của đề là: (1) Những yếu tố nào liên quan tới khả năng sống sót? (2) Giả thuyết phụ nữ và trẻ em trước có được phản ánh trong dữ liệu không? (3) Hạng vé có ảnh hưởng độc lập với giới tính không, hay chỉ là biến trung gian? Ba số trên slide chỉ là bằng chứng mở đầu. Em sẽ đi từ so sánh gộp sang so sánh trong từng giới. 74,2% là nữ, 58,0% là trẻ em trong mẫu có tuổi. Chênh nữ hạng 1 và 3 là 96,8085%-50%=46,8085 điểm phần trăm. Chưa có kết luận nhân quả hay trung gian.</a:t>
            </a:r>
          </a:p>
          <a:p xmlns:a="http://schemas.openxmlformats.org/drawingml/2006/main">
            <a:r>
              <a:t/>
            </a:r>
          </a:p>
          <a:p xmlns:a="http://schemas.openxmlformats.org/drawingml/2006/main">
            <a:r>
              <a:t>Nguồn số liệu: Kaggle Titanic train.csv, 891 dòng × 12 cột. https://www.kaggle.com/competitions/titanic/data . Quy định sử dụng: https://www.kaggle.com/competitions/titanic/rules . CSV SHA256: 4a437fde05fe5264e1701a7387ac6fb75393772ba38bb2c9c566405af5af4bd7. Đối chiếu A2_240464_240233_PhanTich.ipynb. Phân tích mô tả bằng Pandas, không huấn luyện mô hình học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giây. Bảng gốc có 891 hồ sơ và 12 cột. Age thiếu 177, tức 19,9%. Phân tích tuổi chính dùng 714 tuổi quan sát. Hai kịch bản so sánh là điền trung vị chung 28 và trung vị theo giới nhân hạng vé. Cabin thiếu 687, tức 77,1%, nên bỏ khỏi bảng phân tích chứ không bỏ hành khách. Nhật ký làm sạch: 0 dòng trùng, chuẩn hóa tên cột và nhãn, 0 ô thiếu mới sau ép số. Bỏ PassengerId/Name/Ticket/Cabin khỏi bảng phân tích và thêm family_size/age_group thành 10 cột. Embarked thiếu 2 giữ nguyên vì không dùng trả lời 3 câu. Fare gắn cờ IQR 116 giá trị trên 65,6344, giữ lại vì chưa có bằng chứng sai.15 giá vé 0 cũng giữ. Đọc phụ lục tuổi khi thầy hỏi sâu.</a:t>
            </a:r>
          </a:p>
          <a:p xmlns:a="http://schemas.openxmlformats.org/drawingml/2006/main">
            <a:r>
              <a:t/>
            </a:r>
          </a:p>
          <a:p xmlns:a="http://schemas.openxmlformats.org/drawingml/2006/main">
            <a:r>
              <a:t>Nguồn số liệu: Kaggle Titanic train.csv, 891 dòng × 12 cột. https://www.kaggle.com/competitions/titanic/data . Quy định sử dụng: https://www.kaggle.com/competitions/titanic/rules . CSV SHA256: 4a437fde05fe5264e1701a7387ac6fb75393772ba38bb2c9c566405af5af4bd7. Đối chiếu A2_240464_240233_PhanTich.ipynb. Phân tích mô tả bằng Pandas, không huấn luyện mô hình học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giây. Nữ 233/314 sống, tương đương 74,2%. Nam 109/577 sống, tương đương 18,9%. Lấy hai tỷ lệ trừ nhau được 55,3 điểm phần trăm. Đó là bằng chứng về liên hệ giới tính với kết quả sống. Không gọi giới tính là yếu tố mạnh nhất vì chưa so sánh tác động độc lập của các biến trên cùng mô hình hay thiết kế. Ngoài giới, hạng vé 1/2/3 có tỷ lệ 63,0/47,3/24,2%; quy mô gia đình 2–4 cao hơn đi một mình nhưng không tăng đều. Bảng gia đình để ở phụ lục. Chuyển ý: tuổi có theo cùng xu hướng hay không?</a:t>
            </a:r>
          </a:p>
          <a:p xmlns:a="http://schemas.openxmlformats.org/drawingml/2006/main">
            <a:r>
              <a:t/>
            </a:r>
          </a:p>
          <a:p xmlns:a="http://schemas.openxmlformats.org/drawingml/2006/main">
            <a:r>
              <a:t>Nguồn số liệu: Kaggle Titanic train.csv, 891 dòng × 12 cột. https://www.kaggle.com/competitions/titanic/data . Quy định sử dụng: https://www.kaggle.com/competitions/titanic/rules . CSV SHA256: 4a437fde05fe5264e1701a7387ac6fb75393772ba38bb2c9c566405af5af4bd7. Đối chiếu A2_240464_240233_PhanTich.ipynb. Phân tích mô tả bằng Pandas, không huấn luyện mô hình học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giây. Chỉ dùng 714 người có tuổi thật, quy ước trẻ em≤12. Nhìn hai cột của nam: trẻ em 21/37=56,8%, nhóm&gt;12 là 72/416=17,3%, chênh 39,4 điểm phần trăm khi tính từ tỷ lệ chưa làm tròn. Trong nữ, trẻ 19/32=59,4%, nhóm&gt;12 là 178/229=77,7%, chiều so sánh đảo lại. Gộp hai giới, trẻ 40/69=58%, nhóm&gt;12 là 250/645=38,8%. Vì vậy dữ liệu chỉ hỗ trợ một phần giả thuyết. Không nói giả thuyết đã được chứng minh: thiếu 177 tuổi và không có thời điểm hay trình tự cứu hộ. Nhóm&gt;12 gồm cả thiếu niên, không gọi toàn bộ là người lớn.</a:t>
            </a:r>
          </a:p>
          <a:p xmlns:a="http://schemas.openxmlformats.org/drawingml/2006/main">
            <a:r>
              <a:t/>
            </a:r>
          </a:p>
          <a:p xmlns:a="http://schemas.openxmlformats.org/drawingml/2006/main">
            <a:r>
              <a:t>Nguồn số liệu: Kaggle Titanic train.csv, 891 dòng × 12 cột. https://www.kaggle.com/competitions/titanic/data . Quy định sử dụng: https://www.kaggle.com/competitions/titanic/rules . CSV SHA256: 4a437fde05fe5264e1701a7387ac6fb75393772ba38bb2c9c566405af5af4bd7. Đối chiếu A2_240464_240233_PhanTich.ipynb. Phân tích mô tả bằng Pandas, không huấn luyện mô hình học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giây. Đây là heatmap với cùng thang 0–100%. Đọc theo hàng để giữ giới tính. Nữ hạng 1 là 91/94=96,8%, hạng 2 là 70/76=92,1%, hạng 3 là 72/144=50%. Nam hạng 1 là 45/122=36,9%, hạng 2 là 17/108=15,7%, hạng 3 là 47/347=13,5%. Hạng 1 cao hơn 3 trong cả hai giới, nên chênh lệch hạng vé không chỉ do số nữ/nam ở mỗi hạng khác nhau. Sáu ô cộng 891 người và 342 người sống. Tuy nhiên phân tầng giới chưa kiểm soát hết tuổi, vị trí hoặc yếu tố không quan sát. Không kết luận tác động nhân quả độc lập, độc lập thống kê toàn phần hay cơ chế trung gian. Đó là câu trả lời có giới hạn cho câu 3.</a:t>
            </a:r>
          </a:p>
          <a:p xmlns:a="http://schemas.openxmlformats.org/drawingml/2006/main">
            <a:r>
              <a:t/>
            </a:r>
          </a:p>
          <a:p xmlns:a="http://schemas.openxmlformats.org/drawingml/2006/main">
            <a:r>
              <a:t>Nguồn số liệu: Kaggle Titanic train.csv, 891 dòng × 12 cột. https://www.kaggle.com/competitions/titanic/data . Quy định sử dụng: https://www.kaggle.com/competitions/titanic/rules . CSV SHA256: 4a437fde05fe5264e1701a7387ac6fb75393772ba38bb2c9c566405af5af4bd7. Đối chiếu A2_240464_240233_PhanTich.ipynb. Phân tích mô tả bằng Pandas, không huấn luyện mô hình học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giây. Em chốt ba nhận định bằng ba độ chênh. Một là tỷ lệ nữ cao hơn nam 55,3 điểm phần trăm, nhưng chưa xếp hạng tác động độc lập. Hai là trẻ em nam cao hơn nam&gt;12 là 39,4 điểm phần trăm, song nữ không cùng chiều, nên giả thuyết chỉ hỗ trợ một phần. Ba là nữ hạng 1 cao hơn nữ hạng 3 là 46,8 điểm phần trăm; liên hệ hạng vé còn trong từng giới nhưng chưa chứng minh nhân quả hay trung gian. Các chênh lệch tính bằng số gốc rồi mới làm tròn: (21/37-72/416)*100=39,449..., thành 39,4. Mẫu 891 không đại diện toàn bộ hành khách và thủy thủ, không suy rộng cho tàu khác. Tổng thời gian 7 slide là 285 giây, còn 15 giây chuyển slide. Repo: https://github.com/hoangduydz/CNTT219-LuongCongHoangDuy/tree/main/A2 .</a:t>
            </a:r>
          </a:p>
          <a:p xmlns:a="http://schemas.openxmlformats.org/drawingml/2006/main">
            <a:r>
              <a:t/>
            </a:r>
          </a:p>
          <a:p xmlns:a="http://schemas.openxmlformats.org/drawingml/2006/main">
            <a:r>
              <a:t>Nguồn số liệu: Kaggle Titanic train.csv, 891 dòng × 12 cột. https://www.kaggle.com/competitions/titanic/data . Quy định sử dụng: https://www.kaggle.com/competitions/titanic/rules . CSV SHA256: 4a437fde05fe5264e1701a7387ac6fb75393772ba38bb2c9c566405af5af4bd7. Đối chiếu A2_240464_240233_PhanTich.ipynb. Phân tích mô tả bằng Pandas, không huấn luyện mô hình học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chỉ dùng hỏi đáp. Hạng1/2/3 tỷ lệ63%,47,3%,24,2%. Tổng891người. Giá vé trung vị hạng1/2/3 là60,2875;14,25;8,05. Giá vé không đo đầy đủ thu nhập; không biến tương quan hạng vé thành khẳng định nguyên nhân.</a:t>
            </a:r>
          </a:p>
          <a:p xmlns:a="http://schemas.openxmlformats.org/drawingml/2006/main">
            <a:r>
              <a:t/>
            </a:r>
          </a:p>
          <a:p xmlns:a="http://schemas.openxmlformats.org/drawingml/2006/main">
            <a:r>
              <a:t>Nguồn: Kaggle Titanic train.csv, 891 dòng × 12 cột. https://www.kaggle.com/competitions/titanic/data . Điều kiện sử dụng: https://www.kaggle.com/competitions/titanic/rules . Bản CSV đã có trên máy, không khai báo tải trực tiếp trong lần sửa. SHA256: 4a437fde05fe5264e1701a7387ac6fb75393772ba38bb2c9c566405af5af4bd7. Đối chiếu notebook A2-02_Titanic_Kaggle891.ipynb. Chỉ EDA, không mô hình học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hỏi đáp. A714tuổi quan sát, không điền. B điền177bằngtrungvị28. C điền theo giới×hạng. Trung vị nhóm đều&gt;12nên trẻgiữ69nhưng&gt;12tăng645→822vàsốsống250→302. Tỷ lệ&gt;12thành36,7%. Không suy ra tất cả thiếu tuổi thực sự&gt;12. Độ lệch chuẩn giảm không có nghĩa chính xác hơn. Không dùngSurvivedđể điền tuổi.</a:t>
            </a:r>
          </a:p>
          <a:p xmlns:a="http://schemas.openxmlformats.org/drawingml/2006/main">
            <a:r>
              <a:t/>
            </a:r>
          </a:p>
          <a:p xmlns:a="http://schemas.openxmlformats.org/drawingml/2006/main">
            <a:r>
              <a:t>Nguồn: Kaggle Titanic train.csv, 891 dòng × 12 cột. https://www.kaggle.com/competitions/titanic/data . Điều kiện sử dụng: https://www.kaggle.com/competitions/titanic/rules . Bản CSV đã có trên máy, không khai báo tải trực tiếp trong lần sửa. SHA256: 4a437fde05fe5264e1701a7387ac6fb75393772ba38bb2c9c566405af5af4bd7. Đối chiếu notebook A2-02_Titanic_Kaggle891.ipynb. Chỉ EDA, không mô hình học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hỏi đáp. Không trả lời rằng4người tự gây khả năng sống cao. Nhóm4n29nhỏ, nữ65,5%,hạng331%; nhóm1n537nữ23,5%; nhóm5n15hạng380%. Dữ liệu không đo trực tiếp hỗ trợ, phối hợp, đường thoát nạn. Chỉ gọi các cơ chế đó là giả thuyết chưa kiểm chứng nếu bị hỏi. Quy mô4không phải sốgiađình, không phải quy mô tối ưu cho chuyến tàu khác.</a:t>
            </a:r>
          </a:p>
          <a:p xmlns:a="http://schemas.openxmlformats.org/drawingml/2006/main">
            <a:r>
              <a:t/>
            </a:r>
          </a:p>
          <a:p xmlns:a="http://schemas.openxmlformats.org/drawingml/2006/main">
            <a:r>
              <a:t>Nguồn: Kaggle Titanic train.csv, 891 dòng × 12 cột. https://www.kaggle.com/competitions/titanic/data . Điều kiện sử dụng: https://www.kaggle.com/competitions/titanic/rules . Bản CSV đã có trên máy, không khai báo tải trực tiếp trong lần sửa. SHA256: 4a437fde05fe5264e1701a7387ac6fb75393772ba38bb2c9c566405af5af4bd7. Đối chiếu notebook A2-02_Titanic_Kaggle891.ipynb. Chỉ EDA, không mô hình học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51b3bda11247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ef72593d5541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19953a172949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239620014848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fdd70f480145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7faa91f14044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DF6A76-973E-40A1-8ECD-86F689F6BF9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3D0BC2-94B0-4F37-B2E1-07755F961E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575B5F-0AEA-4AD4-B6E8-3F877D2FFF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F5E73C-A480-4CBB-B3E1-1EF3759E85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AD7B7F-6A18-44CD-9C6A-2AB2A3934F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2D286A-63E5-45E8-968C-699D24C17F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2E7E47-D7A2-4CAC-A664-21021B38EF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E8E258-117F-41E7-8187-6F2A5C47D9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170B31-0D36-4784-AC7E-CE20606C3B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FE950B-18B3-40DF-9A16-16414AAE3C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9dc8e48a2c4abb" /><Relationship Type="http://schemas.openxmlformats.org/officeDocument/2006/relationships/slideLayout" Target="/ppt/slideLayouts/slideLayout1.xml" Id="Rb9fd4652fe2f4a29" /><Relationship Type="http://schemas.openxmlformats.org/officeDocument/2006/relationships/slideLayout" Target="/ppt/slideLayouts/slideLayout2.xml" Id="Rbdd46a09d66546c6" /><Relationship Type="http://schemas.openxmlformats.org/officeDocument/2006/relationships/slideLayout" Target="/ppt/slideLayouts/slideLayout3.xml" Id="R62968ee9104a4fe2" /><Relationship Type="http://schemas.openxmlformats.org/officeDocument/2006/relationships/slideLayout" Target="/ppt/slideLayouts/slideLayout4.xml" Id="Ra4175361f569498a" /><Relationship Type="http://schemas.openxmlformats.org/officeDocument/2006/relationships/slideLayout" Target="/ppt/slideLayouts/slideLayout5.xml" Id="R16ec519c080b431c" /><Relationship Type="http://schemas.openxmlformats.org/officeDocument/2006/relationships/slideLayout" Target="/ppt/slideLayouts/slideLayout6.xml" Id="R7ca7b0cd638242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fd4652fe2f4a29"/>
    <p:sldLayoutId xmlns:r="http://schemas.openxmlformats.org/officeDocument/2006/relationships" id="2147483650" r:id="Rbdd46a09d66546c6"/>
    <p:sldLayoutId xmlns:r="http://schemas.openxmlformats.org/officeDocument/2006/relationships" id="2147483651" r:id="R62968ee9104a4fe2"/>
    <p:sldLayoutId xmlns:r="http://schemas.openxmlformats.org/officeDocument/2006/relationships" id="2147483652" r:id="Ra4175361f569498a"/>
    <p:sldLayoutId xmlns:r="http://schemas.openxmlformats.org/officeDocument/2006/relationships" id="2147483653" r:id="R16ec519c080b431c"/>
    <p:sldLayoutId xmlns:r="http://schemas.openxmlformats.org/officeDocument/2006/relationships" id="2147483654" r:id="R7ca7b0cd638242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2ad8f2cade54523" /><Relationship Type="http://schemas.openxmlformats.org/officeDocument/2006/relationships/image" Target="/ppt/media/image.jpeg" Id="Rc7f8a7e76ab44c17" /><Relationship Type="http://schemas.openxmlformats.org/officeDocument/2006/relationships/notesSlide" Target="/ppt/notesSlides/notesSlide1.xml" Id="R7640533cbaad48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9c8b927f36044a3" /><Relationship Type="http://schemas.openxmlformats.org/officeDocument/2006/relationships/notesSlide" Target="/ppt/notesSlides/notesSlide2.xml" Id="R82adb4b6778244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1c83ec53ef439c" /><Relationship Type="http://schemas.openxmlformats.org/officeDocument/2006/relationships/notesSlide" Target="/ppt/notesSlides/notesSlide3.xml" Id="R995841184b8e4f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4925cd47534541" /><Relationship Type="http://schemas.openxmlformats.org/officeDocument/2006/relationships/chart" Target="/ppt/slides/charts/chart1.xml" Id="R00b5276096e1434a" /><Relationship Type="http://schemas.openxmlformats.org/officeDocument/2006/relationships/notesSlide" Target="/ppt/notesSlides/notesSlide4.xml" Id="R09ab92f39b4945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d48f9d689e4314" /><Relationship Type="http://schemas.openxmlformats.org/officeDocument/2006/relationships/chart" Target="/ppt/slides/charts/chart2.xml" Id="Ra62b20ddff0c4db2" /><Relationship Type="http://schemas.openxmlformats.org/officeDocument/2006/relationships/notesSlide" Target="/ppt/notesSlides/notesSlide5.xml" Id="R2775e49be0154c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73d5ee7c2b483e" /><Relationship Type="http://schemas.openxmlformats.org/officeDocument/2006/relationships/notesSlide" Target="/ppt/notesSlides/notesSlide6.xml" Id="R8c8d733af15942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270bf2a1f594c62" /><Relationship Type="http://schemas.openxmlformats.org/officeDocument/2006/relationships/notesSlide" Target="/ppt/notesSlides/notesSlide7.xml" Id="Rc87270dc3f444c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a901b9c3824405b" /><Relationship Type="http://schemas.openxmlformats.org/officeDocument/2006/relationships/chart" Target="/ppt/slides/charts/chart3.xml" Id="Rae43a8fbe7b74d14" /><Relationship Type="http://schemas.openxmlformats.org/officeDocument/2006/relationships/notesSlide" Target="/ppt/notesSlides/notesSlide8.xml" Id="Ra24f450710d148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4b32c41fb54c0a" /><Relationship Type="http://schemas.openxmlformats.org/officeDocument/2006/relationships/notesSlide" Target="/ppt/notesSlides/notesSlide9.xml" Id="R04cdbb5ecca24c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aab0be2093f45cf" /><Relationship Type="http://schemas.openxmlformats.org/officeDocument/2006/relationships/notesSlide" Target="/ppt/notesSlides/notesSlide10.xml" Id="Ref5b6e33afde4482" /></Relationships>
</file>

<file path=ppt/slides/charts/chart1.xml><?xml version="1.0" encoding="utf-8"?>
<c:chartSpace xmlns:c="http://schemas.openxmlformats.org/drawingml/2006/chart">
  <c:lang val="en-US"/>
  <c:chart>
    <c:plotArea>
      <c:barChart>
        <c:barDir val="col"/>
        <c:grouping val="clustered"/>
        <c:varyColors val="0"/>
        <c:ser>
          <c:idx val="0"/>
          <c:order val="0"/>
          <c:tx>
            <c:v>Tỷ lệ sống</c:v>
          </c:tx>
          <c:spPr>
            <a:solidFill xmlns:a="http://schemas.openxmlformats.org/drawingml/2006/main">
              <a:srgbClr val="A65332"/>
            </a:solidFill>
          </c:spPr>
          <c:invertIfNegative val="0"/>
          <c:dPt>
            <c:idx val="1"/>
            <c:invertIfNegative val="0"/>
            <c:spPr>
              <a:solidFill xmlns:a="http://schemas.openxmlformats.org/drawingml/2006/main">
                <a:srgbClr val="B4B0A9"/>
              </a:solidFill>
            </c:spPr>
          </c:dPt>
          <c:cat>
            <c:strLit>
              <c:ptCount val="2"/>
              <c:pt idx="0">
                <c:v>Nữ
(n=314)</c:v>
              </c:pt>
              <c:pt idx="1">
                <c:v>Nam
(n=577)</c:v>
              </c:pt>
            </c:strLit>
          </c:cat>
          <c:val>
            <c:numLit>
              <c:formatCode>0.0%</c:formatCode>
              <c:ptCount val="2"/>
              <c:pt idx="0">
                <c:v>0.7420382165605095</c:v>
              </c:pt>
              <c:pt idx="1">
                <c:v>0.18890814558058924</c:v>
              </c:pt>
            </c:numLit>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92622"/>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4B0A9"/>
            </a:solidFill>
          </a:ln>
        </c:spPr>
        <c:txPr>
          <a:bodyPr xmlns:a="http://schemas.openxmlformats.org/drawingml/2006/main" anchorCtr="1"/>
          <a:lstStyle xmlns:a="http://schemas.openxmlformats.org/drawingml/2006/main"/>
          <a:p xmlns:a="http://schemas.openxmlformats.org/drawingml/2006/main">
            <a:pPr>
              <a:defRPr sz="2025">
                <a:solidFill>
                  <a:srgbClr val="29262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5DED4"/>
              </a:solidFill>
            </a:ln>
          </c:spPr>
        </c:majorGridlines>
        <c:title>
          <c:tx>
            <c:rich>
              <a:bodyPr xmlns:a="http://schemas.openxmlformats.org/drawingml/2006/main"/>
              <a:lstStyle xmlns:a="http://schemas.openxmlformats.org/drawingml/2006/main"/>
              <a:p xmlns:a="http://schemas.openxmlformats.org/drawingml/2006/main">
                <a:r>
                  <a:rPr sz="1800">
                    <a:solidFill>
                      <a:srgbClr val="292622"/>
                    </a:solidFill>
                    <a:latin typeface="Arial"/>
                    <a:ea typeface="Arial"/>
                    <a:cs typeface="Arial"/>
                  </a:rPr>
                  <a:t>Tỷ lệ sống (%)</a:t>
                </a:r>
              </a:p>
            </c:rich>
          </c:tx>
          <c:overlay val="0"/>
          <c:txPr>
            <a:bodyPr xmlns:a="http://schemas.openxmlformats.org/drawingml/2006/main" anchorCtr="1"/>
            <a:lstStyle xmlns:a="http://schemas.openxmlformats.org/drawingml/2006/main"/>
            <a:p xmlns:a="http://schemas.openxmlformats.org/drawingml/2006/main">
              <a:pPr>
                <a:defRPr sz="1800">
                  <a:solidFill>
                    <a:srgbClr val="29262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71675E"/>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Trẻ em ≤12 tuổi</c:v>
          </c:tx>
          <c:spPr>
            <a:solidFill xmlns:a="http://schemas.openxmlformats.org/drawingml/2006/main">
              <a:srgbClr val="A65332"/>
            </a:solidFill>
          </c:spPr>
          <c:invertIfNegative val="0"/>
          <c:cat>
            <c:strLit>
              <c:ptCount val="2"/>
              <c:pt idx="0">
                <c:v>Nam</c:v>
              </c:pt>
              <c:pt idx="1">
                <c:v>Nữ</c:v>
              </c:pt>
            </c:strLit>
          </c:cat>
          <c:val>
            <c:numLit>
              <c:formatCode>0.0%</c:formatCode>
              <c:ptCount val="2"/>
              <c:pt idx="0">
                <c:v>0.5675675675675675</c:v>
              </c:pt>
              <c:pt idx="1">
                <c:v>0.59375</c:v>
              </c:pt>
            </c:numLit>
          </c:val>
        </c:ser>
        <c:ser>
          <c:idx val="1"/>
          <c:order val="1"/>
          <c:tx>
            <c:v>Nhóm &gt;12 tuổi</c:v>
          </c:tx>
          <c:spPr>
            <a:solidFill xmlns:a="http://schemas.openxmlformats.org/drawingml/2006/main">
              <a:srgbClr val="B4B0A9"/>
            </a:solidFill>
          </c:spPr>
          <c:invertIfNegative val="0"/>
          <c:cat>
            <c:strLit>
              <c:ptCount val="2"/>
              <c:pt idx="0">
                <c:v>Nam</c:v>
              </c:pt>
              <c:pt idx="1">
                <c:v>Nữ</c:v>
              </c:pt>
            </c:strLit>
          </c:cat>
          <c:val>
            <c:numLit>
              <c:formatCode>0.0%</c:formatCode>
              <c:ptCount val="2"/>
              <c:pt idx="0">
                <c:v>0.17307692307692307</c:v>
              </c:pt>
              <c:pt idx="1">
                <c:v>0.777292576419214</c:v>
              </c:pt>
            </c:numLit>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92622"/>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4B0A9"/>
            </a:solidFill>
          </a:ln>
        </c:spPr>
        <c:txPr>
          <a:bodyPr xmlns:a="http://schemas.openxmlformats.org/drawingml/2006/main" anchorCtr="1"/>
          <a:lstStyle xmlns:a="http://schemas.openxmlformats.org/drawingml/2006/main"/>
          <a:p xmlns:a="http://schemas.openxmlformats.org/drawingml/2006/main">
            <a:pPr>
              <a:defRPr sz="2025">
                <a:solidFill>
                  <a:srgbClr val="29262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5DED4"/>
              </a:solidFill>
            </a:ln>
          </c:spPr>
        </c:majorGridlines>
        <c:title>
          <c:tx>
            <c:rich>
              <a:bodyPr xmlns:a="http://schemas.openxmlformats.org/drawingml/2006/main"/>
              <a:lstStyle xmlns:a="http://schemas.openxmlformats.org/drawingml/2006/main"/>
              <a:p xmlns:a="http://schemas.openxmlformats.org/drawingml/2006/main">
                <a:r>
                  <a:rPr sz="1800">
                    <a:solidFill>
                      <a:srgbClr val="292622"/>
                    </a:solidFill>
                    <a:latin typeface="Arial"/>
                    <a:ea typeface="Arial"/>
                    <a:cs typeface="Arial"/>
                  </a:rPr>
                  <a:t>Tỷ lệ sống (%)</a:t>
                </a:r>
              </a:p>
            </c:rich>
          </c:tx>
          <c:overlay val="0"/>
          <c:txPr>
            <a:bodyPr xmlns:a="http://schemas.openxmlformats.org/drawingml/2006/main" anchorCtr="1"/>
            <a:lstStyle xmlns:a="http://schemas.openxmlformats.org/drawingml/2006/main"/>
            <a:p xmlns:a="http://schemas.openxmlformats.org/drawingml/2006/main">
              <a:pPr>
                <a:defRPr sz="1800">
                  <a:solidFill>
                    <a:srgbClr val="29262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71675E"/>
                </a:solidFill>
                <a:latin typeface="Arial"/>
                <a:ea typeface="Arial"/>
                <a:cs typeface="Arial"/>
              </a:defRPr>
            </a:pPr>
          </a:p>
        </c:txPr>
        <c:crossAx val="48650112"/>
        <c:crossBetween val="between"/>
        <c:majorUnit val="0.25"/>
      </c:valAx>
      <c:spPr>
        <a:solidFill xmlns:a="http://schemas.openxmlformats.org/drawingml/2006/main">
          <a:srgbClr val="FAF7F1"/>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292622"/>
              </a:solidFill>
              <a:latin typeface="Arial"/>
              <a:ea typeface="Arial"/>
              <a:cs typeface="Arial"/>
            </a:defRPr>
          </a:pPr>
        </a:p>
      </c:txPr>
    </c:legend>
    <c:plotVisOnly val="1"/>
  </c:chart>
  <c:spPr>
    <a:solidFill xmlns:a="http://schemas.openxmlformats.org/drawingml/2006/main">
      <a:srgbClr val="FAF7F1"/>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Tỷ lệ sống</c:v>
          </c:tx>
          <c:spPr>
            <a:solidFill xmlns:a="http://schemas.openxmlformats.org/drawingml/2006/main">
              <a:srgbClr val="A65332"/>
            </a:solidFill>
          </c:spPr>
          <c:invertIfNegative val="0"/>
          <c:cat>
            <c:strLit>
              <c:ptCount val="3"/>
              <c:pt idx="0">
                <c:v>Hạng 1
(n=216)</c:v>
              </c:pt>
              <c:pt idx="1">
                <c:v>Hạng 2
(n=184)</c:v>
              </c:pt>
              <c:pt idx="2">
                <c:v>Hạng 3
(n=491)</c:v>
              </c:pt>
            </c:strLit>
          </c:cat>
          <c:val>
            <c:numLit>
              <c:formatCode>0.0%</c:formatCode>
              <c:ptCount val="3"/>
              <c:pt idx="0">
                <c:v>0.6296296296296297</c:v>
              </c:pt>
              <c:pt idx="1">
                <c:v>0.47282608695652173</c:v>
              </c:pt>
              <c:pt idx="2">
                <c:v>0.24236252545824846</c:v>
              </c:pt>
            </c:numLit>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92622"/>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4B0A9"/>
            </a:solidFill>
          </a:ln>
        </c:spPr>
        <c:txPr>
          <a:bodyPr xmlns:a="http://schemas.openxmlformats.org/drawingml/2006/main" anchorCtr="1"/>
          <a:lstStyle xmlns:a="http://schemas.openxmlformats.org/drawingml/2006/main"/>
          <a:p xmlns:a="http://schemas.openxmlformats.org/drawingml/2006/main">
            <a:pPr>
              <a:defRPr sz="2025">
                <a:solidFill>
                  <a:srgbClr val="29262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5DED4"/>
              </a:solidFill>
            </a:ln>
          </c:spPr>
        </c:majorGridlines>
        <c:title>
          <c:tx>
            <c:rich>
              <a:bodyPr xmlns:a="http://schemas.openxmlformats.org/drawingml/2006/main"/>
              <a:lstStyle xmlns:a="http://schemas.openxmlformats.org/drawingml/2006/main"/>
              <a:p xmlns:a="http://schemas.openxmlformats.org/drawingml/2006/main">
                <a:r>
                  <a:rPr sz="1800">
                    <a:solidFill>
                      <a:srgbClr val="292622"/>
                    </a:solidFill>
                    <a:latin typeface="Arial"/>
                    <a:ea typeface="Arial"/>
                    <a:cs typeface="Arial"/>
                  </a:rPr>
                  <a:t>Tỷ lệ sống (%)</a:t>
                </a:r>
              </a:p>
            </c:rich>
          </c:tx>
          <c:overlay val="0"/>
          <c:txPr>
            <a:bodyPr xmlns:a="http://schemas.openxmlformats.org/drawingml/2006/main" anchorCtr="1"/>
            <a:lstStyle xmlns:a="http://schemas.openxmlformats.org/drawingml/2006/main"/>
            <a:p xmlns:a="http://schemas.openxmlformats.org/drawingml/2006/main">
              <a:pPr>
                <a:defRPr sz="1800">
                  <a:solidFill>
                    <a:srgbClr val="29262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71675E"/>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5BCA175-BA2C-4929-967E-ADFED0614D11}"/>
              </a:ext>
            </a:extLst>
          </p:cNvPr>
          <p:cNvPicPr>
            <a:picLocks xmlns:a="http://schemas.openxmlformats.org/drawingml/2006/main" noChangeAspect="1"/>
          </p:cNvPicPr>
          <p:nvPr/>
        </p:nvPicPr>
        <p:blipFill>
          <a:blip xmlns:r="http://schemas.openxmlformats.org/officeDocument/2006/relationships" xmlns:a="http://schemas.openxmlformats.org/drawingml/2006/main" r:embed="Rc7f8a7e76ab44c17"/>
          <a:stretch xmlns:a="http://schemas.openxmlformats.org/drawingml/2006/main"/>
        </p:blipFill>
        <p:spPr>
          <a:xfrm xmlns:a="http://schemas.openxmlformats.org/drawingml/2006/main">
            <a:off x="5524500" y="972439"/>
            <a:ext cx="6057900" cy="4455922"/>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0F22C3-7533-4763-948E-05A3BA4BF3CD}"/>
              </a:ext>
            </a:extLst>
          </p:cNvPr>
          <p:cNvSpPr>
            <a:spLocks xmlns:a="http://schemas.openxmlformats.org/drawingml/2006/main" noGrp="1"/>
          </p:cNvSpPr>
          <p:nvPr/>
        </p:nvSpPr>
        <p:spPr>
          <a:xfrm xmlns:a="http://schemas.openxmlformats.org/drawingml/2006/main">
            <a:off x="609600" y="5238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A65332"/>
                </a:solidFill>
                <a:latin typeface="Arial"/>
                <a:ea typeface="Arial"/>
                <a:cs typeface="Arial"/>
              </a:defRPr>
            </a:defPPr>
          </a:lstStyle>
          <a:p xmlns:a="http://schemas.openxmlformats.org/drawingml/2006/main">
            <a:pPr>
              <a:defRPr sz="1875" b="1">
                <a:solidFill>
                  <a:srgbClr val="A65332"/>
                </a:solidFill>
                <a:latin typeface="Arial"/>
                <a:ea typeface="Arial"/>
                <a:cs typeface="Arial"/>
              </a:defRPr>
            </a:pPr>
            <a:r>
              <a:rPr sz="1875" b="1">
                <a:solidFill>
                  <a:srgbClr val="A65332"/>
                </a:solidFill>
                <a:latin typeface="Arial"/>
                <a:ea typeface="Arial"/>
                <a:cs typeface="Arial"/>
              </a:rPr>
              <a:t>BÀI TẬP LỚN A2</a:t>
            </a:r>
          </a:p>
        </p:txBody>
      </p:sp>
      <p:sp>
        <p:nvSpPr>
          <p:cNvPr id="3" name="">
            <a:extLst xmlns:a="http://schemas.openxmlformats.org/drawingml/2006/main">
              <a:ext uri="{FF2B5EF4-FFF2-40B4-BE49-F238E27FC236}">
                <a16:creationId xmlns:a16="http://schemas.microsoft.com/office/drawing/2014/main" id="{B628006C-1A67-42A0-9586-8F9AC78B5921}"/>
              </a:ext>
            </a:extLst>
          </p:cNvPr>
          <p:cNvSpPr>
            <a:spLocks xmlns:a="http://schemas.openxmlformats.org/drawingml/2006/main" noGrp="1"/>
          </p:cNvSpPr>
          <p:nvPr/>
        </p:nvSpPr>
        <p:spPr>
          <a:xfrm xmlns:a="http://schemas.openxmlformats.org/drawingml/2006/main">
            <a:off x="571500" y="12001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6150" b="1">
                <a:solidFill>
                  <a:srgbClr val="292622"/>
                </a:solidFill>
                <a:latin typeface="Arial"/>
                <a:ea typeface="Arial"/>
                <a:cs typeface="Arial"/>
              </a:defRPr>
            </a:defPPr>
          </a:lstStyle>
          <a:p xmlns:a="http://schemas.openxmlformats.org/drawingml/2006/main">
            <a:pPr>
              <a:defRPr sz="6150" b="1">
                <a:solidFill>
                  <a:srgbClr val="292622"/>
                </a:solidFill>
                <a:latin typeface="Arial"/>
                <a:ea typeface="Arial"/>
                <a:cs typeface="Arial"/>
              </a:defRPr>
            </a:pPr>
            <a:r>
              <a:rPr sz="6150" b="1">
                <a:solidFill>
                  <a:srgbClr val="292622"/>
                </a:solidFill>
                <a:latin typeface="Arial"/>
                <a:ea typeface="Arial"/>
                <a:cs typeface="Arial"/>
              </a:rPr>
              <a:t>TITANIC</a:t>
            </a:r>
          </a:p>
        </p:txBody>
      </p:sp>
      <p:sp>
        <p:nvSpPr>
          <p:cNvPr id="4" name="">
            <a:extLst xmlns:a="http://schemas.openxmlformats.org/drawingml/2006/main">
              <a:ext uri="{FF2B5EF4-FFF2-40B4-BE49-F238E27FC236}">
                <a16:creationId xmlns:a16="http://schemas.microsoft.com/office/drawing/2014/main" id="{779130F1-AEC5-47DF-8E75-2F70919CFD14}"/>
              </a:ext>
            </a:extLst>
          </p:cNvPr>
          <p:cNvSpPr>
            <a:spLocks xmlns:a="http://schemas.openxmlformats.org/drawingml/2006/main" noGrp="1"/>
          </p:cNvSpPr>
          <p:nvPr/>
        </p:nvSpPr>
        <p:spPr>
          <a:xfrm xmlns:a="http://schemas.openxmlformats.org/drawingml/2006/main">
            <a:off x="609600" y="2371725"/>
            <a:ext cx="4476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292622"/>
                </a:solidFill>
                <a:latin typeface="Arial"/>
                <a:ea typeface="Arial"/>
                <a:cs typeface="Arial"/>
              </a:defRPr>
            </a:defPPr>
          </a:lstStyle>
          <a:p xmlns:a="http://schemas.openxmlformats.org/drawingml/2006/main">
            <a:pPr>
              <a:defRPr sz="3450" b="1">
                <a:solidFill>
                  <a:srgbClr val="292622"/>
                </a:solidFill>
                <a:latin typeface="Arial"/>
                <a:ea typeface="Arial"/>
                <a:cs typeface="Arial"/>
              </a:defRPr>
            </a:pPr>
            <a:r>
              <a:rPr sz="3450" b="1">
                <a:solidFill>
                  <a:srgbClr val="292622"/>
                </a:solidFill>
                <a:latin typeface="Arial"/>
                <a:ea typeface="Arial"/>
                <a:cs typeface="Arial"/>
              </a:rPr>
              <a:t>Ai có tỷ lệ sống</a:t>
            </a:r>
          </a:p>
          <a:p xmlns:a="http://schemas.openxmlformats.org/drawingml/2006/main">
            <a:pPr>
              <a:defRPr sz="3450" b="1">
                <a:solidFill>
                  <a:srgbClr val="292622"/>
                </a:solidFill>
                <a:latin typeface="Arial"/>
                <a:ea typeface="Arial"/>
                <a:cs typeface="Arial"/>
              </a:defRPr>
            </a:pPr>
            <a:r>
              <a:rPr sz="3450" b="1">
                <a:solidFill>
                  <a:srgbClr val="292622"/>
                </a:solidFill>
                <a:latin typeface="Arial"/>
                <a:ea typeface="Arial"/>
                <a:cs typeface="Arial"/>
              </a:rPr>
              <a:t>cao hơn?</a:t>
            </a:r>
          </a:p>
        </p:txBody>
      </p:sp>
      <p:sp>
        <p:nvSpPr>
          <p:cNvPr id="5" name="">
            <a:extLst xmlns:a="http://schemas.openxmlformats.org/drawingml/2006/main">
              <a:ext uri="{FF2B5EF4-FFF2-40B4-BE49-F238E27FC236}">
                <a16:creationId xmlns:a16="http://schemas.microsoft.com/office/drawing/2014/main" id="{81A1EB45-2742-4371-A059-46BF2F90B55C}"/>
              </a:ext>
            </a:extLst>
          </p:cNvPr>
          <p:cNvSpPr>
            <a:spLocks xmlns:a="http://schemas.openxmlformats.org/drawingml/2006/main" noGrp="1"/>
          </p:cNvSpPr>
          <p:nvPr/>
        </p:nvSpPr>
        <p:spPr>
          <a:xfrm xmlns:a="http://schemas.openxmlformats.org/drawingml/2006/main">
            <a:off x="609600" y="3686175"/>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71675E"/>
                </a:solidFill>
                <a:latin typeface="Arial"/>
                <a:ea typeface="Arial"/>
                <a:cs typeface="Arial"/>
              </a:defRPr>
            </a:defPPr>
          </a:lstStyle>
          <a:p xmlns:a="http://schemas.openxmlformats.org/drawingml/2006/main">
            <a:pPr>
              <a:defRPr sz="2025" b="0">
                <a:solidFill>
                  <a:srgbClr val="71675E"/>
                </a:solidFill>
                <a:latin typeface="Arial"/>
                <a:ea typeface="Arial"/>
                <a:cs typeface="Arial"/>
              </a:defRPr>
            </a:pPr>
            <a:r>
              <a:rPr sz="2025" b="0">
                <a:solidFill>
                  <a:srgbClr val="71675E"/>
                </a:solidFill>
                <a:latin typeface="Arial"/>
                <a:ea typeface="Arial"/>
                <a:cs typeface="Arial"/>
              </a:rPr>
              <a:t>Phân tích bằng Pandas</a:t>
            </a:r>
          </a:p>
          <a:p xmlns:a="http://schemas.openxmlformats.org/drawingml/2006/main">
            <a:pPr>
              <a:defRPr sz="2025" b="0">
                <a:solidFill>
                  <a:srgbClr val="71675E"/>
                </a:solidFill>
                <a:latin typeface="Arial"/>
                <a:ea typeface="Arial"/>
                <a:cs typeface="Arial"/>
              </a:defRPr>
            </a:pPr>
            <a:r>
              <a:rPr sz="2025" b="0">
                <a:solidFill>
                  <a:srgbClr val="71675E"/>
                </a:solidFill>
                <a:latin typeface="Arial"/>
                <a:ea typeface="Arial"/>
                <a:cs typeface="Arial"/>
              </a:rPr>
              <a:t>và trực quan hóa</a:t>
            </a:r>
          </a:p>
        </p:txBody>
      </p:sp>
      <p:sp>
        <p:nvSpPr>
          <p:cNvPr id="6" name="">
            <a:extLst xmlns:a="http://schemas.openxmlformats.org/drawingml/2006/main">
              <a:ext uri="{FF2B5EF4-FFF2-40B4-BE49-F238E27FC236}">
                <a16:creationId xmlns:a16="http://schemas.microsoft.com/office/drawing/2014/main" id="{E5B9F551-A14A-428F-837D-A4A12AF26936}"/>
              </a:ext>
            </a:extLst>
          </p:cNvPr>
          <p:cNvSpPr>
            <a:spLocks xmlns:a="http://schemas.openxmlformats.org/drawingml/2006/main" noGrp="1"/>
          </p:cNvSpPr>
          <p:nvPr/>
        </p:nvSpPr>
        <p:spPr>
          <a:xfrm xmlns:a="http://schemas.openxmlformats.org/drawingml/2006/main">
            <a:off x="609600" y="479107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292622"/>
                </a:solidFill>
                <a:latin typeface="Arial"/>
                <a:ea typeface="Arial"/>
                <a:cs typeface="Arial"/>
              </a:defRPr>
            </a:defPPr>
          </a:lstStyle>
          <a:p xmlns:a="http://schemas.openxmlformats.org/drawingml/2006/main">
            <a:pPr>
              <a:defRPr sz="1875" b="1">
                <a:solidFill>
                  <a:srgbClr val="292622"/>
                </a:solidFill>
                <a:latin typeface="Arial"/>
                <a:ea typeface="Arial"/>
                <a:cs typeface="Arial"/>
              </a:defRPr>
            </a:pPr>
            <a:r>
              <a:rPr sz="1875" b="1">
                <a:solidFill>
                  <a:srgbClr val="292622"/>
                </a:solidFill>
                <a:latin typeface="Arial"/>
                <a:ea typeface="Arial"/>
                <a:cs typeface="Arial"/>
              </a:rPr>
              <a:t>Lương Công Hoàng Duy   240464</a:t>
            </a:r>
          </a:p>
          <a:p xmlns:a="http://schemas.openxmlformats.org/drawingml/2006/main">
            <a:pPr>
              <a:defRPr sz="1875" b="1">
                <a:solidFill>
                  <a:srgbClr val="292622"/>
                </a:solidFill>
                <a:latin typeface="Arial"/>
                <a:ea typeface="Arial"/>
                <a:cs typeface="Arial"/>
              </a:defRPr>
            </a:pPr>
            <a:r>
              <a:rPr sz="1875" b="1">
                <a:solidFill>
                  <a:srgbClr val="292622"/>
                </a:solidFill>
                <a:latin typeface="Arial"/>
                <a:ea typeface="Arial"/>
                <a:cs typeface="Arial"/>
              </a:rPr>
              <a:t>Lê Nguyễn Gia Bảo   240233</a:t>
            </a:r>
          </a:p>
        </p:txBody>
      </p:sp>
      <p:sp>
        <p:nvSpPr>
          <p:cNvPr id="7" name="">
            <a:extLst xmlns:a="http://schemas.openxmlformats.org/drawingml/2006/main">
              <a:ext uri="{FF2B5EF4-FFF2-40B4-BE49-F238E27FC236}">
                <a16:creationId xmlns:a16="http://schemas.microsoft.com/office/drawing/2014/main" id="{88EB72B2-F48F-4F2F-9686-3FC4F058A250}"/>
              </a:ext>
            </a:extLst>
          </p:cNvPr>
          <p:cNvSpPr>
            <a:spLocks xmlns:a="http://schemas.openxmlformats.org/drawingml/2006/main" noGrp="1"/>
          </p:cNvSpPr>
          <p:nvPr/>
        </p:nvSpPr>
        <p:spPr>
          <a:xfrm xmlns:a="http://schemas.openxmlformats.org/drawingml/2006/main">
            <a:off x="5524500" y="5600700"/>
            <a:ext cx="605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71675E"/>
                </a:solidFill>
                <a:latin typeface="Arial"/>
                <a:ea typeface="Arial"/>
                <a:cs typeface="Arial"/>
              </a:defRPr>
            </a:defPPr>
          </a:lstStyle>
          <a:p xmlns:a="http://schemas.openxmlformats.org/drawingml/2006/main">
            <a:pPr>
              <a:defRPr sz="1500" b="0">
                <a:solidFill>
                  <a:srgbClr val="71675E"/>
                </a:solidFill>
                <a:latin typeface="Arial"/>
                <a:ea typeface="Arial"/>
                <a:cs typeface="Arial"/>
              </a:defRPr>
            </a:pPr>
            <a:r>
              <a:rPr sz="1500" b="0">
                <a:solidFill>
                  <a:srgbClr val="71675E"/>
                </a:solidFill>
                <a:latin typeface="Arial"/>
                <a:ea typeface="Arial"/>
                <a:cs typeface="Arial"/>
              </a:rPr>
              <a:t>Ảnh tư liệu Titanic, 1912. F. G. O. Stuart.</a:t>
            </a:r>
          </a:p>
        </p:txBody>
      </p:sp>
      <p:sp>
        <p:nvSpPr>
          <p:cNvPr id="8" name="">
            <a:extLst xmlns:a="http://schemas.openxmlformats.org/drawingml/2006/main">
              <a:ext uri="{FF2B5EF4-FFF2-40B4-BE49-F238E27FC236}">
                <a16:creationId xmlns:a16="http://schemas.microsoft.com/office/drawing/2014/main" id="{AC7F5BF4-BF77-4321-AA26-9408636EF584}"/>
              </a:ext>
            </a:extLst>
          </p:cNvPr>
          <p:cNvSpPr>
            <a:spLocks xmlns:a="http://schemas.openxmlformats.org/drawingml/2006/main" noGrp="1"/>
          </p:cNvSpPr>
          <p:nvPr/>
        </p:nvSpPr>
        <p:spPr>
          <a:xfrm xmlns:a="http://schemas.openxmlformats.org/drawingml/2006/main">
            <a:off x="609600" y="59531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71675E"/>
                </a:solidFill>
                <a:latin typeface="Arial"/>
                <a:ea typeface="Arial"/>
                <a:cs typeface="Arial"/>
              </a:defRPr>
            </a:defPPr>
          </a:lstStyle>
          <a:p xmlns:a="http://schemas.openxmlformats.org/drawingml/2006/main">
            <a:pPr>
              <a:defRPr sz="1725" b="0">
                <a:solidFill>
                  <a:srgbClr val="71675E"/>
                </a:solidFill>
                <a:latin typeface="Arial"/>
                <a:ea typeface="Arial"/>
                <a:cs typeface="Arial"/>
              </a:defRPr>
            </a:pPr>
            <a:r>
              <a:rPr sz="1725" b="0">
                <a:solidFill>
                  <a:srgbClr val="71675E"/>
                </a:solidFill>
                <a:latin typeface="Arial"/>
                <a:ea typeface="Arial"/>
                <a:cs typeface="Arial"/>
              </a:rPr>
              <a:t>Dữ liệu Kaggle train.csv, 891 hành khách</a:t>
            </a:r>
          </a:p>
        </p:txBody>
      </p:sp>
      <p:sp>
        <p:nvSpPr>
          <p:cNvPr id="9" name="">
            <a:extLst xmlns:a="http://schemas.openxmlformats.org/drawingml/2006/main">
              <a:ext uri="{FF2B5EF4-FFF2-40B4-BE49-F238E27FC236}">
                <a16:creationId xmlns:a16="http://schemas.microsoft.com/office/drawing/2014/main" id="{5AAE928B-86E1-4657-B721-3842B8DFD104}"/>
              </a:ext>
            </a:extLst>
          </p:cNvPr>
          <p:cNvSpPr>
            <a:spLocks xmlns:a="http://schemas.openxmlformats.org/drawingml/2006/main" noGrp="1"/>
          </p:cNvSpPr>
          <p:nvPr/>
        </p:nvSpPr>
        <p:spPr>
          <a:xfrm xmlns:a="http://schemas.openxmlformats.org/drawingml/2006/main">
            <a:off x="609600" y="63912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71675E"/>
                </a:solidFill>
                <a:latin typeface="Arial"/>
                <a:ea typeface="Arial"/>
                <a:cs typeface="Arial"/>
              </a:defRPr>
            </a:defPPr>
          </a:lstStyle>
          <a:p xmlns:a="http://schemas.openxmlformats.org/drawingml/2006/main">
            <a:pPr>
              <a:defRPr sz="1425" b="0">
                <a:solidFill>
                  <a:srgbClr val="71675E"/>
                </a:solidFill>
                <a:latin typeface="Arial"/>
                <a:ea typeface="Arial"/>
                <a:cs typeface="Arial"/>
              </a:defRPr>
            </a:pPr>
            <a:r>
              <a:rPr sz="1425" b="0">
                <a:solidFill>
                  <a:srgbClr val="71675E"/>
                </a:solidFill>
                <a:latin typeface="Arial"/>
                <a:ea typeface="Arial"/>
                <a:cs typeface="Arial"/>
              </a:rPr>
              <a:t>Duy 60%, Bảo 40%. AI: OpenAI Codex hỗ trợ mã và soạn thảo. Kiểm chứng bằng notebook và assert.</a:t>
            </a:r>
          </a:p>
        </p:txBody>
      </p:sp>
      <p:sp>
        <p:nvSpPr>
          <p:cNvPr id="10" name="">
            <a:extLst xmlns:a="http://schemas.openxmlformats.org/drawingml/2006/main">
              <a:ext uri="{FF2B5EF4-FFF2-40B4-BE49-F238E27FC236}">
                <a16:creationId xmlns:a16="http://schemas.microsoft.com/office/drawing/2014/main" id="{23B3ACDD-0890-4A82-B3E0-DDE835594AD4}"/>
              </a:ext>
            </a:extLst>
          </p:cNvPr>
          <p:cNvSpPr>
            <a:spLocks xmlns:a="http://schemas.openxmlformats.org/drawingml/2006/main" noGrp="1"/>
          </p:cNvSpPr>
          <p:nvPr/>
        </p:nvSpPr>
        <p:spPr>
          <a:xfrm xmlns:a="http://schemas.openxmlformats.org/drawingml/2006/main">
            <a:off x="11049000" y="641985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A65332"/>
                </a:solidFill>
                <a:latin typeface="Arial"/>
                <a:ea typeface="Arial"/>
                <a:cs typeface="Arial"/>
              </a:defRPr>
            </a:defPPr>
          </a:lstStyle>
          <a:p xmlns:a="http://schemas.openxmlformats.org/drawingml/2006/main">
            <a:pPr>
              <a:defRPr sz="1800" b="1">
                <a:solidFill>
                  <a:srgbClr val="A65332"/>
                </a:solidFill>
                <a:latin typeface="Arial"/>
                <a:ea typeface="Arial"/>
                <a:cs typeface="Arial"/>
              </a:defRPr>
            </a:pPr>
            <a:r>
              <a:rPr sz="1800" b="1">
                <a:solidFill>
                  <a:srgbClr val="A65332"/>
                </a:solidFill>
                <a:latin typeface="Arial"/>
                <a:ea typeface="Arial"/>
                <a:cs typeface="Arial"/>
              </a:rPr>
              <a:t>01</a:t>
            </a:r>
          </a:p>
        </p:txBody>
      </p:sp>
    </p:spTree>
    <p:extLst>
      <p:ext uri="{BB962C8B-B14F-4D97-AF65-F5344CB8AC3E}">
        <p14:creationId xmlns:p14="http://schemas.microsoft.com/office/powerpoint/2010/main" val="1221286752"/>
      </p:ext>
    </p:extLst>
  </p:cSld>
</p:sld>
</file>

<file path=ppt/slides/slide2.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0C6D487-8424-4AC0-8F9A-7C15231064BD}"/>
              </a:ext>
            </a:extLst>
          </p:cNvPr>
          <p:cNvSpPr>
            <a:spLocks xmlns:a="http://schemas.openxmlformats.org/drawingml/2006/main" noGrp="1"/>
          </p:cNvSpPr>
          <p:nvPr/>
        </p:nvSpPr>
        <p:spPr>
          <a:xfrm xmlns:a="http://schemas.openxmlformats.org/drawingml/2006/main">
            <a:off x="609600" y="4000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92622"/>
                </a:solidFill>
                <a:latin typeface="Arial"/>
                <a:ea typeface="Arial"/>
                <a:cs typeface="Arial"/>
              </a:defRPr>
            </a:defPPr>
          </a:lstStyle>
          <a:p xmlns:a="http://schemas.openxmlformats.org/drawingml/2006/main">
            <a:pPr>
              <a:buNone/>
              <a:defRPr sz="3300" b="1">
                <a:solidFill>
                  <a:srgbClr val="292622"/>
                </a:solidFill>
                <a:latin typeface="Arial"/>
                <a:ea typeface="Arial"/>
                <a:cs typeface="Arial"/>
              </a:defRPr>
            </a:pPr>
            <a:r>
              <a:rPr sz="3300" b="1">
                <a:solidFill>
                  <a:srgbClr val="292622"/>
                </a:solidFill>
                <a:latin typeface="Arial"/>
                <a:ea typeface="Arial"/>
                <a:cs typeface="Arial"/>
              </a:rPr>
              <a:t>Ba câu hỏi cho thấy khác biệt giữa các nhóm</a:t>
            </a:r>
          </a:p>
        </p:txBody>
      </p:sp>
      <p:sp>
        <p:nvSpPr>
          <p:cNvPr id="2" name="">
            <a:extLst xmlns:a="http://schemas.openxmlformats.org/drawingml/2006/main">
              <a:ext uri="{FF2B5EF4-FFF2-40B4-BE49-F238E27FC236}">
                <a16:creationId xmlns:a16="http://schemas.microsoft.com/office/drawing/2014/main" id="{650AB310-7E30-4A4D-90B6-E158401A22C1}"/>
              </a:ext>
            </a:extLst>
          </p:cNvPr>
          <p:cNvSpPr>
            <a:spLocks xmlns:a="http://schemas.openxmlformats.org/drawingml/2006/main" noGrp="1"/>
          </p:cNvSpPr>
          <p:nvPr/>
        </p:nvSpPr>
        <p:spPr>
          <a:xfrm xmlns:a="http://schemas.openxmlformats.org/drawingml/2006/main">
            <a:off x="609600" y="1952625"/>
            <a:ext cx="3381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292622"/>
                </a:solidFill>
                <a:latin typeface="Arial"/>
                <a:ea typeface="Arial"/>
                <a:cs typeface="Arial"/>
              </a:defRPr>
            </a:defPPr>
          </a:lstStyle>
          <a:p xmlns:a="http://schemas.openxmlformats.org/drawingml/2006/main">
            <a:pPr>
              <a:buNone/>
              <a:defRPr sz="1950" b="1">
                <a:solidFill>
                  <a:srgbClr val="292622"/>
                </a:solidFill>
                <a:latin typeface="Arial"/>
                <a:ea typeface="Arial"/>
                <a:cs typeface="Arial"/>
              </a:defRPr>
            </a:pPr>
            <a:r>
              <a:rPr sz="1950" b="1">
                <a:solidFill>
                  <a:srgbClr val="292622"/>
                </a:solidFill>
                <a:latin typeface="Arial"/>
                <a:ea typeface="Arial"/>
                <a:cs typeface="Arial"/>
              </a:rPr>
              <a:t>Những yếu tố nào liên quan</a:t>
            </a:r>
          </a:p>
          <a:p xmlns:a="http://schemas.openxmlformats.org/drawingml/2006/main">
            <a:pPr>
              <a:buNone/>
              <a:defRPr sz="1950" b="1">
                <a:solidFill>
                  <a:srgbClr val="292622"/>
                </a:solidFill>
                <a:latin typeface="Arial"/>
                <a:ea typeface="Arial"/>
                <a:cs typeface="Arial"/>
              </a:defRPr>
            </a:pPr>
            <a:r>
              <a:rPr sz="1950" b="1">
                <a:solidFill>
                  <a:srgbClr val="292622"/>
                </a:solidFill>
                <a:latin typeface="Arial"/>
                <a:ea typeface="Arial"/>
                <a:cs typeface="Arial"/>
              </a:rPr>
              <a:t>tới khả năng sống sót?</a:t>
            </a:r>
          </a:p>
        </p:txBody>
      </p:sp>
      <p:sp>
        <p:nvSpPr>
          <p:cNvPr id="3" name="">
            <a:extLst xmlns:a="http://schemas.openxmlformats.org/drawingml/2006/main">
              <a:ext uri="{FF2B5EF4-FFF2-40B4-BE49-F238E27FC236}">
                <a16:creationId xmlns:a16="http://schemas.microsoft.com/office/drawing/2014/main" id="{7A8E0A80-FFEB-4E28-8194-BA307AE45B04}"/>
              </a:ext>
            </a:extLst>
          </p:cNvPr>
          <p:cNvSpPr>
            <a:spLocks xmlns:a="http://schemas.openxmlformats.org/drawingml/2006/main" noGrp="1"/>
          </p:cNvSpPr>
          <p:nvPr/>
        </p:nvSpPr>
        <p:spPr>
          <a:xfrm xmlns:a="http://schemas.openxmlformats.org/drawingml/2006/main">
            <a:off x="609600" y="3333750"/>
            <a:ext cx="338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A65332"/>
                </a:solidFill>
                <a:latin typeface="Arial"/>
                <a:ea typeface="Arial"/>
                <a:cs typeface="Arial"/>
              </a:defRPr>
            </a:defPPr>
          </a:lstStyle>
          <a:p xmlns:a="http://schemas.openxmlformats.org/drawingml/2006/main">
            <a:pPr>
              <a:buNone/>
              <a:defRPr sz="4950" b="1">
                <a:solidFill>
                  <a:srgbClr val="A65332"/>
                </a:solidFill>
                <a:latin typeface="Arial"/>
                <a:ea typeface="Arial"/>
                <a:cs typeface="Arial"/>
              </a:defRPr>
            </a:pPr>
            <a:r>
              <a:rPr sz="4950" b="1">
                <a:solidFill>
                  <a:srgbClr val="A65332"/>
                </a:solidFill>
                <a:latin typeface="Arial"/>
                <a:ea typeface="Arial"/>
                <a:cs typeface="Arial"/>
              </a:rPr>
              <a:t>74,2%</a:t>
            </a:r>
          </a:p>
        </p:txBody>
      </p:sp>
      <p:sp>
        <p:nvSpPr>
          <p:cNvPr id="4" name="">
            <a:extLst xmlns:a="http://schemas.openxmlformats.org/drawingml/2006/main">
              <a:ext uri="{FF2B5EF4-FFF2-40B4-BE49-F238E27FC236}">
                <a16:creationId xmlns:a16="http://schemas.microsoft.com/office/drawing/2014/main" id="{B2F2FDF8-9312-44DF-BC85-C735EEE15248}"/>
              </a:ext>
            </a:extLst>
          </p:cNvPr>
          <p:cNvSpPr>
            <a:spLocks xmlns:a="http://schemas.openxmlformats.org/drawingml/2006/main" noGrp="1"/>
          </p:cNvSpPr>
          <p:nvPr/>
        </p:nvSpPr>
        <p:spPr>
          <a:xfrm xmlns:a="http://schemas.openxmlformats.org/drawingml/2006/main">
            <a:off x="609600" y="4400550"/>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92622"/>
                </a:solidFill>
                <a:latin typeface="Arial"/>
                <a:ea typeface="Arial"/>
                <a:cs typeface="Arial"/>
              </a:defRPr>
            </a:defPPr>
          </a:lstStyle>
          <a:p xmlns:a="http://schemas.openxmlformats.org/drawingml/2006/main">
            <a:pPr>
              <a:buNone/>
              <a:defRPr sz="1875" b="0">
                <a:solidFill>
                  <a:srgbClr val="292622"/>
                </a:solidFill>
                <a:latin typeface="Arial"/>
                <a:ea typeface="Arial"/>
                <a:cs typeface="Arial"/>
              </a:defRPr>
            </a:pPr>
            <a:r>
              <a:rPr sz="1875" b="0">
                <a:solidFill>
                  <a:srgbClr val="292622"/>
                </a:solidFill>
                <a:latin typeface="Arial"/>
                <a:ea typeface="Arial"/>
                <a:cs typeface="Arial"/>
              </a:rPr>
              <a:t>Nữ sống 233/314 người.</a:t>
            </a:r>
          </a:p>
          <a:p xmlns:a="http://schemas.openxmlformats.org/drawingml/2006/main">
            <a:pPr>
              <a:buNone/>
              <a:defRPr sz="1875" b="0">
                <a:solidFill>
                  <a:srgbClr val="292622"/>
                </a:solidFill>
                <a:latin typeface="Arial"/>
                <a:ea typeface="Arial"/>
                <a:cs typeface="Arial"/>
              </a:defRPr>
            </a:pPr>
            <a:r>
              <a:rPr sz="1875" b="0">
                <a:solidFill>
                  <a:srgbClr val="292622"/>
                </a:solidFill>
                <a:latin typeface="Arial"/>
                <a:ea typeface="Arial"/>
                <a:cs typeface="Arial"/>
              </a:rPr>
              <a:t>Giới, tuổi và hạng vé đều cần xem xét.</a:t>
            </a:r>
          </a:p>
        </p:txBody>
      </p:sp>
      <p:sp>
        <p:nvSpPr>
          <p:cNvPr id="5" name="">
            <a:extLst xmlns:a="http://schemas.openxmlformats.org/drawingml/2006/main">
              <a:ext uri="{FF2B5EF4-FFF2-40B4-BE49-F238E27FC236}">
                <a16:creationId xmlns:a16="http://schemas.microsoft.com/office/drawing/2014/main" id="{0B55676F-FF1C-453C-90C2-6CC50E9650F0}"/>
              </a:ext>
            </a:extLst>
          </p:cNvPr>
          <p:cNvSpPr>
            <a:spLocks xmlns:a="http://schemas.openxmlformats.org/drawingml/2006/main" noGrp="1"/>
          </p:cNvSpPr>
          <p:nvPr/>
        </p:nvSpPr>
        <p:spPr>
          <a:xfrm xmlns:a="http://schemas.openxmlformats.org/drawingml/2006/main">
            <a:off x="4381500" y="1952625"/>
            <a:ext cx="3381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292622"/>
                </a:solidFill>
                <a:latin typeface="Arial"/>
                <a:ea typeface="Arial"/>
                <a:cs typeface="Arial"/>
              </a:defRPr>
            </a:defPPr>
          </a:lstStyle>
          <a:p xmlns:a="http://schemas.openxmlformats.org/drawingml/2006/main">
            <a:pPr>
              <a:buNone/>
              <a:defRPr sz="1950" b="1">
                <a:solidFill>
                  <a:srgbClr val="292622"/>
                </a:solidFill>
                <a:latin typeface="Arial"/>
                <a:ea typeface="Arial"/>
                <a:cs typeface="Arial"/>
              </a:defRPr>
            </a:pPr>
            <a:r>
              <a:rPr sz="1950" b="1">
                <a:solidFill>
                  <a:srgbClr val="292622"/>
                </a:solidFill>
                <a:latin typeface="Arial"/>
                <a:ea typeface="Arial"/>
                <a:cs typeface="Arial"/>
              </a:rPr>
              <a:t>“Phụ nữ và trẻ em trước”</a:t>
            </a:r>
          </a:p>
          <a:p xmlns:a="http://schemas.openxmlformats.org/drawingml/2006/main">
            <a:pPr>
              <a:buNone/>
              <a:defRPr sz="1950" b="1">
                <a:solidFill>
                  <a:srgbClr val="292622"/>
                </a:solidFill>
                <a:latin typeface="Arial"/>
                <a:ea typeface="Arial"/>
                <a:cs typeface="Arial"/>
              </a:defRPr>
            </a:pPr>
            <a:r>
              <a:rPr sz="1950" b="1">
                <a:solidFill>
                  <a:srgbClr val="292622"/>
                </a:solidFill>
                <a:latin typeface="Arial"/>
                <a:ea typeface="Arial"/>
                <a:cs typeface="Arial"/>
              </a:rPr>
              <a:t>có phản ánh trong dữ liệu?</a:t>
            </a:r>
          </a:p>
        </p:txBody>
      </p:sp>
      <p:sp>
        <p:nvSpPr>
          <p:cNvPr id="6" name="">
            <a:extLst xmlns:a="http://schemas.openxmlformats.org/drawingml/2006/main">
              <a:ext uri="{FF2B5EF4-FFF2-40B4-BE49-F238E27FC236}">
                <a16:creationId xmlns:a16="http://schemas.microsoft.com/office/drawing/2014/main" id="{B3C85602-77DC-4C57-B3AF-AA59369F9213}"/>
              </a:ext>
            </a:extLst>
          </p:cNvPr>
          <p:cNvSpPr>
            <a:spLocks xmlns:a="http://schemas.openxmlformats.org/drawingml/2006/main" noGrp="1"/>
          </p:cNvSpPr>
          <p:nvPr/>
        </p:nvSpPr>
        <p:spPr>
          <a:xfrm xmlns:a="http://schemas.openxmlformats.org/drawingml/2006/main">
            <a:off x="4381500" y="3333750"/>
            <a:ext cx="338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A65332"/>
                </a:solidFill>
                <a:latin typeface="Arial"/>
                <a:ea typeface="Arial"/>
                <a:cs typeface="Arial"/>
              </a:defRPr>
            </a:defPPr>
          </a:lstStyle>
          <a:p xmlns:a="http://schemas.openxmlformats.org/drawingml/2006/main">
            <a:pPr>
              <a:buNone/>
              <a:defRPr sz="4950" b="1">
                <a:solidFill>
                  <a:srgbClr val="A65332"/>
                </a:solidFill>
                <a:latin typeface="Arial"/>
                <a:ea typeface="Arial"/>
                <a:cs typeface="Arial"/>
              </a:defRPr>
            </a:pPr>
            <a:r>
              <a:rPr sz="4950" b="1">
                <a:solidFill>
                  <a:srgbClr val="A65332"/>
                </a:solidFill>
                <a:latin typeface="Arial"/>
                <a:ea typeface="Arial"/>
                <a:cs typeface="Arial"/>
              </a:rPr>
              <a:t>58,0%</a:t>
            </a:r>
          </a:p>
        </p:txBody>
      </p:sp>
      <p:sp>
        <p:nvSpPr>
          <p:cNvPr id="7" name="">
            <a:extLst xmlns:a="http://schemas.openxmlformats.org/drawingml/2006/main">
              <a:ext uri="{FF2B5EF4-FFF2-40B4-BE49-F238E27FC236}">
                <a16:creationId xmlns:a16="http://schemas.microsoft.com/office/drawing/2014/main" id="{33C99942-CE15-498F-8BAF-61A6077B721F}"/>
              </a:ext>
            </a:extLst>
          </p:cNvPr>
          <p:cNvSpPr>
            <a:spLocks xmlns:a="http://schemas.openxmlformats.org/drawingml/2006/main" noGrp="1"/>
          </p:cNvSpPr>
          <p:nvPr/>
        </p:nvSpPr>
        <p:spPr>
          <a:xfrm xmlns:a="http://schemas.openxmlformats.org/drawingml/2006/main">
            <a:off x="4381500" y="4400550"/>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92622"/>
                </a:solidFill>
                <a:latin typeface="Arial"/>
                <a:ea typeface="Arial"/>
                <a:cs typeface="Arial"/>
              </a:defRPr>
            </a:defPPr>
          </a:lstStyle>
          <a:p xmlns:a="http://schemas.openxmlformats.org/drawingml/2006/main">
            <a:pPr>
              <a:buNone/>
              <a:defRPr sz="1875" b="0">
                <a:solidFill>
                  <a:srgbClr val="292622"/>
                </a:solidFill>
                <a:latin typeface="Arial"/>
                <a:ea typeface="Arial"/>
                <a:cs typeface="Arial"/>
              </a:defRPr>
            </a:pPr>
            <a:r>
              <a:rPr sz="1875" b="0">
                <a:solidFill>
                  <a:srgbClr val="292622"/>
                </a:solidFill>
                <a:latin typeface="Arial"/>
                <a:ea typeface="Arial"/>
                <a:cs typeface="Arial"/>
              </a:rPr>
              <a:t>Trẻ ≤12 tuổi sống 40/69 người.</a:t>
            </a:r>
          </a:p>
          <a:p xmlns:a="http://schemas.openxmlformats.org/drawingml/2006/main">
            <a:pPr>
              <a:buNone/>
              <a:defRPr sz="1875" b="0">
                <a:solidFill>
                  <a:srgbClr val="292622"/>
                </a:solidFill>
                <a:latin typeface="Arial"/>
                <a:ea typeface="Arial"/>
                <a:cs typeface="Arial"/>
              </a:defRPr>
            </a:pPr>
            <a:r>
              <a:rPr sz="1875" b="0">
                <a:solidFill>
                  <a:srgbClr val="292622"/>
                </a:solidFill>
                <a:latin typeface="Arial"/>
                <a:ea typeface="Arial"/>
                <a:cs typeface="Arial"/>
              </a:rPr>
              <a:t>Kết quả thay đổi khi tách theo giới.</a:t>
            </a:r>
          </a:p>
        </p:txBody>
      </p:sp>
      <p:sp>
        <p:nvSpPr>
          <p:cNvPr id="8" name="">
            <a:extLst xmlns:a="http://schemas.openxmlformats.org/drawingml/2006/main">
              <a:ext uri="{FF2B5EF4-FFF2-40B4-BE49-F238E27FC236}">
                <a16:creationId xmlns:a16="http://schemas.microsoft.com/office/drawing/2014/main" id="{22795ECB-8FEB-4D7D-BF87-3313B59BC2A3}"/>
              </a:ext>
            </a:extLst>
          </p:cNvPr>
          <p:cNvSpPr>
            <a:spLocks xmlns:a="http://schemas.openxmlformats.org/drawingml/2006/main" noGrp="1"/>
          </p:cNvSpPr>
          <p:nvPr/>
        </p:nvSpPr>
        <p:spPr>
          <a:xfrm xmlns:a="http://schemas.openxmlformats.org/drawingml/2006/main">
            <a:off x="8153400" y="1952625"/>
            <a:ext cx="3381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292622"/>
                </a:solidFill>
                <a:latin typeface="Arial"/>
                <a:ea typeface="Arial"/>
                <a:cs typeface="Arial"/>
              </a:defRPr>
            </a:defPPr>
          </a:lstStyle>
          <a:p xmlns:a="http://schemas.openxmlformats.org/drawingml/2006/main">
            <a:pPr>
              <a:buNone/>
              <a:defRPr sz="1950" b="1">
                <a:solidFill>
                  <a:srgbClr val="292622"/>
                </a:solidFill>
                <a:latin typeface="Arial"/>
                <a:ea typeface="Arial"/>
                <a:cs typeface="Arial"/>
              </a:defRPr>
            </a:pPr>
            <a:r>
              <a:rPr sz="1950" b="1">
                <a:solidFill>
                  <a:srgbClr val="292622"/>
                </a:solidFill>
                <a:latin typeface="Arial"/>
                <a:ea typeface="Arial"/>
                <a:cs typeface="Arial"/>
              </a:rPr>
              <a:t>Hạng vé có liên hệ riêng</a:t>
            </a:r>
          </a:p>
          <a:p xmlns:a="http://schemas.openxmlformats.org/drawingml/2006/main">
            <a:pPr>
              <a:buNone/>
              <a:defRPr sz="1950" b="1">
                <a:solidFill>
                  <a:srgbClr val="292622"/>
                </a:solidFill>
                <a:latin typeface="Arial"/>
                <a:ea typeface="Arial"/>
                <a:cs typeface="Arial"/>
              </a:defRPr>
            </a:pPr>
            <a:r>
              <a:rPr sz="1950" b="1">
                <a:solidFill>
                  <a:srgbClr val="292622"/>
                </a:solidFill>
                <a:latin typeface="Arial"/>
                <a:ea typeface="Arial"/>
                <a:cs typeface="Arial"/>
              </a:rPr>
              <a:t>khi giữ cùng giới tính?</a:t>
            </a:r>
          </a:p>
        </p:txBody>
      </p:sp>
      <p:sp>
        <p:nvSpPr>
          <p:cNvPr id="9" name="">
            <a:extLst xmlns:a="http://schemas.openxmlformats.org/drawingml/2006/main">
              <a:ext uri="{FF2B5EF4-FFF2-40B4-BE49-F238E27FC236}">
                <a16:creationId xmlns:a16="http://schemas.microsoft.com/office/drawing/2014/main" id="{0AF2EC0C-7C48-43B7-8A75-2FCA19D3426E}"/>
              </a:ext>
            </a:extLst>
          </p:cNvPr>
          <p:cNvSpPr>
            <a:spLocks xmlns:a="http://schemas.openxmlformats.org/drawingml/2006/main" noGrp="1"/>
          </p:cNvSpPr>
          <p:nvPr/>
        </p:nvSpPr>
        <p:spPr>
          <a:xfrm xmlns:a="http://schemas.openxmlformats.org/drawingml/2006/main">
            <a:off x="8153400" y="3333750"/>
            <a:ext cx="338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A65332"/>
                </a:solidFill>
                <a:latin typeface="Arial"/>
                <a:ea typeface="Arial"/>
                <a:cs typeface="Arial"/>
              </a:defRPr>
            </a:defPPr>
          </a:lstStyle>
          <a:p xmlns:a="http://schemas.openxmlformats.org/drawingml/2006/main">
            <a:pPr>
              <a:buNone/>
              <a:defRPr sz="4950" b="1">
                <a:solidFill>
                  <a:srgbClr val="A65332"/>
                </a:solidFill>
                <a:latin typeface="Arial"/>
                <a:ea typeface="Arial"/>
                <a:cs typeface="Arial"/>
              </a:defRPr>
            </a:pPr>
            <a:r>
              <a:rPr sz="4950" b="1">
                <a:solidFill>
                  <a:srgbClr val="A65332"/>
                </a:solidFill>
                <a:latin typeface="Arial"/>
                <a:ea typeface="Arial"/>
                <a:cs typeface="Arial"/>
              </a:rPr>
              <a:t>46,8</a:t>
            </a:r>
          </a:p>
        </p:txBody>
      </p:sp>
      <p:sp>
        <p:nvSpPr>
          <p:cNvPr id="10" name="">
            <a:extLst xmlns:a="http://schemas.openxmlformats.org/drawingml/2006/main">
              <a:ext uri="{FF2B5EF4-FFF2-40B4-BE49-F238E27FC236}">
                <a16:creationId xmlns:a16="http://schemas.microsoft.com/office/drawing/2014/main" id="{054CD2A6-143F-49AD-9E79-3623C287854C}"/>
              </a:ext>
            </a:extLst>
          </p:cNvPr>
          <p:cNvSpPr>
            <a:spLocks xmlns:a="http://schemas.openxmlformats.org/drawingml/2006/main" noGrp="1"/>
          </p:cNvSpPr>
          <p:nvPr/>
        </p:nvSpPr>
        <p:spPr>
          <a:xfrm xmlns:a="http://schemas.openxmlformats.org/drawingml/2006/main">
            <a:off x="8153400" y="4400550"/>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92622"/>
                </a:solidFill>
                <a:latin typeface="Arial"/>
                <a:ea typeface="Arial"/>
                <a:cs typeface="Arial"/>
              </a:defRPr>
            </a:defPPr>
          </a:lstStyle>
          <a:p xmlns:a="http://schemas.openxmlformats.org/drawingml/2006/main">
            <a:pPr>
              <a:buNone/>
              <a:defRPr sz="1875" b="0">
                <a:solidFill>
                  <a:srgbClr val="292622"/>
                </a:solidFill>
                <a:latin typeface="Arial"/>
                <a:ea typeface="Arial"/>
                <a:cs typeface="Arial"/>
              </a:defRPr>
            </a:pPr>
            <a:r>
              <a:rPr sz="1875" b="0">
                <a:solidFill>
                  <a:srgbClr val="292622"/>
                </a:solidFill>
                <a:latin typeface="Arial"/>
                <a:ea typeface="Arial"/>
                <a:cs typeface="Arial"/>
              </a:rPr>
              <a:t>điểm phần trăm chênh lệch</a:t>
            </a:r>
          </a:p>
          <a:p xmlns:a="http://schemas.openxmlformats.org/drawingml/2006/main">
            <a:pPr>
              <a:buNone/>
              <a:defRPr sz="1875" b="0">
                <a:solidFill>
                  <a:srgbClr val="292622"/>
                </a:solidFill>
                <a:latin typeface="Arial"/>
                <a:ea typeface="Arial"/>
                <a:cs typeface="Arial"/>
              </a:defRPr>
            </a:pPr>
            <a:r>
              <a:rPr sz="1875" b="0">
                <a:solidFill>
                  <a:srgbClr val="292622"/>
                </a:solidFill>
                <a:latin typeface="Arial"/>
                <a:ea typeface="Arial"/>
                <a:cs typeface="Arial"/>
              </a:rPr>
              <a:t>giữa nữ hạng 1 và nữ hạng 3.</a:t>
            </a:r>
          </a:p>
        </p:txBody>
      </p:sp>
      <p:sp>
        <p:nvSpPr>
          <p:cNvPr id="11" name="">
            <a:extLst xmlns:a="http://schemas.openxmlformats.org/drawingml/2006/main">
              <a:ext uri="{FF2B5EF4-FFF2-40B4-BE49-F238E27FC236}">
                <a16:creationId xmlns:a16="http://schemas.microsoft.com/office/drawing/2014/main" id="{9EB93186-FDA4-46C7-B403-DFF5F0879BE2}"/>
              </a:ext>
            </a:extLst>
          </p:cNvPr>
          <p:cNvSpPr>
            <a:spLocks xmlns:a="http://schemas.openxmlformats.org/drawingml/2006/main" noGrp="1"/>
          </p:cNvSpPr>
          <p:nvPr/>
        </p:nvSpPr>
        <p:spPr>
          <a:xfrm xmlns:a="http://schemas.openxmlformats.org/drawingml/2006/main">
            <a:off x="609600" y="59436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Bảng chéo chưa chứng minh tác động nhân quả hoặc cơ chế trung gian.</a:t>
            </a:r>
          </a:p>
        </p:txBody>
      </p:sp>
      <p:sp>
        <p:nvSpPr>
          <p:cNvPr id="12" name="">
            <a:extLst xmlns:a="http://schemas.openxmlformats.org/drawingml/2006/main">
              <a:ext uri="{FF2B5EF4-FFF2-40B4-BE49-F238E27FC236}">
                <a16:creationId xmlns:a16="http://schemas.microsoft.com/office/drawing/2014/main" id="{582D762F-1D01-40B2-90C7-1DF5DEDD625C}"/>
              </a:ext>
            </a:extLst>
          </p:cNvPr>
          <p:cNvSpPr>
            <a:spLocks xmlns:a="http://schemas.openxmlformats.org/drawingml/2006/main" noGrp="1"/>
          </p:cNvSpPr>
          <p:nvPr/>
        </p:nvSpPr>
        <p:spPr>
          <a:xfrm xmlns:a="http://schemas.openxmlformats.org/drawingml/2006/main">
            <a:off x="11049000" y="64293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71675E"/>
                </a:solidFill>
                <a:latin typeface="Arial"/>
                <a:ea typeface="Arial"/>
                <a:cs typeface="Arial"/>
              </a:defRPr>
            </a:defPPr>
          </a:lstStyle>
          <a:p xmlns:a="http://schemas.openxmlformats.org/drawingml/2006/main">
            <a:pPr>
              <a:buNone/>
              <a:defRPr sz="1800" b="1">
                <a:solidFill>
                  <a:srgbClr val="71675E"/>
                </a:solidFill>
                <a:latin typeface="Arial"/>
                <a:ea typeface="Arial"/>
                <a:cs typeface="Arial"/>
              </a:defRPr>
            </a:pPr>
            <a:r>
              <a:rPr sz="1800" b="1">
                <a:solidFill>
                  <a:srgbClr val="71675E"/>
                </a:solidFill>
                <a:latin typeface="Arial"/>
                <a:ea typeface="Arial"/>
                <a:cs typeface="Arial"/>
              </a:rPr>
              <a:t>02</a:t>
            </a:r>
          </a:p>
        </p:txBody>
      </p:sp>
    </p:spTree>
    <p:extLst>
      <p:ext uri="{BB962C8B-B14F-4D97-AF65-F5344CB8AC3E}">
        <p14:creationId xmlns:p14="http://schemas.microsoft.com/office/powerpoint/2010/main" val="661283270"/>
      </p:ext>
    </p:extLst>
  </p:cSld>
</p:sld>
</file>

<file path=ppt/slides/slide3.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A999E1-F1E3-4D66-A9F8-82547CE020AE}"/>
              </a:ext>
            </a:extLst>
          </p:cNvPr>
          <p:cNvSpPr>
            <a:spLocks xmlns:a="http://schemas.openxmlformats.org/drawingml/2006/main" noGrp="1"/>
          </p:cNvSpPr>
          <p:nvPr/>
        </p:nvSpPr>
        <p:spPr>
          <a:xfrm xmlns:a="http://schemas.openxmlformats.org/drawingml/2006/main">
            <a:off x="609600" y="4000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92622"/>
                </a:solidFill>
                <a:latin typeface="Arial"/>
                <a:ea typeface="Arial"/>
                <a:cs typeface="Arial"/>
              </a:defRPr>
            </a:defPPr>
          </a:lstStyle>
          <a:p xmlns:a="http://schemas.openxmlformats.org/drawingml/2006/main">
            <a:pPr>
              <a:buNone/>
              <a:defRPr sz="3300" b="1">
                <a:solidFill>
                  <a:srgbClr val="292622"/>
                </a:solidFill>
                <a:latin typeface="Arial"/>
                <a:ea typeface="Arial"/>
                <a:cs typeface="Arial"/>
              </a:defRPr>
            </a:pPr>
            <a:r>
              <a:rPr sz="3300" b="1">
                <a:solidFill>
                  <a:srgbClr val="292622"/>
                </a:solidFill>
                <a:latin typeface="Arial"/>
                <a:ea typeface="Arial"/>
                <a:cs typeface="Arial"/>
              </a:rPr>
              <a:t>Thiếu tuổi và Cabin cần hai cách xử lý khác nhau</a:t>
            </a:r>
          </a:p>
        </p:txBody>
      </p:sp>
      <p:sp>
        <p:nvSpPr>
          <p:cNvPr id="2" name="">
            <a:extLst xmlns:a="http://schemas.openxmlformats.org/drawingml/2006/main">
              <a:ext uri="{FF2B5EF4-FFF2-40B4-BE49-F238E27FC236}">
                <a16:creationId xmlns:a16="http://schemas.microsoft.com/office/drawing/2014/main" id="{A1C0AB40-D2F0-4681-9890-1AE9BB8EF0ED}"/>
              </a:ext>
            </a:extLst>
          </p:cNvPr>
          <p:cNvSpPr>
            <a:spLocks xmlns:a="http://schemas.openxmlformats.org/drawingml/2006/main" noGrp="1"/>
          </p:cNvSpPr>
          <p:nvPr/>
        </p:nvSpPr>
        <p:spPr>
          <a:xfrm xmlns:a="http://schemas.openxmlformats.org/drawingml/2006/main">
            <a:off x="666750" y="17907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92622"/>
                </a:solidFill>
                <a:latin typeface="Arial"/>
                <a:ea typeface="Arial"/>
                <a:cs typeface="Arial"/>
              </a:defRPr>
            </a:defPPr>
          </a:lstStyle>
          <a:p xmlns:a="http://schemas.openxmlformats.org/drawingml/2006/main">
            <a:pPr>
              <a:buNone/>
              <a:defRPr sz="2100" b="1">
                <a:solidFill>
                  <a:srgbClr val="292622"/>
                </a:solidFill>
                <a:latin typeface="Arial"/>
                <a:ea typeface="Arial"/>
                <a:cs typeface="Arial"/>
              </a:defRPr>
            </a:pPr>
            <a:r>
              <a:rPr sz="2100" b="1">
                <a:solidFill>
                  <a:srgbClr val="292622"/>
                </a:solidFill>
                <a:latin typeface="Arial"/>
                <a:ea typeface="Arial"/>
                <a:cs typeface="Arial"/>
              </a:rPr>
              <a:t>AGE   TUỔI</a:t>
            </a:r>
          </a:p>
        </p:txBody>
      </p:sp>
      <p:sp>
        <p:nvSpPr>
          <p:cNvPr id="3" name="">
            <a:extLst xmlns:a="http://schemas.openxmlformats.org/drawingml/2006/main">
              <a:ext uri="{FF2B5EF4-FFF2-40B4-BE49-F238E27FC236}">
                <a16:creationId xmlns:a16="http://schemas.microsoft.com/office/drawing/2014/main" id="{89C75ACF-538D-4B75-BB1B-1566A29320E2}"/>
              </a:ext>
            </a:extLst>
          </p:cNvPr>
          <p:cNvSpPr>
            <a:spLocks xmlns:a="http://schemas.openxmlformats.org/drawingml/2006/main" noGrp="1"/>
          </p:cNvSpPr>
          <p:nvPr/>
        </p:nvSpPr>
        <p:spPr>
          <a:xfrm xmlns:a="http://schemas.openxmlformats.org/drawingml/2006/main">
            <a:off x="666750" y="240982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00" b="1">
                <a:solidFill>
                  <a:srgbClr val="A65332"/>
                </a:solidFill>
                <a:latin typeface="Arial"/>
                <a:ea typeface="Arial"/>
                <a:cs typeface="Arial"/>
              </a:defRPr>
            </a:defPPr>
          </a:lstStyle>
          <a:p xmlns:a="http://schemas.openxmlformats.org/drawingml/2006/main">
            <a:pPr>
              <a:buNone/>
              <a:defRPr sz="3900" b="1">
                <a:solidFill>
                  <a:srgbClr val="A65332"/>
                </a:solidFill>
                <a:latin typeface="Arial"/>
                <a:ea typeface="Arial"/>
                <a:cs typeface="Arial"/>
              </a:defRPr>
            </a:pPr>
            <a:r>
              <a:rPr sz="3900" b="1">
                <a:solidFill>
                  <a:srgbClr val="A65332"/>
                </a:solidFill>
                <a:latin typeface="Arial"/>
                <a:ea typeface="Arial"/>
                <a:cs typeface="Arial"/>
              </a:rPr>
              <a:t>19,9% thiếu</a:t>
            </a:r>
          </a:p>
        </p:txBody>
      </p:sp>
      <p:sp>
        <p:nvSpPr>
          <p:cNvPr id="4" name="">
            <a:extLst xmlns:a="http://schemas.openxmlformats.org/drawingml/2006/main">
              <a:ext uri="{FF2B5EF4-FFF2-40B4-BE49-F238E27FC236}">
                <a16:creationId xmlns:a16="http://schemas.microsoft.com/office/drawing/2014/main" id="{5DDC6D0B-1C53-404E-883E-D5A5EA9675FA}"/>
              </a:ext>
            </a:extLst>
          </p:cNvPr>
          <p:cNvSpPr>
            <a:spLocks xmlns:a="http://schemas.openxmlformats.org/drawingml/2006/main" noGrp="1"/>
          </p:cNvSpPr>
          <p:nvPr/>
        </p:nvSpPr>
        <p:spPr>
          <a:xfrm xmlns:a="http://schemas.openxmlformats.org/drawingml/2006/main">
            <a:off x="666750" y="3486150"/>
            <a:ext cx="4953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292622"/>
                </a:solidFill>
                <a:latin typeface="Arial"/>
                <a:ea typeface="Arial"/>
                <a:cs typeface="Arial"/>
              </a:defRPr>
            </a:defPPr>
          </a:lstStyle>
          <a:p xmlns:a="http://schemas.openxmlformats.org/drawingml/2006/main">
            <a:pPr>
              <a:buNone/>
              <a:defRPr sz="2250" b="0">
                <a:solidFill>
                  <a:srgbClr val="292622"/>
                </a:solidFill>
                <a:latin typeface="Arial"/>
                <a:ea typeface="Arial"/>
                <a:cs typeface="Arial"/>
              </a:defRPr>
            </a:pPr>
            <a:r>
              <a:rPr sz="2250" b="0">
                <a:solidFill>
                  <a:srgbClr val="292622"/>
                </a:solidFill>
                <a:latin typeface="Arial"/>
                <a:ea typeface="Arial"/>
                <a:cs typeface="Arial"/>
              </a:rPr>
              <a:t>Dùng 714 tuổi quan sát</a:t>
            </a:r>
          </a:p>
          <a:p xmlns:a="http://schemas.openxmlformats.org/drawingml/2006/main">
            <a:pPr>
              <a:buNone/>
              <a:defRPr sz="2250" b="0">
                <a:solidFill>
                  <a:srgbClr val="292622"/>
                </a:solidFill>
                <a:latin typeface="Arial"/>
                <a:ea typeface="Arial"/>
                <a:cs typeface="Arial"/>
              </a:defRPr>
            </a:pPr>
            <a:r>
              <a:rPr sz="2250" b="0">
                <a:solidFill>
                  <a:srgbClr val="292622"/>
                </a:solidFill>
                <a:latin typeface="Arial"/>
                <a:ea typeface="Arial"/>
                <a:cs typeface="Arial"/>
              </a:rPr>
              <a:t>cho phân tích chính.</a:t>
            </a:r>
          </a:p>
          <a:p xmlns:a="http://schemas.openxmlformats.org/drawingml/2006/main">
            <a:r>
              <a:t/>
            </a:r>
          </a:p>
          <a:p xmlns:a="http://schemas.openxmlformats.org/drawingml/2006/main">
            <a:pPr>
              <a:buNone/>
              <a:defRPr sz="2250" b="0">
                <a:solidFill>
                  <a:srgbClr val="292622"/>
                </a:solidFill>
                <a:latin typeface="Arial"/>
                <a:ea typeface="Arial"/>
                <a:cs typeface="Arial"/>
              </a:defRPr>
            </a:pPr>
            <a:r>
              <a:rPr sz="2250" b="0">
                <a:solidFill>
                  <a:srgbClr val="292622"/>
                </a:solidFill>
                <a:latin typeface="Arial"/>
                <a:ea typeface="Arial"/>
                <a:cs typeface="Arial"/>
              </a:rPr>
              <a:t>So sánh thêm hai cách điền</a:t>
            </a:r>
          </a:p>
          <a:p xmlns:a="http://schemas.openxmlformats.org/drawingml/2006/main">
            <a:pPr>
              <a:buNone/>
              <a:defRPr sz="2250" b="0">
                <a:solidFill>
                  <a:srgbClr val="292622"/>
                </a:solidFill>
                <a:latin typeface="Arial"/>
                <a:ea typeface="Arial"/>
                <a:cs typeface="Arial"/>
              </a:defRPr>
            </a:pPr>
            <a:r>
              <a:rPr sz="2250" b="0">
                <a:solidFill>
                  <a:srgbClr val="292622"/>
                </a:solidFill>
                <a:latin typeface="Arial"/>
                <a:ea typeface="Arial"/>
                <a:cs typeface="Arial"/>
              </a:rPr>
              <a:t>để kiểm tra độ nhạy.</a:t>
            </a:r>
          </a:p>
        </p:txBody>
      </p:sp>
      <p:sp>
        <p:nvSpPr>
          <p:cNvPr id="5" name="">
            <a:extLst xmlns:a="http://schemas.openxmlformats.org/drawingml/2006/main">
              <a:ext uri="{FF2B5EF4-FFF2-40B4-BE49-F238E27FC236}">
                <a16:creationId xmlns:a16="http://schemas.microsoft.com/office/drawing/2014/main" id="{51039902-C6F7-40C5-A756-73ED74844B25}"/>
              </a:ext>
            </a:extLst>
          </p:cNvPr>
          <p:cNvSpPr>
            <a:spLocks xmlns:a="http://schemas.openxmlformats.org/drawingml/2006/main" noGrp="1"/>
          </p:cNvSpPr>
          <p:nvPr/>
        </p:nvSpPr>
        <p:spPr>
          <a:xfrm xmlns:a="http://schemas.openxmlformats.org/drawingml/2006/main">
            <a:off x="6572250" y="17907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92622"/>
                </a:solidFill>
                <a:latin typeface="Arial"/>
                <a:ea typeface="Arial"/>
                <a:cs typeface="Arial"/>
              </a:defRPr>
            </a:defPPr>
          </a:lstStyle>
          <a:p xmlns:a="http://schemas.openxmlformats.org/drawingml/2006/main">
            <a:pPr>
              <a:buNone/>
              <a:defRPr sz="2100" b="1">
                <a:solidFill>
                  <a:srgbClr val="292622"/>
                </a:solidFill>
                <a:latin typeface="Arial"/>
                <a:ea typeface="Arial"/>
                <a:cs typeface="Arial"/>
              </a:defRPr>
            </a:pPr>
            <a:r>
              <a:rPr sz="2100" b="1">
                <a:solidFill>
                  <a:srgbClr val="292622"/>
                </a:solidFill>
                <a:latin typeface="Arial"/>
                <a:ea typeface="Arial"/>
                <a:cs typeface="Arial"/>
              </a:rPr>
              <a:t>CABIN   KHOANG</a:t>
            </a:r>
          </a:p>
        </p:txBody>
      </p:sp>
      <p:sp>
        <p:nvSpPr>
          <p:cNvPr id="6" name="">
            <a:extLst xmlns:a="http://schemas.openxmlformats.org/drawingml/2006/main">
              <a:ext uri="{FF2B5EF4-FFF2-40B4-BE49-F238E27FC236}">
                <a16:creationId xmlns:a16="http://schemas.microsoft.com/office/drawing/2014/main" id="{2ADE19A2-387A-49B4-9BF1-7C13D48D0FB5}"/>
              </a:ext>
            </a:extLst>
          </p:cNvPr>
          <p:cNvSpPr>
            <a:spLocks xmlns:a="http://schemas.openxmlformats.org/drawingml/2006/main" noGrp="1"/>
          </p:cNvSpPr>
          <p:nvPr/>
        </p:nvSpPr>
        <p:spPr>
          <a:xfrm xmlns:a="http://schemas.openxmlformats.org/drawingml/2006/main">
            <a:off x="6572250" y="240982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00" b="1">
                <a:solidFill>
                  <a:srgbClr val="A65332"/>
                </a:solidFill>
                <a:latin typeface="Arial"/>
                <a:ea typeface="Arial"/>
                <a:cs typeface="Arial"/>
              </a:defRPr>
            </a:defPPr>
          </a:lstStyle>
          <a:p xmlns:a="http://schemas.openxmlformats.org/drawingml/2006/main">
            <a:pPr>
              <a:buNone/>
              <a:defRPr sz="3900" b="1">
                <a:solidFill>
                  <a:srgbClr val="A65332"/>
                </a:solidFill>
                <a:latin typeface="Arial"/>
                <a:ea typeface="Arial"/>
                <a:cs typeface="Arial"/>
              </a:defRPr>
            </a:pPr>
            <a:r>
              <a:rPr sz="3900" b="1">
                <a:solidFill>
                  <a:srgbClr val="A65332"/>
                </a:solidFill>
                <a:latin typeface="Arial"/>
                <a:ea typeface="Arial"/>
                <a:cs typeface="Arial"/>
              </a:rPr>
              <a:t>77,1% thiếu</a:t>
            </a:r>
          </a:p>
        </p:txBody>
      </p:sp>
      <p:sp>
        <p:nvSpPr>
          <p:cNvPr id="7" name="">
            <a:extLst xmlns:a="http://schemas.openxmlformats.org/drawingml/2006/main">
              <a:ext uri="{FF2B5EF4-FFF2-40B4-BE49-F238E27FC236}">
                <a16:creationId xmlns:a16="http://schemas.microsoft.com/office/drawing/2014/main" id="{169AAAA2-B928-4069-A41A-2B3F8250361B}"/>
              </a:ext>
            </a:extLst>
          </p:cNvPr>
          <p:cNvSpPr>
            <a:spLocks xmlns:a="http://schemas.openxmlformats.org/drawingml/2006/main" noGrp="1"/>
          </p:cNvSpPr>
          <p:nvPr/>
        </p:nvSpPr>
        <p:spPr>
          <a:xfrm xmlns:a="http://schemas.openxmlformats.org/drawingml/2006/main">
            <a:off x="6572250" y="3486150"/>
            <a:ext cx="4953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292622"/>
                </a:solidFill>
                <a:latin typeface="Arial"/>
                <a:ea typeface="Arial"/>
                <a:cs typeface="Arial"/>
              </a:defRPr>
            </a:defPPr>
          </a:lstStyle>
          <a:p xmlns:a="http://schemas.openxmlformats.org/drawingml/2006/main">
            <a:pPr>
              <a:buNone/>
              <a:defRPr sz="2250" b="0">
                <a:solidFill>
                  <a:srgbClr val="292622"/>
                </a:solidFill>
                <a:latin typeface="Arial"/>
                <a:ea typeface="Arial"/>
                <a:cs typeface="Arial"/>
              </a:defRPr>
            </a:pPr>
            <a:r>
              <a:rPr sz="2250" b="0">
                <a:solidFill>
                  <a:srgbClr val="292622"/>
                </a:solidFill>
                <a:latin typeface="Arial"/>
                <a:ea typeface="Arial"/>
                <a:cs typeface="Arial"/>
              </a:rPr>
              <a:t>Bỏ cột khỏi bảng phân tích.</a:t>
            </a:r>
          </a:p>
          <a:p xmlns:a="http://schemas.openxmlformats.org/drawingml/2006/main">
            <a:pPr>
              <a:buNone/>
              <a:defRPr sz="2250" b="0">
                <a:solidFill>
                  <a:srgbClr val="292622"/>
                </a:solidFill>
                <a:latin typeface="Arial"/>
                <a:ea typeface="Arial"/>
                <a:cs typeface="Arial"/>
              </a:defRPr>
            </a:pPr>
            <a:r>
              <a:rPr sz="2250" b="0">
                <a:solidFill>
                  <a:srgbClr val="292622"/>
                </a:solidFill>
                <a:latin typeface="Arial"/>
                <a:ea typeface="Arial"/>
                <a:cs typeface="Arial"/>
              </a:rPr>
              <a:t>Giữ nguyên tệp CSV gốc.</a:t>
            </a:r>
          </a:p>
          <a:p xmlns:a="http://schemas.openxmlformats.org/drawingml/2006/main">
            <a:r>
              <a:t/>
            </a:r>
          </a:p>
          <a:p xmlns:a="http://schemas.openxmlformats.org/drawingml/2006/main">
            <a:pPr>
              <a:buNone/>
              <a:defRPr sz="2250" b="0">
                <a:solidFill>
                  <a:srgbClr val="292622"/>
                </a:solidFill>
                <a:latin typeface="Arial"/>
                <a:ea typeface="Arial"/>
                <a:cs typeface="Arial"/>
              </a:defRPr>
            </a:pPr>
            <a:r>
              <a:rPr sz="2250" b="0">
                <a:solidFill>
                  <a:srgbClr val="292622"/>
                </a:solidFill>
                <a:latin typeface="Arial"/>
                <a:ea typeface="Arial"/>
                <a:cs typeface="Arial"/>
              </a:rPr>
              <a:t>Vẫn giữ mọi hành khách</a:t>
            </a:r>
          </a:p>
          <a:p xmlns:a="http://schemas.openxmlformats.org/drawingml/2006/main">
            <a:pPr>
              <a:buNone/>
              <a:defRPr sz="2250" b="0">
                <a:solidFill>
                  <a:srgbClr val="292622"/>
                </a:solidFill>
                <a:latin typeface="Arial"/>
                <a:ea typeface="Arial"/>
                <a:cs typeface="Arial"/>
              </a:defRPr>
            </a:pPr>
            <a:r>
              <a:rPr sz="2250" b="0">
                <a:solidFill>
                  <a:srgbClr val="292622"/>
                </a:solidFill>
                <a:latin typeface="Arial"/>
                <a:ea typeface="Arial"/>
                <a:cs typeface="Arial"/>
              </a:rPr>
              <a:t>cho phân tích giới và hạng.</a:t>
            </a:r>
          </a:p>
        </p:txBody>
      </p:sp>
      <p:sp>
        <p:nvSpPr>
          <p:cNvPr id="8" name="">
            <a:extLst xmlns:a="http://schemas.openxmlformats.org/drawingml/2006/main">
              <a:ext uri="{FF2B5EF4-FFF2-40B4-BE49-F238E27FC236}">
                <a16:creationId xmlns:a16="http://schemas.microsoft.com/office/drawing/2014/main" id="{F66CDA96-2776-4EC2-BB79-FEEF4C1B2776}"/>
              </a:ext>
            </a:extLst>
          </p:cNvPr>
          <p:cNvSpPr>
            <a:spLocks xmlns:a="http://schemas.openxmlformats.org/drawingml/2006/main" noGrp="1"/>
          </p:cNvSpPr>
          <p:nvPr/>
        </p:nvSpPr>
        <p:spPr>
          <a:xfrm xmlns:a="http://schemas.openxmlformats.org/drawingml/2006/main">
            <a:off x="666750" y="57531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Giữ 891 hồ sơ. Chuẩn hóa kiểu và nhãn. Gắn cờ giá vé cao để xem xét.</a:t>
            </a:r>
          </a:p>
        </p:txBody>
      </p:sp>
      <p:sp>
        <p:nvSpPr>
          <p:cNvPr id="9" name="">
            <a:extLst xmlns:a="http://schemas.openxmlformats.org/drawingml/2006/main">
              <a:ext uri="{FF2B5EF4-FFF2-40B4-BE49-F238E27FC236}">
                <a16:creationId xmlns:a16="http://schemas.microsoft.com/office/drawing/2014/main" id="{8B425E1B-19D0-49F7-B217-CAA928D95F04}"/>
              </a:ext>
            </a:extLst>
          </p:cNvPr>
          <p:cNvSpPr>
            <a:spLocks xmlns:a="http://schemas.openxmlformats.org/drawingml/2006/main" noGrp="1"/>
          </p:cNvSpPr>
          <p:nvPr/>
        </p:nvSpPr>
        <p:spPr>
          <a:xfrm xmlns:a="http://schemas.openxmlformats.org/drawingml/2006/main">
            <a:off x="11049000" y="64293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A65332"/>
                </a:solidFill>
                <a:latin typeface="Arial"/>
                <a:ea typeface="Arial"/>
                <a:cs typeface="Arial"/>
              </a:defRPr>
            </a:defPPr>
          </a:lstStyle>
          <a:p xmlns:a="http://schemas.openxmlformats.org/drawingml/2006/main">
            <a:pPr>
              <a:buNone/>
              <a:defRPr sz="1800" b="1">
                <a:solidFill>
                  <a:srgbClr val="A65332"/>
                </a:solidFill>
                <a:latin typeface="Arial"/>
                <a:ea typeface="Arial"/>
                <a:cs typeface="Arial"/>
              </a:defRPr>
            </a:pPr>
            <a:r>
              <a:rPr sz="1800" b="1">
                <a:solidFill>
                  <a:srgbClr val="A65332"/>
                </a:solidFill>
                <a:latin typeface="Arial"/>
                <a:ea typeface="Arial"/>
                <a:cs typeface="Arial"/>
              </a:rPr>
              <a:t>03</a:t>
            </a:r>
          </a:p>
        </p:txBody>
      </p:sp>
    </p:spTree>
    <p:extLst>
      <p:ext uri="{BB962C8B-B14F-4D97-AF65-F5344CB8AC3E}">
        <p14:creationId xmlns:p14="http://schemas.microsoft.com/office/powerpoint/2010/main" val="1663050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1FA424-76E7-4B94-B229-F8D2F683BCBB}"/>
              </a:ext>
            </a:extLst>
          </p:cNvPr>
          <p:cNvSpPr>
            <a:spLocks xmlns:a="http://schemas.openxmlformats.org/drawingml/2006/main" noGrp="1"/>
          </p:cNvSpPr>
          <p:nvPr/>
        </p:nvSpPr>
        <p:spPr>
          <a:xfrm xmlns:a="http://schemas.openxmlformats.org/drawingml/2006/main">
            <a:off x="609600" y="4000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92622"/>
                </a:solidFill>
                <a:latin typeface="Arial"/>
                <a:ea typeface="Arial"/>
                <a:cs typeface="Arial"/>
              </a:defRPr>
            </a:defPPr>
          </a:lstStyle>
          <a:p xmlns:a="http://schemas.openxmlformats.org/drawingml/2006/main">
            <a:pPr>
              <a:buNone/>
              <a:defRPr sz="3300" b="1">
                <a:solidFill>
                  <a:srgbClr val="292622"/>
                </a:solidFill>
                <a:latin typeface="Arial"/>
                <a:ea typeface="Arial"/>
                <a:cs typeface="Arial"/>
              </a:defRPr>
            </a:pPr>
            <a:r>
              <a:rPr sz="3300" b="1">
                <a:solidFill>
                  <a:srgbClr val="292622"/>
                </a:solidFill>
                <a:latin typeface="Arial"/>
                <a:ea typeface="Arial"/>
                <a:cs typeface="Arial"/>
              </a:rPr>
              <a:t>Nữ sống 74,2%, nam sống 18,9%</a:t>
            </a:r>
          </a:p>
        </p:txBody>
      </p:sp>
      <p:sp>
        <p:nvSpPr>
          <p:cNvPr id="3" name="">
            <a:extLst xmlns:a="http://schemas.openxmlformats.org/drawingml/2006/main">
              <a:ext uri="{FF2B5EF4-FFF2-40B4-BE49-F238E27FC236}">
                <a16:creationId xmlns:a16="http://schemas.microsoft.com/office/drawing/2014/main" id="{E6458E02-50AE-46F1-96E3-246BD8AC1C9B}"/>
              </a:ext>
            </a:extLst>
          </p:cNvPr>
          <p:cNvSpPr>
            <a:spLocks xmlns:a="http://schemas.openxmlformats.org/drawingml/2006/main" noGrp="1"/>
          </p:cNvSpPr>
          <p:nvPr/>
        </p:nvSpPr>
        <p:spPr>
          <a:xfrm xmlns:a="http://schemas.openxmlformats.org/drawingml/2006/main">
            <a:off x="8572500" y="238125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6000" b="1">
                <a:solidFill>
                  <a:srgbClr val="A65332"/>
                </a:solidFill>
                <a:latin typeface="Arial"/>
                <a:ea typeface="Arial"/>
                <a:cs typeface="Arial"/>
              </a:defRPr>
            </a:defPPr>
          </a:lstStyle>
          <a:p xmlns:a="http://schemas.openxmlformats.org/drawingml/2006/main">
            <a:pPr>
              <a:buNone/>
              <a:defRPr sz="6000" b="1">
                <a:solidFill>
                  <a:srgbClr val="A65332"/>
                </a:solidFill>
                <a:latin typeface="Arial"/>
                <a:ea typeface="Arial"/>
                <a:cs typeface="Arial"/>
              </a:defRPr>
            </a:pPr>
            <a:r>
              <a:rPr sz="6000" b="1">
                <a:solidFill>
                  <a:srgbClr val="A65332"/>
                </a:solidFill>
                <a:latin typeface="Arial"/>
                <a:ea typeface="Arial"/>
                <a:cs typeface="Arial"/>
              </a:rPr>
              <a:t>55,3</a:t>
            </a:r>
          </a:p>
        </p:txBody>
      </p:sp>
      <p:sp>
        <p:nvSpPr>
          <p:cNvPr id="4" name="">
            <a:extLst xmlns:a="http://schemas.openxmlformats.org/drawingml/2006/main">
              <a:ext uri="{FF2B5EF4-FFF2-40B4-BE49-F238E27FC236}">
                <a16:creationId xmlns:a16="http://schemas.microsoft.com/office/drawing/2014/main" id="{5AA37C0B-626C-4A1D-8B2C-8236B1A673B0}"/>
              </a:ext>
            </a:extLst>
          </p:cNvPr>
          <p:cNvSpPr>
            <a:spLocks xmlns:a="http://schemas.openxmlformats.org/drawingml/2006/main" noGrp="1"/>
          </p:cNvSpPr>
          <p:nvPr/>
        </p:nvSpPr>
        <p:spPr>
          <a:xfrm xmlns:a="http://schemas.openxmlformats.org/drawingml/2006/main">
            <a:off x="8572500" y="34575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292622"/>
                </a:solidFill>
                <a:latin typeface="Arial"/>
                <a:ea typeface="Arial"/>
                <a:cs typeface="Arial"/>
              </a:defRPr>
            </a:defPPr>
          </a:lstStyle>
          <a:p xmlns:a="http://schemas.openxmlformats.org/drawingml/2006/main">
            <a:pPr>
              <a:buNone/>
              <a:defRPr sz="2325" b="0">
                <a:solidFill>
                  <a:srgbClr val="292622"/>
                </a:solidFill>
                <a:latin typeface="Arial"/>
                <a:ea typeface="Arial"/>
                <a:cs typeface="Arial"/>
              </a:defRPr>
            </a:pPr>
            <a:r>
              <a:rPr sz="2325" b="0">
                <a:solidFill>
                  <a:srgbClr val="292622"/>
                </a:solidFill>
                <a:latin typeface="Arial"/>
                <a:ea typeface="Arial"/>
                <a:cs typeface="Arial"/>
              </a:rPr>
              <a:t>điểm phần trăm</a:t>
            </a:r>
          </a:p>
          <a:p xmlns:a="http://schemas.openxmlformats.org/drawingml/2006/main">
            <a:pPr>
              <a:buNone/>
              <a:defRPr sz="2325" b="0">
                <a:solidFill>
                  <a:srgbClr val="292622"/>
                </a:solidFill>
                <a:latin typeface="Arial"/>
                <a:ea typeface="Arial"/>
                <a:cs typeface="Arial"/>
              </a:defRPr>
            </a:pPr>
            <a:r>
              <a:rPr sz="2325" b="0">
                <a:solidFill>
                  <a:srgbClr val="292622"/>
                </a:solidFill>
                <a:latin typeface="Arial"/>
                <a:ea typeface="Arial"/>
                <a:cs typeface="Arial"/>
              </a:rPr>
              <a:t>chênh lệch</a:t>
            </a:r>
          </a:p>
        </p:txBody>
      </p:sp>
      <p:sp>
        <p:nvSpPr>
          <p:cNvPr id="5" name="">
            <a:extLst xmlns:a="http://schemas.openxmlformats.org/drawingml/2006/main">
              <a:ext uri="{FF2B5EF4-FFF2-40B4-BE49-F238E27FC236}">
                <a16:creationId xmlns:a16="http://schemas.microsoft.com/office/drawing/2014/main" id="{B4849656-726B-46BB-A243-30FD3E3959C5}"/>
              </a:ext>
            </a:extLst>
          </p:cNvPr>
          <p:cNvSpPr>
            <a:spLocks xmlns:a="http://schemas.openxmlformats.org/drawingml/2006/main" noGrp="1"/>
          </p:cNvSpPr>
          <p:nvPr/>
        </p:nvSpPr>
        <p:spPr>
          <a:xfrm xmlns:a="http://schemas.openxmlformats.org/drawingml/2006/main">
            <a:off x="8572500" y="46291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Nữ: 233 người sống</a:t>
            </a:r>
          </a:p>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Nam: 109 người sống</a:t>
            </a:r>
          </a:p>
        </p:txBody>
      </p:sp>
      <p:sp>
        <p:nvSpPr>
          <p:cNvPr id="6" name="">
            <a:extLst xmlns:a="http://schemas.openxmlformats.org/drawingml/2006/main">
              <a:ext uri="{FF2B5EF4-FFF2-40B4-BE49-F238E27FC236}">
                <a16:creationId xmlns:a16="http://schemas.microsoft.com/office/drawing/2014/main" id="{039495E1-1CA3-486A-84FC-C63B83691C95}"/>
              </a:ext>
            </a:extLst>
          </p:cNvPr>
          <p:cNvSpPr>
            <a:spLocks xmlns:a="http://schemas.openxmlformats.org/drawingml/2006/main" noGrp="1"/>
          </p:cNvSpPr>
          <p:nvPr/>
        </p:nvSpPr>
        <p:spPr>
          <a:xfrm xmlns:a="http://schemas.openxmlformats.org/drawingml/2006/main">
            <a:off x="666750" y="57816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Chênh lệch rõ trong mẫu. Chưa thể xếp hạng tác động độc lập của các yếu tố.</a:t>
            </a:r>
          </a:p>
        </p:txBody>
      </p:sp>
      <p:sp>
        <p:nvSpPr>
          <p:cNvPr id="7" name="">
            <a:extLst xmlns:a="http://schemas.openxmlformats.org/drawingml/2006/main">
              <a:ext uri="{FF2B5EF4-FFF2-40B4-BE49-F238E27FC236}">
                <a16:creationId xmlns:a16="http://schemas.microsoft.com/office/drawing/2014/main" id="{8D4A7096-47BE-4D17-96BE-2349ECFFC147}"/>
              </a:ext>
            </a:extLst>
          </p:cNvPr>
          <p:cNvSpPr>
            <a:spLocks xmlns:a="http://schemas.openxmlformats.org/drawingml/2006/main" noGrp="1"/>
          </p:cNvSpPr>
          <p:nvPr/>
        </p:nvSpPr>
        <p:spPr>
          <a:xfrm xmlns:a="http://schemas.openxmlformats.org/drawingml/2006/main">
            <a:off x="11049000" y="64293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A65332"/>
                </a:solidFill>
                <a:latin typeface="Arial"/>
                <a:ea typeface="Arial"/>
                <a:cs typeface="Arial"/>
              </a:defRPr>
            </a:defPPr>
          </a:lstStyle>
          <a:p xmlns:a="http://schemas.openxmlformats.org/drawingml/2006/main">
            <a:pPr>
              <a:buNone/>
              <a:defRPr sz="1800" b="1">
                <a:solidFill>
                  <a:srgbClr val="A65332"/>
                </a:solidFill>
                <a:latin typeface="Arial"/>
                <a:ea typeface="Arial"/>
                <a:cs typeface="Arial"/>
              </a:defRPr>
            </a:pPr>
            <a:r>
              <a:rPr sz="1800" b="1">
                <a:solidFill>
                  <a:srgbClr val="A65332"/>
                </a:solidFill>
                <a:latin typeface="Arial"/>
                <a:ea typeface="Arial"/>
                <a:cs typeface="Arial"/>
              </a:rPr>
              <a:t>04</a:t>
            </a:r>
          </a:p>
        </p:txBody>
      </p:sp>
      <p:graphicFrame>
        <p:nvGraphicFramePr>
          <p:cNvPr id="9" name="Chart">
            <a:extLst xmlns:a="http://schemas.openxmlformats.org/drawingml/2006/main">
              <a:ext uri="{FF2B5EF4-FFF2-40B4-BE49-F238E27FC236}">
                <a16:creationId xmlns:a16="http://schemas.microsoft.com/office/drawing/2014/main" id="{79DD3BF0-9CA1-4185-A365-E034217DEF7E}"/>
              </a:ext>
            </a:extLst>
          </p:cNvPr>
          <p:cNvGraphicFramePr/>
          <p:nvPr/>
        </p:nvGraphicFramePr>
        <p:xfrm>
          <a:off xmlns:a="http://schemas.openxmlformats.org/drawingml/2006/main" x="609600" y="1762125"/>
          <a:ext xmlns:a="http://schemas.openxmlformats.org/drawingml/2006/main" cx="7477125" cy="3667125"/>
        </p:xfrm>
        <a:graphic xmlns:a="http://schemas.openxmlformats.org/drawingml/2006/main">
          <a:graphicData uri="http://schemas.openxmlformats.org/drawingml/2006/chart">
            <c:chart xmlns:r="http://schemas.openxmlformats.org/officeDocument/2006/relationships" xmlns:c="http://schemas.openxmlformats.org/drawingml/2006/chart" r:id="R00b5276096e1434a"/>
          </a:graphicData>
        </a:graphic>
      </p:graphicFrame>
    </p:spTree>
    <p:extLst>
      <p:ext uri="{BB962C8B-B14F-4D97-AF65-F5344CB8AC3E}">
        <p14:creationId xmlns:p14="http://schemas.microsoft.com/office/powerpoint/2010/main" val="402479218"/>
      </p:ext>
    </p:extLst>
  </p:cSld>
</p:sld>
</file>

<file path=ppt/slides/slide5.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9F0B5C-A2C7-4170-89DC-D05FAF1801F2}"/>
              </a:ext>
            </a:extLst>
          </p:cNvPr>
          <p:cNvSpPr>
            <a:spLocks xmlns:a="http://schemas.openxmlformats.org/drawingml/2006/main" noGrp="1"/>
          </p:cNvSpPr>
          <p:nvPr/>
        </p:nvSpPr>
        <p:spPr>
          <a:xfrm xmlns:a="http://schemas.openxmlformats.org/drawingml/2006/main">
            <a:off x="609600" y="4000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92622"/>
                </a:solidFill>
                <a:latin typeface="Arial"/>
                <a:ea typeface="Arial"/>
                <a:cs typeface="Arial"/>
              </a:defRPr>
            </a:defPPr>
          </a:lstStyle>
          <a:p xmlns:a="http://schemas.openxmlformats.org/drawingml/2006/main">
            <a:pPr>
              <a:buNone/>
              <a:defRPr sz="3300" b="1">
                <a:solidFill>
                  <a:srgbClr val="292622"/>
                </a:solidFill>
                <a:latin typeface="Arial"/>
                <a:ea typeface="Arial"/>
                <a:cs typeface="Arial"/>
              </a:defRPr>
            </a:pPr>
            <a:r>
              <a:rPr sz="3300" b="1">
                <a:solidFill>
                  <a:srgbClr val="292622"/>
                </a:solidFill>
                <a:latin typeface="Arial"/>
                <a:ea typeface="Arial"/>
                <a:cs typeface="Arial"/>
              </a:rPr>
              <a:t>“Phụ nữ và trẻ em trước” chỉ có hỗ trợ một phần</a:t>
            </a:r>
          </a:p>
        </p:txBody>
      </p:sp>
      <p:sp>
        <p:nvSpPr>
          <p:cNvPr id="3" name="">
            <a:extLst xmlns:a="http://schemas.openxmlformats.org/drawingml/2006/main">
              <a:ext uri="{FF2B5EF4-FFF2-40B4-BE49-F238E27FC236}">
                <a16:creationId xmlns:a16="http://schemas.microsoft.com/office/drawing/2014/main" id="{FA6AC25D-F75B-4A29-BDE0-A30E0D15CE47}"/>
              </a:ext>
            </a:extLst>
          </p:cNvPr>
          <p:cNvSpPr>
            <a:spLocks xmlns:a="http://schemas.openxmlformats.org/drawingml/2006/main" noGrp="1"/>
          </p:cNvSpPr>
          <p:nvPr/>
        </p:nvSpPr>
        <p:spPr>
          <a:xfrm xmlns:a="http://schemas.openxmlformats.org/drawingml/2006/main">
            <a:off x="8972550" y="2381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A65332"/>
                </a:solidFill>
                <a:latin typeface="Arial"/>
                <a:ea typeface="Arial"/>
                <a:cs typeface="Arial"/>
              </a:defRPr>
            </a:defPPr>
          </a:lstStyle>
          <a:p xmlns:a="http://schemas.openxmlformats.org/drawingml/2006/main">
            <a:pPr>
              <a:buNone/>
              <a:defRPr sz="2175" b="1">
                <a:solidFill>
                  <a:srgbClr val="A65332"/>
                </a:solidFill>
                <a:latin typeface="Arial"/>
                <a:ea typeface="Arial"/>
                <a:cs typeface="Arial"/>
              </a:defRPr>
            </a:pPr>
            <a:r>
              <a:rPr sz="2175" b="1">
                <a:solidFill>
                  <a:srgbClr val="A65332"/>
                </a:solidFill>
                <a:latin typeface="Arial"/>
                <a:ea typeface="Arial"/>
                <a:cs typeface="Arial"/>
              </a:rPr>
              <a:t>Trong nam</a:t>
            </a:r>
          </a:p>
          <a:p xmlns:a="http://schemas.openxmlformats.org/drawingml/2006/main">
            <a:pPr>
              <a:buNone/>
              <a:defRPr sz="2175" b="1">
                <a:solidFill>
                  <a:srgbClr val="A65332"/>
                </a:solidFill>
                <a:latin typeface="Arial"/>
                <a:ea typeface="Arial"/>
                <a:cs typeface="Arial"/>
              </a:defRPr>
            </a:pPr>
            <a:r>
              <a:rPr sz="2175" b="1">
                <a:solidFill>
                  <a:srgbClr val="A65332"/>
                </a:solidFill>
                <a:latin typeface="Arial"/>
                <a:ea typeface="Arial"/>
                <a:cs typeface="Arial"/>
              </a:rPr>
              <a:t>Trẻ em cao hơn</a:t>
            </a:r>
          </a:p>
        </p:txBody>
      </p:sp>
      <p:sp>
        <p:nvSpPr>
          <p:cNvPr id="4" name="">
            <a:extLst xmlns:a="http://schemas.openxmlformats.org/drawingml/2006/main">
              <a:ext uri="{FF2B5EF4-FFF2-40B4-BE49-F238E27FC236}">
                <a16:creationId xmlns:a16="http://schemas.microsoft.com/office/drawing/2014/main" id="{2EA1A72A-6666-4EB7-804D-8859BE425932}"/>
              </a:ext>
            </a:extLst>
          </p:cNvPr>
          <p:cNvSpPr>
            <a:spLocks xmlns:a="http://schemas.openxmlformats.org/drawingml/2006/main" noGrp="1"/>
          </p:cNvSpPr>
          <p:nvPr/>
        </p:nvSpPr>
        <p:spPr>
          <a:xfrm xmlns:a="http://schemas.openxmlformats.org/drawingml/2006/main">
            <a:off x="8972550" y="38100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92622"/>
                </a:solidFill>
                <a:latin typeface="Arial"/>
                <a:ea typeface="Arial"/>
                <a:cs typeface="Arial"/>
              </a:defRPr>
            </a:defPPr>
          </a:lstStyle>
          <a:p xmlns:a="http://schemas.openxmlformats.org/drawingml/2006/main">
            <a:pPr>
              <a:buNone/>
              <a:defRPr sz="2175" b="1">
                <a:solidFill>
                  <a:srgbClr val="292622"/>
                </a:solidFill>
                <a:latin typeface="Arial"/>
                <a:ea typeface="Arial"/>
                <a:cs typeface="Arial"/>
              </a:defRPr>
            </a:pPr>
            <a:r>
              <a:rPr sz="2175" b="1">
                <a:solidFill>
                  <a:srgbClr val="292622"/>
                </a:solidFill>
                <a:latin typeface="Arial"/>
                <a:ea typeface="Arial"/>
                <a:cs typeface="Arial"/>
              </a:rPr>
              <a:t>Trong nữ</a:t>
            </a:r>
          </a:p>
          <a:p xmlns:a="http://schemas.openxmlformats.org/drawingml/2006/main">
            <a:pPr>
              <a:buNone/>
              <a:defRPr sz="2175" b="1">
                <a:solidFill>
                  <a:srgbClr val="292622"/>
                </a:solidFill>
                <a:latin typeface="Arial"/>
                <a:ea typeface="Arial"/>
                <a:cs typeface="Arial"/>
              </a:defRPr>
            </a:pPr>
            <a:r>
              <a:rPr sz="2175" b="1">
                <a:solidFill>
                  <a:srgbClr val="292622"/>
                </a:solidFill>
                <a:latin typeface="Arial"/>
                <a:ea typeface="Arial"/>
                <a:cs typeface="Arial"/>
              </a:rPr>
              <a:t>Trẻ em thấp hơn</a:t>
            </a:r>
          </a:p>
        </p:txBody>
      </p:sp>
      <p:sp>
        <p:nvSpPr>
          <p:cNvPr id="5" name="">
            <a:extLst xmlns:a="http://schemas.openxmlformats.org/drawingml/2006/main">
              <a:ext uri="{FF2B5EF4-FFF2-40B4-BE49-F238E27FC236}">
                <a16:creationId xmlns:a16="http://schemas.microsoft.com/office/drawing/2014/main" id="{ED47453D-ACC1-4A70-8F0F-CB6F3FFA3B46}"/>
              </a:ext>
            </a:extLst>
          </p:cNvPr>
          <p:cNvSpPr>
            <a:spLocks xmlns:a="http://schemas.openxmlformats.org/drawingml/2006/main" noGrp="1"/>
          </p:cNvSpPr>
          <p:nvPr/>
        </p:nvSpPr>
        <p:spPr>
          <a:xfrm xmlns:a="http://schemas.openxmlformats.org/drawingml/2006/main">
            <a:off x="666750" y="5819775"/>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714 hồ sơ có tuổi. Nhóm &gt;12 gồm cả thiếu niên. Dữ liệu không ghi thứ tự cứu hộ.</a:t>
            </a:r>
          </a:p>
        </p:txBody>
      </p:sp>
      <p:sp>
        <p:nvSpPr>
          <p:cNvPr id="6" name="">
            <a:extLst xmlns:a="http://schemas.openxmlformats.org/drawingml/2006/main">
              <a:ext uri="{FF2B5EF4-FFF2-40B4-BE49-F238E27FC236}">
                <a16:creationId xmlns:a16="http://schemas.microsoft.com/office/drawing/2014/main" id="{02D10AB2-A883-4E3F-A12E-EA56EC7B4007}"/>
              </a:ext>
            </a:extLst>
          </p:cNvPr>
          <p:cNvSpPr>
            <a:spLocks xmlns:a="http://schemas.openxmlformats.org/drawingml/2006/main" noGrp="1"/>
          </p:cNvSpPr>
          <p:nvPr/>
        </p:nvSpPr>
        <p:spPr>
          <a:xfrm xmlns:a="http://schemas.openxmlformats.org/drawingml/2006/main">
            <a:off x="11049000" y="64293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A65332"/>
                </a:solidFill>
                <a:latin typeface="Arial"/>
                <a:ea typeface="Arial"/>
                <a:cs typeface="Arial"/>
              </a:defRPr>
            </a:defPPr>
          </a:lstStyle>
          <a:p xmlns:a="http://schemas.openxmlformats.org/drawingml/2006/main">
            <a:pPr>
              <a:buNone/>
              <a:defRPr sz="1800" b="1">
                <a:solidFill>
                  <a:srgbClr val="A65332"/>
                </a:solidFill>
                <a:latin typeface="Arial"/>
                <a:ea typeface="Arial"/>
                <a:cs typeface="Arial"/>
              </a:defRPr>
            </a:pPr>
            <a:r>
              <a:rPr sz="1800" b="1">
                <a:solidFill>
                  <a:srgbClr val="A65332"/>
                </a:solidFill>
                <a:latin typeface="Arial"/>
                <a:ea typeface="Arial"/>
                <a:cs typeface="Arial"/>
              </a:rPr>
              <a:t>05</a:t>
            </a:r>
          </a:p>
        </p:txBody>
      </p:sp>
      <p:graphicFrame>
        <p:nvGraphicFramePr>
          <p:cNvPr id="8" name="Chart">
            <a:extLst xmlns:a="http://schemas.openxmlformats.org/drawingml/2006/main">
              <a:ext uri="{FF2B5EF4-FFF2-40B4-BE49-F238E27FC236}">
                <a16:creationId xmlns:a16="http://schemas.microsoft.com/office/drawing/2014/main" id="{63C4597B-6097-4ABB-93EB-C7ABA470053A}"/>
              </a:ext>
            </a:extLst>
          </p:cNvPr>
          <p:cNvGraphicFramePr/>
          <p:nvPr/>
        </p:nvGraphicFramePr>
        <p:xfrm>
          <a:off xmlns:a="http://schemas.openxmlformats.org/drawingml/2006/main" x="609600" y="1733550"/>
          <a:ext xmlns:a="http://schemas.openxmlformats.org/drawingml/2006/main" cx="7953375" cy="3905250"/>
        </p:xfrm>
        <a:graphic xmlns:a="http://schemas.openxmlformats.org/drawingml/2006/main">
          <a:graphicData uri="http://schemas.openxmlformats.org/drawingml/2006/chart">
            <c:chart xmlns:r="http://schemas.openxmlformats.org/officeDocument/2006/relationships" xmlns:c="http://schemas.openxmlformats.org/drawingml/2006/chart" r:id="Ra62b20ddff0c4db2"/>
          </a:graphicData>
        </a:graphic>
      </p:graphicFrame>
    </p:spTree>
    <p:extLst>
      <p:ext uri="{BB962C8B-B14F-4D97-AF65-F5344CB8AC3E}">
        <p14:creationId xmlns:p14="http://schemas.microsoft.com/office/powerpoint/2010/main" val="14973915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F3EF38-581E-49B5-BEBE-019EA7CD88E6}"/>
              </a:ext>
            </a:extLst>
          </p:cNvPr>
          <p:cNvSpPr>
            <a:spLocks xmlns:a="http://schemas.openxmlformats.org/drawingml/2006/main" noGrp="1"/>
          </p:cNvSpPr>
          <p:nvPr/>
        </p:nvSpPr>
        <p:spPr>
          <a:xfrm xmlns:a="http://schemas.openxmlformats.org/drawingml/2006/main">
            <a:off x="609600" y="4000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92622"/>
                </a:solidFill>
                <a:latin typeface="Arial"/>
                <a:ea typeface="Arial"/>
                <a:cs typeface="Arial"/>
              </a:defRPr>
            </a:defPPr>
          </a:lstStyle>
          <a:p xmlns:a="http://schemas.openxmlformats.org/drawingml/2006/main">
            <a:pPr>
              <a:buNone/>
              <a:defRPr sz="3300" b="1">
                <a:solidFill>
                  <a:srgbClr val="292622"/>
                </a:solidFill>
                <a:latin typeface="Arial"/>
                <a:ea typeface="Arial"/>
                <a:cs typeface="Arial"/>
              </a:defRPr>
            </a:pPr>
            <a:r>
              <a:rPr sz="3300" b="1">
                <a:solidFill>
                  <a:srgbClr val="292622"/>
                </a:solidFill>
                <a:latin typeface="Arial"/>
                <a:ea typeface="Arial"/>
                <a:cs typeface="Arial"/>
              </a:rPr>
              <a:t>Hạng vé vẫn có liên hệ khi giữ cùng giới tính</a:t>
            </a:r>
          </a:p>
        </p:txBody>
      </p:sp>
      <p:sp>
        <p:nvSpPr>
          <p:cNvPr id="2" name="">
            <a:extLst xmlns:a="http://schemas.openxmlformats.org/drawingml/2006/main">
              <a:ext uri="{FF2B5EF4-FFF2-40B4-BE49-F238E27FC236}">
                <a16:creationId xmlns:a16="http://schemas.microsoft.com/office/drawing/2014/main" id="{421C0BD8-F01C-4C7E-A7F8-13FA01A430F0}"/>
              </a:ext>
            </a:extLst>
          </p:cNvPr>
          <p:cNvSpPr>
            <a:spLocks xmlns:a="http://schemas.openxmlformats.org/drawingml/2006/main" noGrp="1"/>
          </p:cNvSpPr>
          <p:nvPr/>
        </p:nvSpPr>
        <p:spPr>
          <a:xfrm xmlns:a="http://schemas.openxmlformats.org/drawingml/2006/main">
            <a:off x="666750" y="16954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71675E"/>
                </a:solidFill>
                <a:latin typeface="Arial"/>
                <a:ea typeface="Arial"/>
                <a:cs typeface="Arial"/>
              </a:defRPr>
            </a:defPPr>
          </a:lstStyle>
          <a:p xmlns:a="http://schemas.openxmlformats.org/drawingml/2006/main">
            <a:pPr>
              <a:buNone/>
              <a:defRPr sz="2025" b="0">
                <a:solidFill>
                  <a:srgbClr val="71675E"/>
                </a:solidFill>
                <a:latin typeface="Arial"/>
                <a:ea typeface="Arial"/>
                <a:cs typeface="Arial"/>
              </a:defRPr>
            </a:pPr>
            <a:r>
              <a:rPr sz="2025" b="0">
                <a:solidFill>
                  <a:srgbClr val="71675E"/>
                </a:solidFill>
                <a:latin typeface="Arial"/>
                <a:ea typeface="Arial"/>
                <a:cs typeface="Arial"/>
              </a:rPr>
              <a:t>Tỷ lệ sống theo giới tính và hạng vé (%)</a:t>
            </a:r>
          </a:p>
        </p:txBody>
      </p:sp>
      <p:graphicFrame>
        <p:nvGraphicFramePr>
          <p:cNvPr id="3" name="">
            <a:extLst xmlns:a="http://schemas.openxmlformats.org/drawingml/2006/main">
              <a:ext uri="{FF2B5EF4-FFF2-40B4-BE49-F238E27FC236}">
                <a16:creationId xmlns:a16="http://schemas.microsoft.com/office/drawing/2014/main" id="{CCA54885-8ECB-498C-9CA9-239B266DFD12}"/>
              </a:ext>
            </a:extLst>
          </p:cNvPr>
          <p:cNvGraphicFramePr/>
          <p:nvPr/>
        </p:nvGraphicFramePr>
        <p:xfrm>
          <a:off xmlns:a="http://schemas.openxmlformats.org/drawingml/2006/main" x="666750" y="2362200"/>
          <a:ext xmlns:a="http://schemas.openxmlformats.org/drawingml/2006/main" cx="7524750" cy="2400300"/>
        </p:xfrm>
        <a:graphic xmlns:a="http://schemas.openxmlformats.org/drawingml/2006/main">
          <a:graphicData uri="http://schemas.openxmlformats.org/drawingml/2006/table">
            <a:tbl>
              <a:tblPr/>
              <a:tblGrid>
                <a:gridCol w="1095375"/>
                <a:gridCol w="2143125"/>
                <a:gridCol w="2143125"/>
                <a:gridCol w="2143125"/>
              </a:tblGrid>
              <a:tr h="800100">
                <a:tc>
                  <a:txBody>
                    <a:bodyPr lIns="133350" tIns="133350" rIns="133350" bIns="133350"/>
                    <a:lstStyle/>
                    <a:p>
                      <a:r>
                        <a:rPr sz="2025" b="1">
                          <a:solidFill>
                            <a:srgbClr val="153A49"/>
                          </a:solidFill>
                          <a:latin typeface="Arial"/>
                          <a:ea typeface="Arial"/>
                          <a:cs typeface="Arial"/>
                        </a:rPr>
                        <a:t/>
                      </a:r>
                    </a:p>
                  </a:txBody>
                  <a:tcPr marL="91440" marR="91440" marT="45720" marB="45720" anchor="ctr">
                    <a:lnL w="47625">
                      <a:solidFill>
                        <a:srgbClr val="FFFFFF"/>
                      </a:solidFill>
                      <a:prstDash val="solid"/>
                    </a:lnL>
                    <a:lnR w="47625">
                      <a:solidFill>
                        <a:srgbClr val="FFFFFF"/>
                      </a:solidFill>
                      <a:prstDash val="solid"/>
                    </a:lnR>
                    <a:lnT w="47625">
                      <a:solidFill>
                        <a:srgbClr val="FFFFFF"/>
                      </a:solidFill>
                      <a:prstDash val="solid"/>
                    </a:lnT>
                    <a:lnB w="47625">
                      <a:solidFill>
                        <a:srgbClr val="FFFFFF"/>
                      </a:solidFill>
                      <a:prstDash val="solid"/>
                    </a:lnB>
                    <a:solidFill>
                      <a:srgbClr val="FFFFFF"/>
                    </a:solidFill>
                  </a:tcPr>
                </a:tc>
                <a:tc>
                  <a:txBody>
                    <a:bodyPr lIns="133350" tIns="133350" rIns="133350" bIns="133350"/>
                    <a:lstStyle/>
                    <a:p>
                      <a:pPr algn="ctr">
                        <a:buNone/>
                      </a:pPr>
                      <a:r>
                        <a:rPr sz="2025" b="1">
                          <a:solidFill>
                            <a:srgbClr val="292622"/>
                          </a:solidFill>
                          <a:latin typeface="Arial"/>
                          <a:ea typeface="Arial"/>
                          <a:cs typeface="Arial"/>
                        </a:rPr>
                        <a:t>Hạng 1</a:t>
                      </a:r>
                    </a:p>
                  </a:txBody>
                  <a:tcPr marL="91440" marR="91440" marT="45720" marB="45720" anchor="ctr">
                    <a:lnR w="47625">
                      <a:solidFill>
                        <a:srgbClr val="FFFFFF"/>
                      </a:solidFill>
                      <a:prstDash val="solid"/>
                    </a:lnR>
                    <a:lnT w="47625">
                      <a:solidFill>
                        <a:srgbClr val="FFFFFF"/>
                      </a:solidFill>
                      <a:prstDash val="solid"/>
                    </a:lnT>
                    <a:lnB w="47625">
                      <a:solidFill>
                        <a:srgbClr val="FFFFFF"/>
                      </a:solidFill>
                      <a:prstDash val="solid"/>
                    </a:lnB>
                    <a:solidFill>
                      <a:srgbClr val="FFFFFF"/>
                    </a:solidFill>
                  </a:tcPr>
                </a:tc>
                <a:tc>
                  <a:txBody>
                    <a:bodyPr lIns="133350" tIns="133350" rIns="133350" bIns="133350"/>
                    <a:lstStyle/>
                    <a:p>
                      <a:pPr algn="ctr">
                        <a:buNone/>
                      </a:pPr>
                      <a:r>
                        <a:rPr sz="2025" b="1">
                          <a:solidFill>
                            <a:srgbClr val="292622"/>
                          </a:solidFill>
                          <a:latin typeface="Arial"/>
                          <a:ea typeface="Arial"/>
                          <a:cs typeface="Arial"/>
                        </a:rPr>
                        <a:t>Hạng 2</a:t>
                      </a:r>
                    </a:p>
                  </a:txBody>
                  <a:tcPr marL="91440" marR="91440" marT="45720" marB="45720" anchor="ctr">
                    <a:lnR w="47625">
                      <a:solidFill>
                        <a:srgbClr val="FFFFFF"/>
                      </a:solidFill>
                      <a:prstDash val="solid"/>
                    </a:lnR>
                    <a:lnT w="47625">
                      <a:solidFill>
                        <a:srgbClr val="FFFFFF"/>
                      </a:solidFill>
                      <a:prstDash val="solid"/>
                    </a:lnT>
                    <a:lnB w="47625">
                      <a:solidFill>
                        <a:srgbClr val="FFFFFF"/>
                      </a:solidFill>
                      <a:prstDash val="solid"/>
                    </a:lnB>
                    <a:solidFill>
                      <a:srgbClr val="FFFFFF"/>
                    </a:solidFill>
                  </a:tcPr>
                </a:tc>
                <a:tc>
                  <a:txBody>
                    <a:bodyPr lIns="133350" tIns="133350" rIns="133350" bIns="133350"/>
                    <a:lstStyle/>
                    <a:p>
                      <a:pPr algn="ctr">
                        <a:buNone/>
                      </a:pPr>
                      <a:r>
                        <a:rPr sz="2025" b="1">
                          <a:solidFill>
                            <a:srgbClr val="292622"/>
                          </a:solidFill>
                          <a:latin typeface="Arial"/>
                          <a:ea typeface="Arial"/>
                          <a:cs typeface="Arial"/>
                        </a:rPr>
                        <a:t>Hạng 3</a:t>
                      </a:r>
                    </a:p>
                  </a:txBody>
                  <a:tcPr marL="91440" marR="91440" marT="45720" marB="45720" anchor="ctr">
                    <a:lnR w="47625">
                      <a:solidFill>
                        <a:srgbClr val="FFFFFF"/>
                      </a:solidFill>
                      <a:prstDash val="solid"/>
                    </a:lnR>
                    <a:lnT w="47625">
                      <a:solidFill>
                        <a:srgbClr val="FFFFFF"/>
                      </a:solidFill>
                      <a:prstDash val="solid"/>
                    </a:lnT>
                    <a:lnB w="47625">
                      <a:solidFill>
                        <a:srgbClr val="FFFFFF"/>
                      </a:solidFill>
                      <a:prstDash val="solid"/>
                    </a:lnB>
                    <a:solidFill>
                      <a:srgbClr val="FFFFFF"/>
                    </a:solidFill>
                  </a:tcPr>
                </a:tc>
              </a:tr>
              <a:tr h="800100">
                <a:tc>
                  <a:txBody>
                    <a:bodyPr lIns="133350" tIns="133350" rIns="133350" bIns="133350"/>
                    <a:lstStyle/>
                    <a:p>
                      <a:pPr algn="ctr">
                        <a:buNone/>
                      </a:pPr>
                      <a:r>
                        <a:rPr sz="2025" b="1">
                          <a:solidFill>
                            <a:srgbClr val="292622"/>
                          </a:solidFill>
                          <a:latin typeface="Arial"/>
                          <a:ea typeface="Arial"/>
                          <a:cs typeface="Arial"/>
                        </a:rPr>
                        <a:t>Nữ</a:t>
                      </a:r>
                    </a:p>
                  </a:txBody>
                  <a:tcPr marL="91440" marR="91440" marT="45720" marB="45720" anchor="ctr">
                    <a:lnL w="47625">
                      <a:solidFill>
                        <a:srgbClr val="FFFFFF"/>
                      </a:solidFill>
                      <a:prstDash val="solid"/>
                    </a:lnL>
                    <a:lnR w="47625">
                      <a:solidFill>
                        <a:srgbClr val="FFFFFF"/>
                      </a:solidFill>
                      <a:prstDash val="solid"/>
                    </a:lnR>
                    <a:lnB w="47625">
                      <a:solidFill>
                        <a:srgbClr val="FFFFFF"/>
                      </a:solidFill>
                      <a:prstDash val="solid"/>
                    </a:lnB>
                    <a:solidFill>
                      <a:srgbClr val="FFFFFF"/>
                    </a:solidFill>
                  </a:tcPr>
                </a:tc>
                <a:tc>
                  <a:txBody>
                    <a:bodyPr lIns="133350" tIns="133350" rIns="133350" bIns="133350"/>
                    <a:lstStyle/>
                    <a:p>
                      <a:pPr algn="ctr">
                        <a:buNone/>
                      </a:pPr>
                      <a:r>
                        <a:rPr sz="2400" b="1">
                          <a:solidFill>
                            <a:srgbClr val="FFFFFF"/>
                          </a:solidFill>
                          <a:latin typeface="Arial"/>
                          <a:ea typeface="Arial"/>
                          <a:cs typeface="Arial"/>
                        </a:rPr>
                        <a:t>96,8%</a:t>
                      </a:r>
                    </a:p>
                  </a:txBody>
                  <a:tcPr marL="91440" marR="91440" marT="45720" marB="45720" anchor="ctr">
                    <a:lnR w="47625">
                      <a:solidFill>
                        <a:srgbClr val="FFFFFF"/>
                      </a:solidFill>
                      <a:prstDash val="solid"/>
                    </a:lnR>
                    <a:lnB w="47625">
                      <a:solidFill>
                        <a:srgbClr val="FFFFFF"/>
                      </a:solidFill>
                      <a:prstDash val="solid"/>
                    </a:lnB>
                    <a:solidFill>
                      <a:srgbClr val="944828"/>
                    </a:solidFill>
                  </a:tcPr>
                </a:tc>
                <a:tc>
                  <a:txBody>
                    <a:bodyPr lIns="133350" tIns="133350" rIns="133350" bIns="133350"/>
                    <a:lstStyle/>
                    <a:p>
                      <a:pPr algn="ctr">
                        <a:buNone/>
                      </a:pPr>
                      <a:r>
                        <a:rPr sz="2400" b="1">
                          <a:solidFill>
                            <a:srgbClr val="FFFFFF"/>
                          </a:solidFill>
                          <a:latin typeface="Arial"/>
                          <a:ea typeface="Arial"/>
                          <a:cs typeface="Arial"/>
                        </a:rPr>
                        <a:t>92,1%</a:t>
                      </a:r>
                    </a:p>
                  </a:txBody>
                  <a:tcPr marL="91440" marR="91440" marT="45720" marB="45720" anchor="ctr">
                    <a:lnR w="47625">
                      <a:solidFill>
                        <a:srgbClr val="FFFFFF"/>
                      </a:solidFill>
                      <a:prstDash val="solid"/>
                    </a:lnR>
                    <a:lnB w="47625">
                      <a:solidFill>
                        <a:srgbClr val="FFFFFF"/>
                      </a:solidFill>
                      <a:prstDash val="solid"/>
                    </a:lnB>
                    <a:solidFill>
                      <a:srgbClr val="995031"/>
                    </a:solidFill>
                  </a:tcPr>
                </a:tc>
                <a:tc>
                  <a:txBody>
                    <a:bodyPr lIns="133350" tIns="133350" rIns="133350" bIns="133350"/>
                    <a:lstStyle/>
                    <a:p>
                      <a:pPr algn="ctr">
                        <a:buNone/>
                      </a:pPr>
                      <a:r>
                        <a:rPr sz="2400" b="1">
                          <a:solidFill>
                            <a:srgbClr val="292622"/>
                          </a:solidFill>
                          <a:latin typeface="Arial"/>
                          <a:ea typeface="Arial"/>
                          <a:cs typeface="Arial"/>
                        </a:rPr>
                        <a:t>50,0%</a:t>
                      </a:r>
                    </a:p>
                  </a:txBody>
                  <a:tcPr marL="91440" marR="91440" marT="45720" marB="45720" anchor="ctr">
                    <a:lnR w="47625">
                      <a:solidFill>
                        <a:srgbClr val="FFFFFF"/>
                      </a:solidFill>
                      <a:prstDash val="solid"/>
                    </a:lnR>
                    <a:lnB w="47625">
                      <a:solidFill>
                        <a:srgbClr val="FFFFFF"/>
                      </a:solidFill>
                      <a:prstDash val="solid"/>
                    </a:lnB>
                    <a:solidFill>
                      <a:srgbClr val="C49982"/>
                    </a:solidFill>
                  </a:tcPr>
                </a:tc>
              </a:tr>
              <a:tr h="800100">
                <a:tc>
                  <a:txBody>
                    <a:bodyPr lIns="133350" tIns="133350" rIns="133350" bIns="133350"/>
                    <a:lstStyle/>
                    <a:p>
                      <a:pPr algn="ctr">
                        <a:buNone/>
                      </a:pPr>
                      <a:r>
                        <a:rPr sz="2025" b="1">
                          <a:solidFill>
                            <a:srgbClr val="292622"/>
                          </a:solidFill>
                          <a:latin typeface="Arial"/>
                          <a:ea typeface="Arial"/>
                          <a:cs typeface="Arial"/>
                        </a:rPr>
                        <a:t>Nam</a:t>
                      </a:r>
                    </a:p>
                  </a:txBody>
                  <a:tcPr marL="91440" marR="91440" marT="45720" marB="45720" anchor="ctr">
                    <a:lnL w="47625">
                      <a:solidFill>
                        <a:srgbClr val="FFFFFF"/>
                      </a:solidFill>
                      <a:prstDash val="solid"/>
                    </a:lnL>
                    <a:lnR w="47625">
                      <a:solidFill>
                        <a:srgbClr val="FFFFFF"/>
                      </a:solidFill>
                      <a:prstDash val="solid"/>
                    </a:lnR>
                    <a:lnB w="47625">
                      <a:solidFill>
                        <a:srgbClr val="FFFFFF"/>
                      </a:solidFill>
                      <a:prstDash val="solid"/>
                    </a:lnB>
                    <a:solidFill>
                      <a:srgbClr val="FFFFFF"/>
                    </a:solidFill>
                  </a:tcPr>
                </a:tc>
                <a:tc>
                  <a:txBody>
                    <a:bodyPr lIns="133350" tIns="133350" rIns="133350" bIns="133350"/>
                    <a:lstStyle/>
                    <a:p>
                      <a:pPr algn="ctr">
                        <a:buNone/>
                      </a:pPr>
                      <a:r>
                        <a:rPr sz="2400" b="1">
                          <a:solidFill>
                            <a:srgbClr val="292622"/>
                          </a:solidFill>
                          <a:latin typeface="Arial"/>
                          <a:ea typeface="Arial"/>
                          <a:cs typeface="Arial"/>
                        </a:rPr>
                        <a:t>36,9%</a:t>
                      </a:r>
                    </a:p>
                  </a:txBody>
                  <a:tcPr marL="91440" marR="91440" marT="45720" marB="45720" anchor="ctr">
                    <a:lnR w="47625">
                      <a:solidFill>
                        <a:srgbClr val="FFFFFF"/>
                      </a:solidFill>
                      <a:prstDash val="solid"/>
                    </a:lnR>
                    <a:lnB w="47625">
                      <a:solidFill>
                        <a:srgbClr val="FFFFFF"/>
                      </a:solidFill>
                      <a:prstDash val="solid"/>
                    </a:lnB>
                    <a:solidFill>
                      <a:srgbClr val="D1AF9B"/>
                    </a:solidFill>
                  </a:tcPr>
                </a:tc>
                <a:tc>
                  <a:txBody>
                    <a:bodyPr lIns="133350" tIns="133350" rIns="133350" bIns="133350"/>
                    <a:lstStyle/>
                    <a:p>
                      <a:pPr algn="ctr">
                        <a:buNone/>
                      </a:pPr>
                      <a:r>
                        <a:rPr sz="2400" b="1">
                          <a:solidFill>
                            <a:srgbClr val="292622"/>
                          </a:solidFill>
                          <a:latin typeface="Arial"/>
                          <a:ea typeface="Arial"/>
                          <a:cs typeface="Arial"/>
                        </a:rPr>
                        <a:t>15,7%</a:t>
                      </a:r>
                    </a:p>
                  </a:txBody>
                  <a:tcPr marL="91440" marR="91440" marT="45720" marB="45720" anchor="ctr">
                    <a:lnR w="47625">
                      <a:solidFill>
                        <a:srgbClr val="FFFFFF"/>
                      </a:solidFill>
                      <a:prstDash val="solid"/>
                    </a:lnR>
                    <a:lnB w="47625">
                      <a:solidFill>
                        <a:srgbClr val="FFFFFF"/>
                      </a:solidFill>
                      <a:prstDash val="solid"/>
                    </a:lnB>
                    <a:solidFill>
                      <a:srgbClr val="E7D4C4"/>
                    </a:solidFill>
                  </a:tcPr>
                </a:tc>
                <a:tc>
                  <a:txBody>
                    <a:bodyPr lIns="133350" tIns="133350" rIns="133350" bIns="133350"/>
                    <a:lstStyle/>
                    <a:p>
                      <a:pPr algn="ctr">
                        <a:buNone/>
                      </a:pPr>
                      <a:r>
                        <a:rPr sz="2400" b="1">
                          <a:solidFill>
                            <a:srgbClr val="292622"/>
                          </a:solidFill>
                          <a:latin typeface="Arial"/>
                          <a:ea typeface="Arial"/>
                          <a:cs typeface="Arial"/>
                        </a:rPr>
                        <a:t>13,5%</a:t>
                      </a:r>
                    </a:p>
                  </a:txBody>
                  <a:tcPr marL="91440" marR="91440" marT="45720" marB="45720" anchor="ctr">
                    <a:lnR w="47625">
                      <a:solidFill>
                        <a:srgbClr val="FFFFFF"/>
                      </a:solidFill>
                      <a:prstDash val="solid"/>
                    </a:lnR>
                    <a:lnB w="47625">
                      <a:solidFill>
                        <a:srgbClr val="FFFFFF"/>
                      </a:solidFill>
                      <a:prstDash val="solid"/>
                    </a:lnB>
                    <a:solidFill>
                      <a:srgbClr val="E9D8C8"/>
                    </a:solidFill>
                  </a:tcPr>
                </a:tc>
              </a:tr>
            </a:tbl>
          </a:graphicData>
        </a:graphic>
      </p:graphicFrame>
      <p:sp>
        <p:nvSpPr>
          <p:cNvPr id="4" name="">
            <a:extLst xmlns:a="http://schemas.openxmlformats.org/drawingml/2006/main">
              <a:ext uri="{FF2B5EF4-FFF2-40B4-BE49-F238E27FC236}">
                <a16:creationId xmlns:a16="http://schemas.microsoft.com/office/drawing/2014/main" id="{3A3BD899-41C3-408E-A0B2-82E1897C75F4}"/>
              </a:ext>
            </a:extLst>
          </p:cNvPr>
          <p:cNvSpPr>
            <a:spLocks xmlns:a="http://schemas.openxmlformats.org/drawingml/2006/main" noGrp="1"/>
          </p:cNvSpPr>
          <p:nvPr/>
        </p:nvSpPr>
        <p:spPr>
          <a:xfrm xmlns:a="http://schemas.openxmlformats.org/drawingml/2006/main">
            <a:off x="8686800" y="2466975"/>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A65332"/>
                </a:solidFill>
                <a:latin typeface="Arial"/>
                <a:ea typeface="Arial"/>
                <a:cs typeface="Arial"/>
              </a:defRPr>
            </a:defPPr>
          </a:lstStyle>
          <a:p xmlns:a="http://schemas.openxmlformats.org/drawingml/2006/main">
            <a:pPr>
              <a:buNone/>
              <a:defRPr sz="2100" b="1">
                <a:solidFill>
                  <a:srgbClr val="A65332"/>
                </a:solidFill>
                <a:latin typeface="Arial"/>
                <a:ea typeface="Arial"/>
                <a:cs typeface="Arial"/>
              </a:defRPr>
            </a:pPr>
            <a:r>
              <a:rPr sz="2100" b="1">
                <a:solidFill>
                  <a:srgbClr val="A65332"/>
                </a:solidFill>
                <a:latin typeface="Arial"/>
                <a:ea typeface="Arial"/>
                <a:cs typeface="Arial"/>
              </a:rPr>
              <a:t>Trong nữ</a:t>
            </a:r>
          </a:p>
          <a:p xmlns:a="http://schemas.openxmlformats.org/drawingml/2006/main">
            <a:pPr>
              <a:buNone/>
              <a:defRPr sz="2100" b="1">
                <a:solidFill>
                  <a:srgbClr val="A65332"/>
                </a:solidFill>
                <a:latin typeface="Arial"/>
                <a:ea typeface="Arial"/>
                <a:cs typeface="Arial"/>
              </a:defRPr>
            </a:pPr>
            <a:r>
              <a:rPr sz="2100" b="1">
                <a:solidFill>
                  <a:srgbClr val="A65332"/>
                </a:solidFill>
                <a:latin typeface="Arial"/>
                <a:ea typeface="Arial"/>
                <a:cs typeface="Arial"/>
              </a:rPr>
              <a:t>Hạng 1 gần gấp đôi hạng 3</a:t>
            </a:r>
          </a:p>
        </p:txBody>
      </p:sp>
      <p:sp>
        <p:nvSpPr>
          <p:cNvPr id="5" name="">
            <a:extLst xmlns:a="http://schemas.openxmlformats.org/drawingml/2006/main">
              <a:ext uri="{FF2B5EF4-FFF2-40B4-BE49-F238E27FC236}">
                <a16:creationId xmlns:a16="http://schemas.microsoft.com/office/drawing/2014/main" id="{CB0969B7-EA3C-4709-AE37-F750DD8DF1F1}"/>
              </a:ext>
            </a:extLst>
          </p:cNvPr>
          <p:cNvSpPr>
            <a:spLocks xmlns:a="http://schemas.openxmlformats.org/drawingml/2006/main" noGrp="1"/>
          </p:cNvSpPr>
          <p:nvPr/>
        </p:nvSpPr>
        <p:spPr>
          <a:xfrm xmlns:a="http://schemas.openxmlformats.org/drawingml/2006/main">
            <a:off x="8686800" y="3857625"/>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92622"/>
                </a:solidFill>
                <a:latin typeface="Arial"/>
                <a:ea typeface="Arial"/>
                <a:cs typeface="Arial"/>
              </a:defRPr>
            </a:defPPr>
          </a:lstStyle>
          <a:p xmlns:a="http://schemas.openxmlformats.org/drawingml/2006/main">
            <a:pPr>
              <a:buNone/>
              <a:defRPr sz="2100" b="1">
                <a:solidFill>
                  <a:srgbClr val="292622"/>
                </a:solidFill>
                <a:latin typeface="Arial"/>
                <a:ea typeface="Arial"/>
                <a:cs typeface="Arial"/>
              </a:defRPr>
            </a:pPr>
            <a:r>
              <a:rPr sz="2100" b="1">
                <a:solidFill>
                  <a:srgbClr val="292622"/>
                </a:solidFill>
                <a:latin typeface="Arial"/>
                <a:ea typeface="Arial"/>
                <a:cs typeface="Arial"/>
              </a:rPr>
              <a:t>Trong nam</a:t>
            </a:r>
          </a:p>
          <a:p xmlns:a="http://schemas.openxmlformats.org/drawingml/2006/main">
            <a:pPr>
              <a:buNone/>
              <a:defRPr sz="2100" b="1">
                <a:solidFill>
                  <a:srgbClr val="292622"/>
                </a:solidFill>
                <a:latin typeface="Arial"/>
                <a:ea typeface="Arial"/>
                <a:cs typeface="Arial"/>
              </a:defRPr>
            </a:pPr>
            <a:r>
              <a:rPr sz="2100" b="1">
                <a:solidFill>
                  <a:srgbClr val="292622"/>
                </a:solidFill>
                <a:latin typeface="Arial"/>
                <a:ea typeface="Arial"/>
                <a:cs typeface="Arial"/>
              </a:rPr>
              <a:t>Hạng 1 cũng cao hơn hạng 3</a:t>
            </a:r>
          </a:p>
        </p:txBody>
      </p:sp>
      <p:sp>
        <p:nvSpPr>
          <p:cNvPr id="6" name="">
            <a:extLst xmlns:a="http://schemas.openxmlformats.org/drawingml/2006/main">
              <a:ext uri="{FF2B5EF4-FFF2-40B4-BE49-F238E27FC236}">
                <a16:creationId xmlns:a16="http://schemas.microsoft.com/office/drawing/2014/main" id="{BDA65EED-AEB3-4F73-8922-1727DDF840C9}"/>
              </a:ext>
            </a:extLst>
          </p:cNvPr>
          <p:cNvSpPr>
            <a:spLocks xmlns:a="http://schemas.openxmlformats.org/drawingml/2006/main" noGrp="1"/>
          </p:cNvSpPr>
          <p:nvPr/>
        </p:nvSpPr>
        <p:spPr>
          <a:xfrm xmlns:a="http://schemas.openxmlformats.org/drawingml/2006/main">
            <a:off x="666750" y="50958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Màu đậm: tỷ lệ sống cao hơn. Thang màu từ 0% đến 100%.</a:t>
            </a:r>
          </a:p>
        </p:txBody>
      </p:sp>
      <p:sp>
        <p:nvSpPr>
          <p:cNvPr id="7" name="">
            <a:extLst xmlns:a="http://schemas.openxmlformats.org/drawingml/2006/main">
              <a:ext uri="{FF2B5EF4-FFF2-40B4-BE49-F238E27FC236}">
                <a16:creationId xmlns:a16="http://schemas.microsoft.com/office/drawing/2014/main" id="{77BFA0C3-50DF-45F2-AECE-F4533047484A}"/>
              </a:ext>
            </a:extLst>
          </p:cNvPr>
          <p:cNvSpPr>
            <a:spLocks xmlns:a="http://schemas.openxmlformats.org/drawingml/2006/main" noGrp="1"/>
          </p:cNvSpPr>
          <p:nvPr/>
        </p:nvSpPr>
        <p:spPr>
          <a:xfrm xmlns:a="http://schemas.openxmlformats.org/drawingml/2006/main">
            <a:off x="666750" y="5838825"/>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A65332"/>
                </a:solidFill>
                <a:latin typeface="Arial"/>
                <a:ea typeface="Arial"/>
                <a:cs typeface="Arial"/>
              </a:defRPr>
            </a:defPPr>
          </a:lstStyle>
          <a:p xmlns:a="http://schemas.openxmlformats.org/drawingml/2006/main">
            <a:pPr>
              <a:buNone/>
              <a:defRPr sz="1800" b="1">
                <a:solidFill>
                  <a:srgbClr val="A65332"/>
                </a:solidFill>
                <a:latin typeface="Arial"/>
                <a:ea typeface="Arial"/>
                <a:cs typeface="Arial"/>
              </a:defRPr>
            </a:pPr>
            <a:r>
              <a:rPr sz="1800" b="1">
                <a:solidFill>
                  <a:srgbClr val="A65332"/>
                </a:solidFill>
                <a:latin typeface="Arial"/>
                <a:ea typeface="Arial"/>
                <a:cs typeface="Arial"/>
              </a:rPr>
              <a:t>Liên hệ còn sau phân tầng. Chưa chứng minh nhân quả hay vai trò trung gian.</a:t>
            </a:r>
          </a:p>
        </p:txBody>
      </p:sp>
      <p:sp>
        <p:nvSpPr>
          <p:cNvPr id="8" name="">
            <a:extLst xmlns:a="http://schemas.openxmlformats.org/drawingml/2006/main">
              <a:ext uri="{FF2B5EF4-FFF2-40B4-BE49-F238E27FC236}">
                <a16:creationId xmlns:a16="http://schemas.microsoft.com/office/drawing/2014/main" id="{7BA3DA46-8642-4C8C-8F68-E108F49C1296}"/>
              </a:ext>
            </a:extLst>
          </p:cNvPr>
          <p:cNvSpPr>
            <a:spLocks xmlns:a="http://schemas.openxmlformats.org/drawingml/2006/main" noGrp="1"/>
          </p:cNvSpPr>
          <p:nvPr/>
        </p:nvSpPr>
        <p:spPr>
          <a:xfrm xmlns:a="http://schemas.openxmlformats.org/drawingml/2006/main">
            <a:off x="11049000" y="64293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A65332"/>
                </a:solidFill>
                <a:latin typeface="Arial"/>
                <a:ea typeface="Arial"/>
                <a:cs typeface="Arial"/>
              </a:defRPr>
            </a:defPPr>
          </a:lstStyle>
          <a:p xmlns:a="http://schemas.openxmlformats.org/drawingml/2006/main">
            <a:pPr>
              <a:buNone/>
              <a:defRPr sz="1800" b="1">
                <a:solidFill>
                  <a:srgbClr val="A65332"/>
                </a:solidFill>
                <a:latin typeface="Arial"/>
                <a:ea typeface="Arial"/>
                <a:cs typeface="Arial"/>
              </a:defRPr>
            </a:pPr>
            <a:r>
              <a:rPr sz="1800" b="1">
                <a:solidFill>
                  <a:srgbClr val="A65332"/>
                </a:solidFill>
                <a:latin typeface="Arial"/>
                <a:ea typeface="Arial"/>
                <a:cs typeface="Arial"/>
              </a:rPr>
              <a:t>06</a:t>
            </a:r>
          </a:p>
        </p:txBody>
      </p:sp>
    </p:spTree>
    <p:extLst>
      <p:ext uri="{BB962C8B-B14F-4D97-AF65-F5344CB8AC3E}">
        <p14:creationId xmlns:p14="http://schemas.microsoft.com/office/powerpoint/2010/main" val="521807779"/>
      </p:ext>
    </p:extLst>
  </p:cSld>
</p:sld>
</file>

<file path=ppt/slides/slide7.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491AD71-5C1E-4BE7-9CCC-EEBB8D65821E}"/>
              </a:ext>
            </a:extLst>
          </p:cNvPr>
          <p:cNvSpPr>
            <a:spLocks xmlns:a="http://schemas.openxmlformats.org/drawingml/2006/main" noGrp="1"/>
          </p:cNvSpPr>
          <p:nvPr/>
        </p:nvSpPr>
        <p:spPr>
          <a:xfrm xmlns:a="http://schemas.openxmlformats.org/drawingml/2006/main">
            <a:off x="609600" y="4000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92622"/>
                </a:solidFill>
                <a:latin typeface="Arial"/>
                <a:ea typeface="Arial"/>
                <a:cs typeface="Arial"/>
              </a:defRPr>
            </a:defPPr>
          </a:lstStyle>
          <a:p xmlns:a="http://schemas.openxmlformats.org/drawingml/2006/main">
            <a:pPr>
              <a:buNone/>
              <a:defRPr sz="3300" b="1">
                <a:solidFill>
                  <a:srgbClr val="292622"/>
                </a:solidFill>
                <a:latin typeface="Arial"/>
                <a:ea typeface="Arial"/>
                <a:cs typeface="Arial"/>
              </a:defRPr>
            </a:pPr>
            <a:r>
              <a:rPr sz="3300" b="1">
                <a:solidFill>
                  <a:srgbClr val="292622"/>
                </a:solidFill>
                <a:latin typeface="Arial"/>
                <a:ea typeface="Arial"/>
                <a:cs typeface="Arial"/>
              </a:rPr>
              <a:t>Khác biệt rõ, nhưng chưa xác định nguyên nhân</a:t>
            </a:r>
          </a:p>
        </p:txBody>
      </p:sp>
      <p:sp>
        <p:nvSpPr>
          <p:cNvPr id="2" name="">
            <a:extLst xmlns:a="http://schemas.openxmlformats.org/drawingml/2006/main">
              <a:ext uri="{FF2B5EF4-FFF2-40B4-BE49-F238E27FC236}">
                <a16:creationId xmlns:a16="http://schemas.microsoft.com/office/drawing/2014/main" id="{4D429D40-4859-497A-8AC3-4553E4D284C5}"/>
              </a:ext>
            </a:extLst>
          </p:cNvPr>
          <p:cNvSpPr>
            <a:spLocks xmlns:a="http://schemas.openxmlformats.org/drawingml/2006/main" noGrp="1"/>
          </p:cNvSpPr>
          <p:nvPr/>
        </p:nvSpPr>
        <p:spPr>
          <a:xfrm xmlns:a="http://schemas.openxmlformats.org/drawingml/2006/main">
            <a:off x="666750" y="18764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00" b="1">
                <a:solidFill>
                  <a:srgbClr val="A65332"/>
                </a:solidFill>
                <a:latin typeface="Arial"/>
                <a:ea typeface="Arial"/>
                <a:cs typeface="Arial"/>
              </a:defRPr>
            </a:defPPr>
          </a:lstStyle>
          <a:p xmlns:a="http://schemas.openxmlformats.org/drawingml/2006/main">
            <a:pPr>
              <a:buNone/>
              <a:defRPr sz="3900" b="1">
                <a:solidFill>
                  <a:srgbClr val="A65332"/>
                </a:solidFill>
                <a:latin typeface="Arial"/>
                <a:ea typeface="Arial"/>
                <a:cs typeface="Arial"/>
              </a:defRPr>
            </a:pPr>
            <a:r>
              <a:rPr sz="3900" b="1">
                <a:solidFill>
                  <a:srgbClr val="A65332"/>
                </a:solidFill>
                <a:latin typeface="Arial"/>
                <a:ea typeface="Arial"/>
                <a:cs typeface="Arial"/>
              </a:rPr>
              <a:t>55,3</a:t>
            </a:r>
          </a:p>
        </p:txBody>
      </p:sp>
      <p:sp>
        <p:nvSpPr>
          <p:cNvPr id="3" name="">
            <a:extLst xmlns:a="http://schemas.openxmlformats.org/drawingml/2006/main">
              <a:ext uri="{FF2B5EF4-FFF2-40B4-BE49-F238E27FC236}">
                <a16:creationId xmlns:a16="http://schemas.microsoft.com/office/drawing/2014/main" id="{006E2217-9125-4424-A2E9-98FF22B051E5}"/>
              </a:ext>
            </a:extLst>
          </p:cNvPr>
          <p:cNvSpPr>
            <a:spLocks xmlns:a="http://schemas.openxmlformats.org/drawingml/2006/main" noGrp="1"/>
          </p:cNvSpPr>
          <p:nvPr/>
        </p:nvSpPr>
        <p:spPr>
          <a:xfrm xmlns:a="http://schemas.openxmlformats.org/drawingml/2006/main">
            <a:off x="666750" y="249555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điểm phần trăm</a:t>
            </a:r>
          </a:p>
        </p:txBody>
      </p:sp>
      <p:sp>
        <p:nvSpPr>
          <p:cNvPr id="4" name="">
            <a:extLst xmlns:a="http://schemas.openxmlformats.org/drawingml/2006/main">
              <a:ext uri="{FF2B5EF4-FFF2-40B4-BE49-F238E27FC236}">
                <a16:creationId xmlns:a16="http://schemas.microsoft.com/office/drawing/2014/main" id="{83D0E8CB-4511-4042-8F9D-53077201F62F}"/>
              </a:ext>
            </a:extLst>
          </p:cNvPr>
          <p:cNvSpPr>
            <a:spLocks xmlns:a="http://schemas.openxmlformats.org/drawingml/2006/main" noGrp="1"/>
          </p:cNvSpPr>
          <p:nvPr/>
        </p:nvSpPr>
        <p:spPr>
          <a:xfrm xmlns:a="http://schemas.openxmlformats.org/drawingml/2006/main">
            <a:off x="3286125" y="1905000"/>
            <a:ext cx="819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92622"/>
                </a:solidFill>
                <a:latin typeface="Arial"/>
                <a:ea typeface="Arial"/>
                <a:cs typeface="Arial"/>
              </a:defRPr>
            </a:defPPr>
          </a:lstStyle>
          <a:p xmlns:a="http://schemas.openxmlformats.org/drawingml/2006/main">
            <a:pPr>
              <a:buNone/>
              <a:defRPr sz="2325" b="1">
                <a:solidFill>
                  <a:srgbClr val="292622"/>
                </a:solidFill>
                <a:latin typeface="Arial"/>
                <a:ea typeface="Arial"/>
                <a:cs typeface="Arial"/>
              </a:defRPr>
            </a:pPr>
            <a:r>
              <a:rPr sz="2325" b="1">
                <a:solidFill>
                  <a:srgbClr val="292622"/>
                </a:solidFill>
                <a:latin typeface="Arial"/>
                <a:ea typeface="Arial"/>
                <a:cs typeface="Arial"/>
              </a:rPr>
              <a:t>Nữ cao hơn nam</a:t>
            </a:r>
          </a:p>
        </p:txBody>
      </p:sp>
      <p:sp>
        <p:nvSpPr>
          <p:cNvPr id="5" name="">
            <a:extLst xmlns:a="http://schemas.openxmlformats.org/drawingml/2006/main">
              <a:ext uri="{FF2B5EF4-FFF2-40B4-BE49-F238E27FC236}">
                <a16:creationId xmlns:a16="http://schemas.microsoft.com/office/drawing/2014/main" id="{59473A5C-79B1-41BB-A7E6-AE5E61921986}"/>
              </a:ext>
            </a:extLst>
          </p:cNvPr>
          <p:cNvSpPr>
            <a:spLocks xmlns:a="http://schemas.openxmlformats.org/drawingml/2006/main" noGrp="1"/>
          </p:cNvSpPr>
          <p:nvPr/>
        </p:nvSpPr>
        <p:spPr>
          <a:xfrm xmlns:a="http://schemas.openxmlformats.org/drawingml/2006/main">
            <a:off x="3286125" y="2409825"/>
            <a:ext cx="819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71675E"/>
                </a:solidFill>
                <a:latin typeface="Arial"/>
                <a:ea typeface="Arial"/>
                <a:cs typeface="Arial"/>
              </a:defRPr>
            </a:defPPr>
          </a:lstStyle>
          <a:p xmlns:a="http://schemas.openxmlformats.org/drawingml/2006/main">
            <a:pPr>
              <a:buNone/>
              <a:defRPr sz="2025" b="0">
                <a:solidFill>
                  <a:srgbClr val="71675E"/>
                </a:solidFill>
                <a:latin typeface="Arial"/>
                <a:ea typeface="Arial"/>
                <a:cs typeface="Arial"/>
              </a:defRPr>
            </a:pPr>
            <a:r>
              <a:rPr sz="2025" b="0">
                <a:solidFill>
                  <a:srgbClr val="71675E"/>
                </a:solidFill>
                <a:latin typeface="Arial"/>
                <a:ea typeface="Arial"/>
                <a:cs typeface="Arial"/>
              </a:rPr>
              <a:t>Chưa xếp hạng tác động độc lập.</a:t>
            </a:r>
          </a:p>
        </p:txBody>
      </p:sp>
      <p:sp>
        <p:nvSpPr>
          <p:cNvPr id="6" name="">
            <a:extLst xmlns:a="http://schemas.openxmlformats.org/drawingml/2006/main">
              <a:ext uri="{FF2B5EF4-FFF2-40B4-BE49-F238E27FC236}">
                <a16:creationId xmlns:a16="http://schemas.microsoft.com/office/drawing/2014/main" id="{FA8FD04D-1502-4160-ADAE-2353216F17C5}"/>
              </a:ext>
            </a:extLst>
          </p:cNvPr>
          <p:cNvSpPr>
            <a:spLocks xmlns:a="http://schemas.openxmlformats.org/drawingml/2006/main" noGrp="1"/>
          </p:cNvSpPr>
          <p:nvPr/>
        </p:nvSpPr>
        <p:spPr>
          <a:xfrm xmlns:a="http://schemas.openxmlformats.org/drawingml/2006/main">
            <a:off x="666750" y="31527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00" b="1">
                <a:solidFill>
                  <a:srgbClr val="A65332"/>
                </a:solidFill>
                <a:latin typeface="Arial"/>
                <a:ea typeface="Arial"/>
                <a:cs typeface="Arial"/>
              </a:defRPr>
            </a:defPPr>
          </a:lstStyle>
          <a:p xmlns:a="http://schemas.openxmlformats.org/drawingml/2006/main">
            <a:pPr>
              <a:buNone/>
              <a:defRPr sz="3900" b="1">
                <a:solidFill>
                  <a:srgbClr val="A65332"/>
                </a:solidFill>
                <a:latin typeface="Arial"/>
                <a:ea typeface="Arial"/>
                <a:cs typeface="Arial"/>
              </a:defRPr>
            </a:pPr>
            <a:r>
              <a:rPr sz="3900" b="1">
                <a:solidFill>
                  <a:srgbClr val="A65332"/>
                </a:solidFill>
                <a:latin typeface="Arial"/>
                <a:ea typeface="Arial"/>
                <a:cs typeface="Arial"/>
              </a:rPr>
              <a:t>39,4</a:t>
            </a:r>
          </a:p>
        </p:txBody>
      </p:sp>
      <p:sp>
        <p:nvSpPr>
          <p:cNvPr id="7" name="">
            <a:extLst xmlns:a="http://schemas.openxmlformats.org/drawingml/2006/main">
              <a:ext uri="{FF2B5EF4-FFF2-40B4-BE49-F238E27FC236}">
                <a16:creationId xmlns:a16="http://schemas.microsoft.com/office/drawing/2014/main" id="{AA6BDD75-D3F9-46A8-ACB2-285876DF0B38}"/>
              </a:ext>
            </a:extLst>
          </p:cNvPr>
          <p:cNvSpPr>
            <a:spLocks xmlns:a="http://schemas.openxmlformats.org/drawingml/2006/main" noGrp="1"/>
          </p:cNvSpPr>
          <p:nvPr/>
        </p:nvSpPr>
        <p:spPr>
          <a:xfrm xmlns:a="http://schemas.openxmlformats.org/drawingml/2006/main">
            <a:off x="666750" y="37719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điểm phần trăm</a:t>
            </a:r>
          </a:p>
        </p:txBody>
      </p:sp>
      <p:sp>
        <p:nvSpPr>
          <p:cNvPr id="8" name="">
            <a:extLst xmlns:a="http://schemas.openxmlformats.org/drawingml/2006/main">
              <a:ext uri="{FF2B5EF4-FFF2-40B4-BE49-F238E27FC236}">
                <a16:creationId xmlns:a16="http://schemas.microsoft.com/office/drawing/2014/main" id="{63697E7F-6CC0-4C12-8850-3BA6549F01BA}"/>
              </a:ext>
            </a:extLst>
          </p:cNvPr>
          <p:cNvSpPr>
            <a:spLocks xmlns:a="http://schemas.openxmlformats.org/drawingml/2006/main" noGrp="1"/>
          </p:cNvSpPr>
          <p:nvPr/>
        </p:nvSpPr>
        <p:spPr>
          <a:xfrm xmlns:a="http://schemas.openxmlformats.org/drawingml/2006/main">
            <a:off x="3286125" y="3181350"/>
            <a:ext cx="819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92622"/>
                </a:solidFill>
                <a:latin typeface="Arial"/>
                <a:ea typeface="Arial"/>
                <a:cs typeface="Arial"/>
              </a:defRPr>
            </a:defPPr>
          </a:lstStyle>
          <a:p xmlns:a="http://schemas.openxmlformats.org/drawingml/2006/main">
            <a:pPr>
              <a:buNone/>
              <a:defRPr sz="2325" b="1">
                <a:solidFill>
                  <a:srgbClr val="292622"/>
                </a:solidFill>
                <a:latin typeface="Arial"/>
                <a:ea typeface="Arial"/>
                <a:cs typeface="Arial"/>
              </a:defRPr>
            </a:pPr>
            <a:r>
              <a:rPr sz="2325" b="1">
                <a:solidFill>
                  <a:srgbClr val="292622"/>
                </a:solidFill>
                <a:latin typeface="Arial"/>
                <a:ea typeface="Arial"/>
                <a:cs typeface="Arial"/>
              </a:rPr>
              <a:t>Trẻ em nam cao hơn nam &gt;12</a:t>
            </a:r>
          </a:p>
        </p:txBody>
      </p:sp>
      <p:sp>
        <p:nvSpPr>
          <p:cNvPr id="9" name="">
            <a:extLst xmlns:a="http://schemas.openxmlformats.org/drawingml/2006/main">
              <a:ext uri="{FF2B5EF4-FFF2-40B4-BE49-F238E27FC236}">
                <a16:creationId xmlns:a16="http://schemas.microsoft.com/office/drawing/2014/main" id="{0D8BED06-CE3B-43E4-BB67-37D32F0F5F15}"/>
              </a:ext>
            </a:extLst>
          </p:cNvPr>
          <p:cNvSpPr>
            <a:spLocks xmlns:a="http://schemas.openxmlformats.org/drawingml/2006/main" noGrp="1"/>
          </p:cNvSpPr>
          <p:nvPr/>
        </p:nvSpPr>
        <p:spPr>
          <a:xfrm xmlns:a="http://schemas.openxmlformats.org/drawingml/2006/main">
            <a:off x="3286125" y="3686175"/>
            <a:ext cx="819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71675E"/>
                </a:solidFill>
                <a:latin typeface="Arial"/>
                <a:ea typeface="Arial"/>
                <a:cs typeface="Arial"/>
              </a:defRPr>
            </a:defPPr>
          </a:lstStyle>
          <a:p xmlns:a="http://schemas.openxmlformats.org/drawingml/2006/main">
            <a:pPr>
              <a:buNone/>
              <a:defRPr sz="2025" b="0">
                <a:solidFill>
                  <a:srgbClr val="71675E"/>
                </a:solidFill>
                <a:latin typeface="Arial"/>
                <a:ea typeface="Arial"/>
                <a:cs typeface="Arial"/>
              </a:defRPr>
            </a:pPr>
            <a:r>
              <a:rPr sz="2025" b="0">
                <a:solidFill>
                  <a:srgbClr val="71675E"/>
                </a:solidFill>
                <a:latin typeface="Arial"/>
                <a:ea typeface="Arial"/>
                <a:cs typeface="Arial"/>
              </a:rPr>
              <a:t>Xu hướng tuổi khác nhau giữa hai giới.</a:t>
            </a:r>
          </a:p>
        </p:txBody>
      </p:sp>
      <p:sp>
        <p:nvSpPr>
          <p:cNvPr id="10" name="">
            <a:extLst xmlns:a="http://schemas.openxmlformats.org/drawingml/2006/main">
              <a:ext uri="{FF2B5EF4-FFF2-40B4-BE49-F238E27FC236}">
                <a16:creationId xmlns:a16="http://schemas.microsoft.com/office/drawing/2014/main" id="{B0D149C2-2DE0-4470-9A81-DB29D512FA42}"/>
              </a:ext>
            </a:extLst>
          </p:cNvPr>
          <p:cNvSpPr>
            <a:spLocks xmlns:a="http://schemas.openxmlformats.org/drawingml/2006/main" noGrp="1"/>
          </p:cNvSpPr>
          <p:nvPr/>
        </p:nvSpPr>
        <p:spPr>
          <a:xfrm xmlns:a="http://schemas.openxmlformats.org/drawingml/2006/main">
            <a:off x="666750" y="4429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00" b="1">
                <a:solidFill>
                  <a:srgbClr val="A65332"/>
                </a:solidFill>
                <a:latin typeface="Arial"/>
                <a:ea typeface="Arial"/>
                <a:cs typeface="Arial"/>
              </a:defRPr>
            </a:defPPr>
          </a:lstStyle>
          <a:p xmlns:a="http://schemas.openxmlformats.org/drawingml/2006/main">
            <a:pPr>
              <a:buNone/>
              <a:defRPr sz="3900" b="1">
                <a:solidFill>
                  <a:srgbClr val="A65332"/>
                </a:solidFill>
                <a:latin typeface="Arial"/>
                <a:ea typeface="Arial"/>
                <a:cs typeface="Arial"/>
              </a:defRPr>
            </a:pPr>
            <a:r>
              <a:rPr sz="3900" b="1">
                <a:solidFill>
                  <a:srgbClr val="A65332"/>
                </a:solidFill>
                <a:latin typeface="Arial"/>
                <a:ea typeface="Arial"/>
                <a:cs typeface="Arial"/>
              </a:rPr>
              <a:t>46,8</a:t>
            </a:r>
          </a:p>
        </p:txBody>
      </p:sp>
      <p:sp>
        <p:nvSpPr>
          <p:cNvPr id="11" name="">
            <a:extLst xmlns:a="http://schemas.openxmlformats.org/drawingml/2006/main">
              <a:ext uri="{FF2B5EF4-FFF2-40B4-BE49-F238E27FC236}">
                <a16:creationId xmlns:a16="http://schemas.microsoft.com/office/drawing/2014/main" id="{CE232319-FB87-4129-8720-F60821692A2E}"/>
              </a:ext>
            </a:extLst>
          </p:cNvPr>
          <p:cNvSpPr>
            <a:spLocks xmlns:a="http://schemas.openxmlformats.org/drawingml/2006/main" noGrp="1"/>
          </p:cNvSpPr>
          <p:nvPr/>
        </p:nvSpPr>
        <p:spPr>
          <a:xfrm xmlns:a="http://schemas.openxmlformats.org/drawingml/2006/main">
            <a:off x="666750" y="504825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điểm phần trăm</a:t>
            </a:r>
          </a:p>
        </p:txBody>
      </p:sp>
      <p:sp>
        <p:nvSpPr>
          <p:cNvPr id="12" name="">
            <a:extLst xmlns:a="http://schemas.openxmlformats.org/drawingml/2006/main">
              <a:ext uri="{FF2B5EF4-FFF2-40B4-BE49-F238E27FC236}">
                <a16:creationId xmlns:a16="http://schemas.microsoft.com/office/drawing/2014/main" id="{4D4E514D-02BF-4BEC-AFAB-BAF1C4069732}"/>
              </a:ext>
            </a:extLst>
          </p:cNvPr>
          <p:cNvSpPr>
            <a:spLocks xmlns:a="http://schemas.openxmlformats.org/drawingml/2006/main" noGrp="1"/>
          </p:cNvSpPr>
          <p:nvPr/>
        </p:nvSpPr>
        <p:spPr>
          <a:xfrm xmlns:a="http://schemas.openxmlformats.org/drawingml/2006/main">
            <a:off x="3286125" y="4457700"/>
            <a:ext cx="819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92622"/>
                </a:solidFill>
                <a:latin typeface="Arial"/>
                <a:ea typeface="Arial"/>
                <a:cs typeface="Arial"/>
              </a:defRPr>
            </a:defPPr>
          </a:lstStyle>
          <a:p xmlns:a="http://schemas.openxmlformats.org/drawingml/2006/main">
            <a:pPr>
              <a:buNone/>
              <a:defRPr sz="2325" b="1">
                <a:solidFill>
                  <a:srgbClr val="292622"/>
                </a:solidFill>
                <a:latin typeface="Arial"/>
                <a:ea typeface="Arial"/>
                <a:cs typeface="Arial"/>
              </a:defRPr>
            </a:pPr>
            <a:r>
              <a:rPr sz="2325" b="1">
                <a:solidFill>
                  <a:srgbClr val="292622"/>
                </a:solidFill>
                <a:latin typeface="Arial"/>
                <a:ea typeface="Arial"/>
                <a:cs typeface="Arial"/>
              </a:rPr>
              <a:t>Nữ hạng 1 cao hơn nữ hạng 3</a:t>
            </a:r>
          </a:p>
        </p:txBody>
      </p:sp>
      <p:sp>
        <p:nvSpPr>
          <p:cNvPr id="13" name="">
            <a:extLst xmlns:a="http://schemas.openxmlformats.org/drawingml/2006/main">
              <a:ext uri="{FF2B5EF4-FFF2-40B4-BE49-F238E27FC236}">
                <a16:creationId xmlns:a16="http://schemas.microsoft.com/office/drawing/2014/main" id="{46B0F208-9C0D-4664-BD7D-093DCC5A6725}"/>
              </a:ext>
            </a:extLst>
          </p:cNvPr>
          <p:cNvSpPr>
            <a:spLocks xmlns:a="http://schemas.openxmlformats.org/drawingml/2006/main" noGrp="1"/>
          </p:cNvSpPr>
          <p:nvPr/>
        </p:nvSpPr>
        <p:spPr>
          <a:xfrm xmlns:a="http://schemas.openxmlformats.org/drawingml/2006/main">
            <a:off x="3286125" y="4962525"/>
            <a:ext cx="819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71675E"/>
                </a:solidFill>
                <a:latin typeface="Arial"/>
                <a:ea typeface="Arial"/>
                <a:cs typeface="Arial"/>
              </a:defRPr>
            </a:defPPr>
          </a:lstStyle>
          <a:p xmlns:a="http://schemas.openxmlformats.org/drawingml/2006/main">
            <a:pPr>
              <a:buNone/>
              <a:defRPr sz="2025" b="0">
                <a:solidFill>
                  <a:srgbClr val="71675E"/>
                </a:solidFill>
                <a:latin typeface="Arial"/>
                <a:ea typeface="Arial"/>
                <a:cs typeface="Arial"/>
              </a:defRPr>
            </a:pPr>
            <a:r>
              <a:rPr sz="2025" b="0">
                <a:solidFill>
                  <a:srgbClr val="71675E"/>
                </a:solidFill>
                <a:latin typeface="Arial"/>
                <a:ea typeface="Arial"/>
                <a:cs typeface="Arial"/>
              </a:rPr>
              <a:t>Phân tầng chưa chứng minh nhân quả.</a:t>
            </a:r>
          </a:p>
        </p:txBody>
      </p:sp>
      <p:sp>
        <p:nvSpPr>
          <p:cNvPr id="14" name="">
            <a:extLst xmlns:a="http://schemas.openxmlformats.org/drawingml/2006/main">
              <a:ext uri="{FF2B5EF4-FFF2-40B4-BE49-F238E27FC236}">
                <a16:creationId xmlns:a16="http://schemas.microsoft.com/office/drawing/2014/main" id="{9AA2394C-043A-4567-845C-7D222D63EED6}"/>
              </a:ext>
            </a:extLst>
          </p:cNvPr>
          <p:cNvSpPr>
            <a:spLocks xmlns:a="http://schemas.openxmlformats.org/drawingml/2006/main" noGrp="1"/>
          </p:cNvSpPr>
          <p:nvPr/>
        </p:nvSpPr>
        <p:spPr>
          <a:xfrm xmlns:a="http://schemas.openxmlformats.org/drawingml/2006/main">
            <a:off x="666750" y="597217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Kết luận chỉ áp dụng cho mẫu Titanic này. Không suy rộng cho từng cá nhân hay tàu khác.</a:t>
            </a:r>
          </a:p>
        </p:txBody>
      </p:sp>
      <p:sp>
        <p:nvSpPr>
          <p:cNvPr id="15" name="">
            <a:extLst xmlns:a="http://schemas.openxmlformats.org/drawingml/2006/main">
              <a:ext uri="{FF2B5EF4-FFF2-40B4-BE49-F238E27FC236}">
                <a16:creationId xmlns:a16="http://schemas.microsoft.com/office/drawing/2014/main" id="{2DA08FB4-1A85-4293-9837-5724E48D9EEF}"/>
              </a:ext>
            </a:extLst>
          </p:cNvPr>
          <p:cNvSpPr>
            <a:spLocks xmlns:a="http://schemas.openxmlformats.org/drawingml/2006/main" noGrp="1"/>
          </p:cNvSpPr>
          <p:nvPr/>
        </p:nvSpPr>
        <p:spPr>
          <a:xfrm xmlns:a="http://schemas.openxmlformats.org/drawingml/2006/main">
            <a:off x="11049000" y="64293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A65332"/>
                </a:solidFill>
                <a:latin typeface="Arial"/>
                <a:ea typeface="Arial"/>
                <a:cs typeface="Arial"/>
              </a:defRPr>
            </a:defPPr>
          </a:lstStyle>
          <a:p xmlns:a="http://schemas.openxmlformats.org/drawingml/2006/main">
            <a:pPr>
              <a:buNone/>
              <a:defRPr sz="1800" b="1">
                <a:solidFill>
                  <a:srgbClr val="A65332"/>
                </a:solidFill>
                <a:latin typeface="Arial"/>
                <a:ea typeface="Arial"/>
                <a:cs typeface="Arial"/>
              </a:defRPr>
            </a:pPr>
            <a:r>
              <a:rPr sz="1800" b="1">
                <a:solidFill>
                  <a:srgbClr val="A65332"/>
                </a:solidFill>
                <a:latin typeface="Arial"/>
                <a:ea typeface="Arial"/>
                <a:cs typeface="Arial"/>
              </a:rPr>
              <a:t>07</a:t>
            </a:r>
          </a:p>
        </p:txBody>
      </p:sp>
    </p:spTree>
    <p:extLst>
      <p:ext uri="{BB962C8B-B14F-4D97-AF65-F5344CB8AC3E}">
        <p14:creationId xmlns:p14="http://schemas.microsoft.com/office/powerpoint/2010/main" val="7136427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1C45A8-747E-4E62-84F6-0DCB894E6F51}"/>
              </a:ext>
            </a:extLst>
          </p:cNvPr>
          <p:cNvSpPr>
            <a:spLocks xmlns:a="http://schemas.openxmlformats.org/drawingml/2006/main" noGrp="1"/>
          </p:cNvSpPr>
          <p:nvPr/>
        </p:nvSpPr>
        <p:spPr>
          <a:xfrm xmlns:a="http://schemas.openxmlformats.org/drawingml/2006/main">
            <a:off x="609600" y="42862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92622"/>
                </a:solidFill>
                <a:latin typeface="Arial"/>
                <a:ea typeface="Arial"/>
                <a:cs typeface="Arial"/>
              </a:defRPr>
            </a:defPPr>
          </a:lstStyle>
          <a:p xmlns:a="http://schemas.openxmlformats.org/drawingml/2006/main">
            <a:pPr>
              <a:buNone/>
              <a:defRPr sz="3300" b="1">
                <a:solidFill>
                  <a:srgbClr val="292622"/>
                </a:solidFill>
                <a:latin typeface="Arial"/>
                <a:ea typeface="Arial"/>
                <a:cs typeface="Arial"/>
              </a:defRPr>
            </a:pPr>
            <a:r>
              <a:rPr sz="3300" b="1">
                <a:solidFill>
                  <a:srgbClr val="292622"/>
                </a:solidFill>
                <a:latin typeface="Arial"/>
                <a:ea typeface="Arial"/>
                <a:cs typeface="Arial"/>
              </a:rPr>
              <a:t>Phụ lục: Tỷ lệ sống gộp giảm</a:t>
            </a:r>
          </a:p>
          <a:p xmlns:a="http://schemas.openxmlformats.org/drawingml/2006/main">
            <a:pPr>
              <a:buNone/>
              <a:defRPr sz="3300" b="1">
                <a:solidFill>
                  <a:srgbClr val="292622"/>
                </a:solidFill>
                <a:latin typeface="Arial"/>
                <a:ea typeface="Arial"/>
                <a:cs typeface="Arial"/>
              </a:defRPr>
            </a:pPr>
            <a:r>
              <a:rPr sz="3300" b="1">
                <a:solidFill>
                  <a:srgbClr val="292622"/>
                </a:solidFill>
                <a:latin typeface="Arial"/>
                <a:ea typeface="Arial"/>
                <a:cs typeface="Arial"/>
              </a:rPr>
              <a:t>từ hạng vé 1 xuống hạng 3</a:t>
            </a:r>
          </a:p>
        </p:txBody>
      </p:sp>
      <p:sp>
        <p:nvSpPr>
          <p:cNvPr id="3" name="">
            <a:extLst xmlns:a="http://schemas.openxmlformats.org/drawingml/2006/main">
              <a:ext uri="{FF2B5EF4-FFF2-40B4-BE49-F238E27FC236}">
                <a16:creationId xmlns:a16="http://schemas.microsoft.com/office/drawing/2014/main" id="{950492C8-99F1-47D5-A7F6-F67C1498E6B9}"/>
              </a:ext>
            </a:extLst>
          </p:cNvPr>
          <p:cNvSpPr>
            <a:spLocks xmlns:a="http://schemas.openxmlformats.org/drawingml/2006/main" noGrp="1"/>
          </p:cNvSpPr>
          <p:nvPr/>
        </p:nvSpPr>
        <p:spPr>
          <a:xfrm xmlns:a="http://schemas.openxmlformats.org/drawingml/2006/main">
            <a:off x="8382000" y="2524125"/>
            <a:ext cx="3143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A65332"/>
                </a:solidFill>
                <a:latin typeface="Arial"/>
                <a:ea typeface="Arial"/>
                <a:cs typeface="Arial"/>
              </a:defRPr>
            </a:defPPr>
          </a:lstStyle>
          <a:p xmlns:a="http://schemas.openxmlformats.org/drawingml/2006/main">
            <a:pPr>
              <a:buNone/>
              <a:defRPr sz="2250" b="1">
                <a:solidFill>
                  <a:srgbClr val="A65332"/>
                </a:solidFill>
                <a:latin typeface="Arial"/>
                <a:ea typeface="Arial"/>
                <a:cs typeface="Arial"/>
              </a:defRPr>
            </a:pPr>
            <a:r>
              <a:rPr sz="2250" b="1">
                <a:solidFill>
                  <a:srgbClr val="A65332"/>
                </a:solidFill>
                <a:latin typeface="Arial"/>
                <a:ea typeface="Arial"/>
                <a:cs typeface="Arial"/>
              </a:rPr>
              <a:t>136/216 = 63,0%</a:t>
            </a:r>
          </a:p>
          <a:p xmlns:a="http://schemas.openxmlformats.org/drawingml/2006/main">
            <a:pPr>
              <a:buNone/>
              <a:defRPr sz="2250" b="1">
                <a:solidFill>
                  <a:srgbClr val="A65332"/>
                </a:solidFill>
                <a:latin typeface="Arial"/>
                <a:ea typeface="Arial"/>
                <a:cs typeface="Arial"/>
              </a:defRPr>
            </a:pPr>
            <a:r>
              <a:rPr sz="2250" b="1">
                <a:solidFill>
                  <a:srgbClr val="A65332"/>
                </a:solidFill>
                <a:latin typeface="Arial"/>
                <a:ea typeface="Arial"/>
                <a:cs typeface="Arial"/>
              </a:rPr>
              <a:t>87/184 = 47,3%</a:t>
            </a:r>
          </a:p>
          <a:p xmlns:a="http://schemas.openxmlformats.org/drawingml/2006/main">
            <a:pPr>
              <a:buNone/>
              <a:defRPr sz="2250" b="1">
                <a:solidFill>
                  <a:srgbClr val="A65332"/>
                </a:solidFill>
                <a:latin typeface="Arial"/>
                <a:ea typeface="Arial"/>
                <a:cs typeface="Arial"/>
              </a:defRPr>
            </a:pPr>
            <a:r>
              <a:rPr sz="2250" b="1">
                <a:solidFill>
                  <a:srgbClr val="A65332"/>
                </a:solidFill>
                <a:latin typeface="Arial"/>
                <a:ea typeface="Arial"/>
                <a:cs typeface="Arial"/>
              </a:rPr>
              <a:t>119/491 = 24,2%</a:t>
            </a:r>
          </a:p>
        </p:txBody>
      </p:sp>
      <p:sp>
        <p:nvSpPr>
          <p:cNvPr id="4" name="">
            <a:extLst xmlns:a="http://schemas.openxmlformats.org/drawingml/2006/main">
              <a:ext uri="{FF2B5EF4-FFF2-40B4-BE49-F238E27FC236}">
                <a16:creationId xmlns:a16="http://schemas.microsoft.com/office/drawing/2014/main" id="{ED3B9AAA-A00C-405D-840A-E582873A722B}"/>
              </a:ext>
            </a:extLst>
          </p:cNvPr>
          <p:cNvSpPr>
            <a:spLocks xmlns:a="http://schemas.openxmlformats.org/drawingml/2006/main" noGrp="1"/>
          </p:cNvSpPr>
          <p:nvPr/>
        </p:nvSpPr>
        <p:spPr>
          <a:xfrm xmlns:a="http://schemas.openxmlformats.org/drawingml/2006/main">
            <a:off x="666750" y="58578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71675E"/>
                </a:solidFill>
                <a:latin typeface="Arial"/>
                <a:ea typeface="Arial"/>
                <a:cs typeface="Arial"/>
              </a:defRPr>
            </a:defPPr>
          </a:lstStyle>
          <a:p xmlns:a="http://schemas.openxmlformats.org/drawingml/2006/main">
            <a:pPr>
              <a:buNone/>
              <a:defRPr sz="1800" b="0">
                <a:solidFill>
                  <a:srgbClr val="71675E"/>
                </a:solidFill>
                <a:latin typeface="Arial"/>
                <a:ea typeface="Arial"/>
                <a:cs typeface="Arial"/>
              </a:defRPr>
            </a:pPr>
            <a:r>
              <a:rPr sz="1800" b="0">
                <a:solidFill>
                  <a:srgbClr val="71675E"/>
                </a:solidFill>
                <a:latin typeface="Arial"/>
                <a:ea typeface="Arial"/>
                <a:cs typeface="Arial"/>
              </a:rPr>
              <a:t>Khác biệt gộp là bằng chứng khởi đầu. Câu 3 cần so sánh trong từng giới</a:t>
            </a:r>
          </a:p>
        </p:txBody>
      </p:sp>
      <p:sp>
        <p:nvSpPr>
          <p:cNvPr id="5" name="">
            <a:extLst xmlns:a="http://schemas.openxmlformats.org/drawingml/2006/main">
              <a:ext uri="{FF2B5EF4-FFF2-40B4-BE49-F238E27FC236}">
                <a16:creationId xmlns:a16="http://schemas.microsoft.com/office/drawing/2014/main" id="{635D5191-A458-405C-BF01-3F8BA18DBDAF}"/>
              </a:ext>
            </a:extLst>
          </p:cNvPr>
          <p:cNvSpPr>
            <a:spLocks xmlns:a="http://schemas.openxmlformats.org/drawingml/2006/main" noGrp="1"/>
          </p:cNvSpPr>
          <p:nvPr/>
        </p:nvSpPr>
        <p:spPr>
          <a:xfrm xmlns:a="http://schemas.openxmlformats.org/drawingml/2006/main">
            <a:off x="609600" y="64198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71675E"/>
                </a:solidFill>
                <a:latin typeface="Arial"/>
                <a:ea typeface="Arial"/>
                <a:cs typeface="Arial"/>
              </a:defRPr>
            </a:defPPr>
          </a:lstStyle>
          <a:p xmlns:a="http://schemas.openxmlformats.org/drawingml/2006/main">
            <a:pPr>
              <a:buNone/>
              <a:defRPr sz="1425" b="0">
                <a:solidFill>
                  <a:srgbClr val="71675E"/>
                </a:solidFill>
                <a:latin typeface="Arial"/>
                <a:ea typeface="Arial"/>
                <a:cs typeface="Arial"/>
              </a:defRPr>
            </a:pPr>
            <a:r>
              <a:rPr sz="1425" b="0">
                <a:solidFill>
                  <a:srgbClr val="71675E"/>
                </a:solidFill>
                <a:latin typeface="Arial"/>
                <a:ea typeface="Arial"/>
                <a:cs typeface="Arial"/>
              </a:rPr>
              <a:t>Phụ lục hỏi đáp</a:t>
            </a:r>
          </a:p>
        </p:txBody>
      </p:sp>
      <p:sp>
        <p:nvSpPr>
          <p:cNvPr id="6" name="">
            <a:extLst xmlns:a="http://schemas.openxmlformats.org/drawingml/2006/main">
              <a:ext uri="{FF2B5EF4-FFF2-40B4-BE49-F238E27FC236}">
                <a16:creationId xmlns:a16="http://schemas.microsoft.com/office/drawing/2014/main" id="{1F3AC379-995E-489C-929C-9275D914826C}"/>
              </a:ext>
            </a:extLst>
          </p:cNvPr>
          <p:cNvSpPr>
            <a:spLocks xmlns:a="http://schemas.openxmlformats.org/drawingml/2006/main" noGrp="1"/>
          </p:cNvSpPr>
          <p:nvPr/>
        </p:nvSpPr>
        <p:spPr>
          <a:xfrm xmlns:a="http://schemas.openxmlformats.org/drawingml/2006/main">
            <a:off x="11068050" y="638175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A65332"/>
                </a:solidFill>
                <a:latin typeface="Arial"/>
                <a:ea typeface="Arial"/>
                <a:cs typeface="Arial"/>
              </a:defRPr>
            </a:defPPr>
          </a:lstStyle>
          <a:p xmlns:a="http://schemas.openxmlformats.org/drawingml/2006/main">
            <a:pPr>
              <a:buNone/>
              <a:defRPr sz="1650" b="1">
                <a:solidFill>
                  <a:srgbClr val="A65332"/>
                </a:solidFill>
                <a:latin typeface="Arial"/>
                <a:ea typeface="Arial"/>
                <a:cs typeface="Arial"/>
              </a:defRPr>
            </a:pPr>
            <a:r>
              <a:rPr sz="1650" b="1">
                <a:solidFill>
                  <a:srgbClr val="A65332"/>
                </a:solidFill>
                <a:latin typeface="Arial"/>
                <a:ea typeface="Arial"/>
                <a:cs typeface="Arial"/>
              </a:rPr>
              <a:t>08</a:t>
            </a:r>
          </a:p>
        </p:txBody>
      </p:sp>
      <p:graphicFrame>
        <p:nvGraphicFramePr>
          <p:cNvPr id="8" name="Chart">
            <a:extLst xmlns:a="http://schemas.openxmlformats.org/drawingml/2006/main">
              <a:ext uri="{FF2B5EF4-FFF2-40B4-BE49-F238E27FC236}">
                <a16:creationId xmlns:a16="http://schemas.microsoft.com/office/drawing/2014/main" id="{06069DB7-007C-4330-8068-C99425222B29}"/>
              </a:ext>
            </a:extLst>
          </p:cNvPr>
          <p:cNvGraphicFramePr/>
          <p:nvPr/>
        </p:nvGraphicFramePr>
        <p:xfrm>
          <a:off xmlns:a="http://schemas.openxmlformats.org/drawingml/2006/main" x="666750" y="1971675"/>
          <a:ext xmlns:a="http://schemas.openxmlformats.org/drawingml/2006/main" cx="7334250" cy="3638550"/>
        </p:xfrm>
        <a:graphic xmlns:a="http://schemas.openxmlformats.org/drawingml/2006/main">
          <a:graphicData uri="http://schemas.openxmlformats.org/drawingml/2006/chart">
            <c:chart xmlns:r="http://schemas.openxmlformats.org/officeDocument/2006/relationships" xmlns:c="http://schemas.openxmlformats.org/drawingml/2006/chart" r:id="Rae43a8fbe7b74d14"/>
          </a:graphicData>
        </a:graphic>
      </p:graphicFrame>
    </p:spTree>
    <p:extLst>
      <p:ext uri="{BB962C8B-B14F-4D97-AF65-F5344CB8AC3E}">
        <p14:creationId xmlns:p14="http://schemas.microsoft.com/office/powerpoint/2010/main" val="901327129"/>
      </p:ext>
    </p:extLst>
  </p:cSld>
</p:sld>
</file>

<file path=ppt/slides/slide9.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2EAC8B-A07C-4E8C-A6AB-E16CE0CE5493}"/>
              </a:ext>
            </a:extLst>
          </p:cNvPr>
          <p:cNvSpPr>
            <a:spLocks xmlns:a="http://schemas.openxmlformats.org/drawingml/2006/main" noGrp="1"/>
          </p:cNvSpPr>
          <p:nvPr/>
        </p:nvSpPr>
        <p:spPr>
          <a:xfrm xmlns:a="http://schemas.openxmlformats.org/drawingml/2006/main">
            <a:off x="609600" y="42862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92622"/>
                </a:solidFill>
                <a:latin typeface="Arial"/>
                <a:ea typeface="Arial"/>
                <a:cs typeface="Arial"/>
              </a:defRPr>
            </a:defPPr>
          </a:lstStyle>
          <a:p xmlns:a="http://schemas.openxmlformats.org/drawingml/2006/main">
            <a:pPr>
              <a:buNone/>
              <a:defRPr sz="3300" b="1">
                <a:solidFill>
                  <a:srgbClr val="292622"/>
                </a:solidFill>
                <a:latin typeface="Arial"/>
                <a:ea typeface="Arial"/>
                <a:cs typeface="Arial"/>
              </a:defRPr>
            </a:pPr>
            <a:r>
              <a:rPr sz="3300" b="1">
                <a:solidFill>
                  <a:srgbClr val="292622"/>
                </a:solidFill>
                <a:latin typeface="Arial"/>
                <a:ea typeface="Arial"/>
                <a:cs typeface="Arial"/>
              </a:rPr>
              <a:t>Phụ lục: Ba chiến lược xử lý tuổi thiếu</a:t>
            </a:r>
          </a:p>
        </p:txBody>
      </p:sp>
      <p:graphicFrame>
        <p:nvGraphicFramePr>
          <p:cNvPr id="2" name="">
            <a:extLst xmlns:a="http://schemas.openxmlformats.org/drawingml/2006/main">
              <a:ext uri="{FF2B5EF4-FFF2-40B4-BE49-F238E27FC236}">
                <a16:creationId xmlns:a16="http://schemas.microsoft.com/office/drawing/2014/main" id="{E1D3865F-0AC1-4F8A-A1BD-7E45F1082BCE}"/>
              </a:ext>
            </a:extLst>
          </p:cNvPr>
          <p:cNvGraphicFramePr/>
          <p:nvPr/>
        </p:nvGraphicFramePr>
        <p:xfrm>
          <a:off xmlns:a="http://schemas.openxmlformats.org/drawingml/2006/main" x="666750" y="1971675"/>
          <a:ext xmlns:a="http://schemas.openxmlformats.org/drawingml/2006/main" cx="10763250" cy="3257550"/>
        </p:xfrm>
        <a:graphic xmlns:a="http://schemas.openxmlformats.org/drawingml/2006/main">
          <a:graphicData uri="http://schemas.openxmlformats.org/drawingml/2006/table">
            <a:tbl>
              <a:tblPr/>
              <a:tblGrid>
                <a:gridCol w="2762250"/>
                <a:gridCol w="2667000"/>
                <a:gridCol w="2667000"/>
                <a:gridCol w="2667000"/>
              </a:tblGrid>
              <a:tr h="542925">
                <a:tc>
                  <a:txBody>
                    <a:bodyPr lIns="104775" tIns="104775" rIns="104775" bIns="104775"/>
                    <a:lstStyle/>
                    <a:p>
                      <a:r>
                        <a:rPr sz="1800" b="1">
                          <a:solidFill>
                            <a:srgbClr val="FFFFFF"/>
                          </a:solidFill>
                          <a:latin typeface="Arial"/>
                          <a:ea typeface="Arial"/>
                          <a:cs typeface="Arial"/>
                        </a:rPr>
                        <a:t>Chỉ tiêu</a:t>
                      </a:r>
                    </a:p>
                  </a:txBody>
                  <a:tcPr marL="91440" marR="91440" marT="45720" marB="45720" anchor="ctr">
                    <a:lnL w="6668">
                      <a:solidFill>
                        <a:srgbClr val="E5DED4"/>
                      </a:solidFill>
                      <a:prstDash val="solid"/>
                    </a:lnL>
                    <a:lnR w="6668">
                      <a:solidFill>
                        <a:srgbClr val="E5DED4"/>
                      </a:solidFill>
                      <a:prstDash val="solid"/>
                    </a:lnR>
                    <a:lnT w="6668">
                      <a:solidFill>
                        <a:srgbClr val="E5DED4"/>
                      </a:solidFill>
                      <a:prstDash val="solid"/>
                    </a:lnT>
                    <a:lnB w="6668">
                      <a:solidFill>
                        <a:srgbClr val="E5DED4"/>
                      </a:solidFill>
                      <a:prstDash val="solid"/>
                    </a:lnB>
                    <a:solidFill>
                      <a:srgbClr val="493A2E"/>
                    </a:solidFill>
                  </a:tcPr>
                </a:tc>
                <a:tc>
                  <a:txBody>
                    <a:bodyPr lIns="104775" tIns="104775" rIns="104775" bIns="104775"/>
                    <a:lstStyle/>
                    <a:p>
                      <a:r>
                        <a:rPr sz="1800" b="1">
                          <a:solidFill>
                            <a:srgbClr val="FFFFFF"/>
                          </a:solidFill>
                          <a:latin typeface="Arial"/>
                          <a:ea typeface="Arial"/>
                          <a:cs typeface="Arial"/>
                        </a:rPr>
                        <a:t>A Tuổi quan sát</a:t>
                      </a:r>
                    </a:p>
                  </a:txBody>
                  <a:tcPr marL="91440" marR="91440" marT="45720" marB="45720" anchor="ctr">
                    <a:lnR w="6668">
                      <a:solidFill>
                        <a:srgbClr val="E5DED4"/>
                      </a:solidFill>
                      <a:prstDash val="solid"/>
                    </a:lnR>
                    <a:lnT w="6668">
                      <a:solidFill>
                        <a:srgbClr val="E5DED4"/>
                      </a:solidFill>
                      <a:prstDash val="solid"/>
                    </a:lnT>
                    <a:lnB w="6668">
                      <a:solidFill>
                        <a:srgbClr val="E5DED4"/>
                      </a:solidFill>
                      <a:prstDash val="solid"/>
                    </a:lnB>
                    <a:solidFill>
                      <a:srgbClr val="493A2E"/>
                    </a:solidFill>
                  </a:tcPr>
                </a:tc>
                <a:tc>
                  <a:txBody>
                    <a:bodyPr lIns="104775" tIns="104775" rIns="104775" bIns="104775"/>
                    <a:lstStyle/>
                    <a:p>
                      <a:r>
                        <a:rPr sz="1800" b="1">
                          <a:solidFill>
                            <a:srgbClr val="FFFFFF"/>
                          </a:solidFill>
                          <a:latin typeface="Arial"/>
                          <a:ea typeface="Arial"/>
                          <a:cs typeface="Arial"/>
                        </a:rPr>
                        <a:t>B Trung vị chung</a:t>
                      </a:r>
                    </a:p>
                  </a:txBody>
                  <a:tcPr marL="91440" marR="91440" marT="45720" marB="45720" anchor="ctr">
                    <a:lnR w="6668">
                      <a:solidFill>
                        <a:srgbClr val="E5DED4"/>
                      </a:solidFill>
                      <a:prstDash val="solid"/>
                    </a:lnR>
                    <a:lnT w="6668">
                      <a:solidFill>
                        <a:srgbClr val="E5DED4"/>
                      </a:solidFill>
                      <a:prstDash val="solid"/>
                    </a:lnT>
                    <a:lnB w="6668">
                      <a:solidFill>
                        <a:srgbClr val="E5DED4"/>
                      </a:solidFill>
                      <a:prstDash val="solid"/>
                    </a:lnB>
                    <a:solidFill>
                      <a:srgbClr val="493A2E"/>
                    </a:solidFill>
                  </a:tcPr>
                </a:tc>
                <a:tc>
                  <a:txBody>
                    <a:bodyPr lIns="104775" tIns="104775" rIns="104775" bIns="104775"/>
                    <a:lstStyle/>
                    <a:p>
                      <a:r>
                        <a:rPr sz="1800" b="1">
                          <a:solidFill>
                            <a:srgbClr val="FFFFFF"/>
                          </a:solidFill>
                          <a:latin typeface="Arial"/>
                          <a:ea typeface="Arial"/>
                          <a:cs typeface="Arial"/>
                        </a:rPr>
                        <a:t>C Giới × hạng</a:t>
                      </a:r>
                    </a:p>
                  </a:txBody>
                  <a:tcPr marL="91440" marR="91440" marT="45720" marB="45720" anchor="ctr">
                    <a:lnR w="6668">
                      <a:solidFill>
                        <a:srgbClr val="E5DED4"/>
                      </a:solidFill>
                      <a:prstDash val="solid"/>
                    </a:lnR>
                    <a:lnT w="6668">
                      <a:solidFill>
                        <a:srgbClr val="E5DED4"/>
                      </a:solidFill>
                      <a:prstDash val="solid"/>
                    </a:lnT>
                    <a:lnB w="6668">
                      <a:solidFill>
                        <a:srgbClr val="E5DED4"/>
                      </a:solidFill>
                      <a:prstDash val="solid"/>
                    </a:lnB>
                    <a:solidFill>
                      <a:srgbClr val="493A2E"/>
                    </a:solidFill>
                  </a:tcPr>
                </a:tc>
              </a:tr>
              <a:tr h="542925">
                <a:tc>
                  <a:txBody>
                    <a:bodyPr lIns="104775" tIns="104775" rIns="104775" bIns="104775"/>
                    <a:lstStyle/>
                    <a:p>
                      <a:r>
                        <a:rPr sz="1800" b="0">
                          <a:solidFill>
                            <a:srgbClr val="292622"/>
                          </a:solidFill>
                          <a:latin typeface="Arial"/>
                          <a:ea typeface="Arial"/>
                          <a:cs typeface="Arial"/>
                        </a:rPr>
                        <a:t>Số hồ sơ</a:t>
                      </a:r>
                    </a:p>
                  </a:txBody>
                  <a:tcPr marL="91440" marR="91440" marT="45720" marB="45720" anchor="ctr">
                    <a:lnL w="6668">
                      <a:solidFill>
                        <a:srgbClr val="E5DED4"/>
                      </a:solidFill>
                      <a:prstDash val="solid"/>
                    </a:lnL>
                    <a:lnR w="6668">
                      <a:solidFill>
                        <a:srgbClr val="E5DED4"/>
                      </a:solidFill>
                      <a:prstDash val="solid"/>
                    </a:lnR>
                    <a:lnB w="6668">
                      <a:solidFill>
                        <a:srgbClr val="E5DED4"/>
                      </a:solidFill>
                      <a:prstDash val="solid"/>
                    </a:lnB>
                    <a:solidFill>
                      <a:srgbClr val="FAF7F1"/>
                    </a:solidFill>
                  </a:tcPr>
                </a:tc>
                <a:tc>
                  <a:txBody>
                    <a:bodyPr lIns="104775" tIns="104775" rIns="104775" bIns="104775"/>
                    <a:lstStyle/>
                    <a:p>
                      <a:r>
                        <a:rPr sz="1800" b="0">
                          <a:solidFill>
                            <a:srgbClr val="292622"/>
                          </a:solidFill>
                          <a:latin typeface="Arial"/>
                          <a:ea typeface="Arial"/>
                          <a:cs typeface="Arial"/>
                        </a:rPr>
                        <a:t>714</a:t>
                      </a:r>
                    </a:p>
                  </a:txBody>
                  <a:tcPr marL="91440" marR="91440" marT="45720" marB="45720" anchor="ctr">
                    <a:lnR w="6668">
                      <a:solidFill>
                        <a:srgbClr val="E5DED4"/>
                      </a:solidFill>
                      <a:prstDash val="solid"/>
                    </a:lnR>
                    <a:lnB w="6668">
                      <a:solidFill>
                        <a:srgbClr val="E5DED4"/>
                      </a:solidFill>
                      <a:prstDash val="solid"/>
                    </a:lnB>
                    <a:solidFill>
                      <a:srgbClr val="FAF7F1"/>
                    </a:solidFill>
                  </a:tcPr>
                </a:tc>
                <a:tc>
                  <a:txBody>
                    <a:bodyPr lIns="104775" tIns="104775" rIns="104775" bIns="104775"/>
                    <a:lstStyle/>
                    <a:p>
                      <a:r>
                        <a:rPr sz="1800" b="0">
                          <a:solidFill>
                            <a:srgbClr val="292622"/>
                          </a:solidFill>
                          <a:latin typeface="Arial"/>
                          <a:ea typeface="Arial"/>
                          <a:cs typeface="Arial"/>
                        </a:rPr>
                        <a:t>891</a:t>
                      </a:r>
                    </a:p>
                  </a:txBody>
                  <a:tcPr marL="91440" marR="91440" marT="45720" marB="45720" anchor="ctr">
                    <a:lnR w="6668">
                      <a:solidFill>
                        <a:srgbClr val="E5DED4"/>
                      </a:solidFill>
                      <a:prstDash val="solid"/>
                    </a:lnR>
                    <a:lnB w="6668">
                      <a:solidFill>
                        <a:srgbClr val="E5DED4"/>
                      </a:solidFill>
                      <a:prstDash val="solid"/>
                    </a:lnB>
                    <a:solidFill>
                      <a:srgbClr val="FAF7F1"/>
                    </a:solidFill>
                  </a:tcPr>
                </a:tc>
                <a:tc>
                  <a:txBody>
                    <a:bodyPr lIns="104775" tIns="104775" rIns="104775" bIns="104775"/>
                    <a:lstStyle/>
                    <a:p>
                      <a:r>
                        <a:rPr sz="1800" b="0">
                          <a:solidFill>
                            <a:srgbClr val="292622"/>
                          </a:solidFill>
                          <a:latin typeface="Arial"/>
                          <a:ea typeface="Arial"/>
                          <a:cs typeface="Arial"/>
                        </a:rPr>
                        <a:t>891</a:t>
                      </a:r>
                    </a:p>
                  </a:txBody>
                  <a:tcPr marL="91440" marR="91440" marT="45720" marB="45720" anchor="ctr">
                    <a:lnR w="6668">
                      <a:solidFill>
                        <a:srgbClr val="E5DED4"/>
                      </a:solidFill>
                      <a:prstDash val="solid"/>
                    </a:lnR>
                    <a:lnB w="6668">
                      <a:solidFill>
                        <a:srgbClr val="E5DED4"/>
                      </a:solidFill>
                      <a:prstDash val="solid"/>
                    </a:lnB>
                    <a:solidFill>
                      <a:srgbClr val="FAF7F1"/>
                    </a:solidFill>
                  </a:tcPr>
                </a:tc>
              </a:tr>
              <a:tr h="542925">
                <a:tc>
                  <a:txBody>
                    <a:bodyPr lIns="104775" tIns="104775" rIns="104775" bIns="104775"/>
                    <a:lstStyle/>
                    <a:p>
                      <a:r>
                        <a:rPr sz="1800" b="0">
                          <a:solidFill>
                            <a:srgbClr val="292622"/>
                          </a:solidFill>
                          <a:latin typeface="Arial"/>
                          <a:ea typeface="Arial"/>
                          <a:cs typeface="Arial"/>
                        </a:rPr>
                        <a:t>Số tuổi điền</a:t>
                      </a:r>
                    </a:p>
                  </a:txBody>
                  <a:tcPr marL="91440" marR="91440" marT="45720" marB="45720" anchor="ctr">
                    <a:lnL w="6668">
                      <a:solidFill>
                        <a:srgbClr val="E5DED4"/>
                      </a:solidFill>
                      <a:prstDash val="solid"/>
                    </a:lnL>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00" b="0">
                          <a:solidFill>
                            <a:srgbClr val="292622"/>
                          </a:solidFill>
                          <a:latin typeface="Arial"/>
                          <a:ea typeface="Arial"/>
                          <a:cs typeface="Arial"/>
                        </a:rPr>
                        <a:t>0</a:t>
                      </a:r>
                    </a:p>
                  </a:txBody>
                  <a:tcPr marL="91440" marR="91440" marT="45720" marB="45720" anchor="ctr">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00" b="0">
                          <a:solidFill>
                            <a:srgbClr val="292622"/>
                          </a:solidFill>
                          <a:latin typeface="Arial"/>
                          <a:ea typeface="Arial"/>
                          <a:cs typeface="Arial"/>
                        </a:rPr>
                        <a:t>177</a:t>
                      </a:r>
                    </a:p>
                  </a:txBody>
                  <a:tcPr marL="91440" marR="91440" marT="45720" marB="45720" anchor="ctr">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00" b="0">
                          <a:solidFill>
                            <a:srgbClr val="292622"/>
                          </a:solidFill>
                          <a:latin typeface="Arial"/>
                          <a:ea typeface="Arial"/>
                          <a:cs typeface="Arial"/>
                        </a:rPr>
                        <a:t>177</a:t>
                      </a:r>
                    </a:p>
                  </a:txBody>
                  <a:tcPr marL="91440" marR="91440" marT="45720" marB="45720" anchor="ctr">
                    <a:lnR w="6668">
                      <a:solidFill>
                        <a:srgbClr val="E5DED4"/>
                      </a:solidFill>
                      <a:prstDash val="solid"/>
                    </a:lnR>
                    <a:lnB w="6668">
                      <a:solidFill>
                        <a:srgbClr val="E5DED4"/>
                      </a:solidFill>
                      <a:prstDash val="solid"/>
                    </a:lnB>
                    <a:solidFill>
                      <a:srgbClr val="F0E9DD"/>
                    </a:solidFill>
                  </a:tcPr>
                </a:tc>
              </a:tr>
              <a:tr h="542925">
                <a:tc>
                  <a:txBody>
                    <a:bodyPr lIns="104775" tIns="104775" rIns="104775" bIns="104775"/>
                    <a:lstStyle/>
                    <a:p>
                      <a:r>
                        <a:rPr sz="1800" b="0">
                          <a:solidFill>
                            <a:srgbClr val="292622"/>
                          </a:solidFill>
                          <a:latin typeface="Arial"/>
                          <a:ea typeface="Arial"/>
                          <a:cs typeface="Arial"/>
                        </a:rPr>
                        <a:t>Tuổi trung bình</a:t>
                      </a:r>
                    </a:p>
                  </a:txBody>
                  <a:tcPr marL="91440" marR="91440" marT="45720" marB="45720" anchor="ctr">
                    <a:lnL w="6668">
                      <a:solidFill>
                        <a:srgbClr val="E5DED4"/>
                      </a:solidFill>
                      <a:prstDash val="solid"/>
                    </a:lnL>
                    <a:lnR w="6668">
                      <a:solidFill>
                        <a:srgbClr val="E5DED4"/>
                      </a:solidFill>
                      <a:prstDash val="solid"/>
                    </a:lnR>
                    <a:lnB w="6668">
                      <a:solidFill>
                        <a:srgbClr val="E5DED4"/>
                      </a:solidFill>
                      <a:prstDash val="solid"/>
                    </a:lnB>
                    <a:solidFill>
                      <a:srgbClr val="FAF7F1"/>
                    </a:solidFill>
                  </a:tcPr>
                </a:tc>
                <a:tc>
                  <a:txBody>
                    <a:bodyPr lIns="104775" tIns="104775" rIns="104775" bIns="104775"/>
                    <a:lstStyle/>
                    <a:p>
                      <a:r>
                        <a:rPr sz="1800" b="0">
                          <a:solidFill>
                            <a:srgbClr val="292622"/>
                          </a:solidFill>
                          <a:latin typeface="Arial"/>
                          <a:ea typeface="Arial"/>
                          <a:cs typeface="Arial"/>
                        </a:rPr>
                        <a:t>29,70</a:t>
                      </a:r>
                    </a:p>
                  </a:txBody>
                  <a:tcPr marL="91440" marR="91440" marT="45720" marB="45720" anchor="ctr">
                    <a:lnR w="6668">
                      <a:solidFill>
                        <a:srgbClr val="E5DED4"/>
                      </a:solidFill>
                      <a:prstDash val="solid"/>
                    </a:lnR>
                    <a:lnB w="6668">
                      <a:solidFill>
                        <a:srgbClr val="E5DED4"/>
                      </a:solidFill>
                      <a:prstDash val="solid"/>
                    </a:lnB>
                    <a:solidFill>
                      <a:srgbClr val="FAF7F1"/>
                    </a:solidFill>
                  </a:tcPr>
                </a:tc>
                <a:tc>
                  <a:txBody>
                    <a:bodyPr lIns="104775" tIns="104775" rIns="104775" bIns="104775"/>
                    <a:lstStyle/>
                    <a:p>
                      <a:r>
                        <a:rPr sz="1800" b="0">
                          <a:solidFill>
                            <a:srgbClr val="292622"/>
                          </a:solidFill>
                          <a:latin typeface="Arial"/>
                          <a:ea typeface="Arial"/>
                          <a:cs typeface="Arial"/>
                        </a:rPr>
                        <a:t>29,36</a:t>
                      </a:r>
                    </a:p>
                  </a:txBody>
                  <a:tcPr marL="91440" marR="91440" marT="45720" marB="45720" anchor="ctr">
                    <a:lnR w="6668">
                      <a:solidFill>
                        <a:srgbClr val="E5DED4"/>
                      </a:solidFill>
                      <a:prstDash val="solid"/>
                    </a:lnR>
                    <a:lnB w="6668">
                      <a:solidFill>
                        <a:srgbClr val="E5DED4"/>
                      </a:solidFill>
                      <a:prstDash val="solid"/>
                    </a:lnB>
                    <a:solidFill>
                      <a:srgbClr val="FAF7F1"/>
                    </a:solidFill>
                  </a:tcPr>
                </a:tc>
                <a:tc>
                  <a:txBody>
                    <a:bodyPr lIns="104775" tIns="104775" rIns="104775" bIns="104775"/>
                    <a:lstStyle/>
                    <a:p>
                      <a:r>
                        <a:rPr sz="1800" b="0">
                          <a:solidFill>
                            <a:srgbClr val="292622"/>
                          </a:solidFill>
                          <a:latin typeface="Arial"/>
                          <a:ea typeface="Arial"/>
                          <a:cs typeface="Arial"/>
                        </a:rPr>
                        <a:t>29,11</a:t>
                      </a:r>
                    </a:p>
                  </a:txBody>
                  <a:tcPr marL="91440" marR="91440" marT="45720" marB="45720" anchor="ctr">
                    <a:lnR w="6668">
                      <a:solidFill>
                        <a:srgbClr val="E5DED4"/>
                      </a:solidFill>
                      <a:prstDash val="solid"/>
                    </a:lnR>
                    <a:lnB w="6668">
                      <a:solidFill>
                        <a:srgbClr val="E5DED4"/>
                      </a:solidFill>
                      <a:prstDash val="solid"/>
                    </a:lnB>
                    <a:solidFill>
                      <a:srgbClr val="FAF7F1"/>
                    </a:solidFill>
                  </a:tcPr>
                </a:tc>
              </a:tr>
              <a:tr h="542925">
                <a:tc>
                  <a:txBody>
                    <a:bodyPr lIns="104775" tIns="104775" rIns="104775" bIns="104775"/>
                    <a:lstStyle/>
                    <a:p>
                      <a:r>
                        <a:rPr sz="1800" b="0">
                          <a:solidFill>
                            <a:srgbClr val="292622"/>
                          </a:solidFill>
                          <a:latin typeface="Arial"/>
                          <a:ea typeface="Arial"/>
                          <a:cs typeface="Arial"/>
                        </a:rPr>
                        <a:t>Độ lệch chuẩn</a:t>
                      </a:r>
                    </a:p>
                  </a:txBody>
                  <a:tcPr marL="91440" marR="91440" marT="45720" marB="45720" anchor="ctr">
                    <a:lnL w="6668">
                      <a:solidFill>
                        <a:srgbClr val="E5DED4"/>
                      </a:solidFill>
                      <a:prstDash val="solid"/>
                    </a:lnL>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00" b="0">
                          <a:solidFill>
                            <a:srgbClr val="292622"/>
                          </a:solidFill>
                          <a:latin typeface="Arial"/>
                          <a:ea typeface="Arial"/>
                          <a:cs typeface="Arial"/>
                        </a:rPr>
                        <a:t>14,53</a:t>
                      </a:r>
                    </a:p>
                  </a:txBody>
                  <a:tcPr marL="91440" marR="91440" marT="45720" marB="45720" anchor="ctr">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00" b="0">
                          <a:solidFill>
                            <a:srgbClr val="292622"/>
                          </a:solidFill>
                          <a:latin typeface="Arial"/>
                          <a:ea typeface="Arial"/>
                          <a:cs typeface="Arial"/>
                        </a:rPr>
                        <a:t>13,02</a:t>
                      </a:r>
                    </a:p>
                  </a:txBody>
                  <a:tcPr marL="91440" marR="91440" marT="45720" marB="45720" anchor="ctr">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00" b="0">
                          <a:solidFill>
                            <a:srgbClr val="292622"/>
                          </a:solidFill>
                          <a:latin typeface="Arial"/>
                          <a:ea typeface="Arial"/>
                          <a:cs typeface="Arial"/>
                        </a:rPr>
                        <a:t>13,30</a:t>
                      </a:r>
                    </a:p>
                  </a:txBody>
                  <a:tcPr marL="91440" marR="91440" marT="45720" marB="45720" anchor="ctr">
                    <a:lnR w="6668">
                      <a:solidFill>
                        <a:srgbClr val="E5DED4"/>
                      </a:solidFill>
                      <a:prstDash val="solid"/>
                    </a:lnR>
                    <a:lnB w="6668">
                      <a:solidFill>
                        <a:srgbClr val="E5DED4"/>
                      </a:solidFill>
                      <a:prstDash val="solid"/>
                    </a:lnB>
                    <a:solidFill>
                      <a:srgbClr val="F0E9DD"/>
                    </a:solidFill>
                  </a:tcPr>
                </a:tc>
              </a:tr>
              <a:tr h="542925">
                <a:tc>
                  <a:txBody>
                    <a:bodyPr lIns="104775" tIns="104775" rIns="104775" bIns="104775"/>
                    <a:lstStyle/>
                    <a:p>
                      <a:r>
                        <a:rPr sz="1800" b="0">
                          <a:solidFill>
                            <a:srgbClr val="292622"/>
                          </a:solidFill>
                          <a:latin typeface="Arial"/>
                          <a:ea typeface="Arial"/>
                          <a:cs typeface="Arial"/>
                        </a:rPr>
                        <a:t>Tỷ lệ sống tuổi &gt;12</a:t>
                      </a:r>
                    </a:p>
                  </a:txBody>
                  <a:tcPr marL="91440" marR="91440" marT="45720" marB="45720" anchor="ctr">
                    <a:lnL w="6668">
                      <a:solidFill>
                        <a:srgbClr val="E5DED4"/>
                      </a:solidFill>
                      <a:prstDash val="solid"/>
                    </a:lnL>
                    <a:lnR w="6668">
                      <a:solidFill>
                        <a:srgbClr val="E5DED4"/>
                      </a:solidFill>
                      <a:prstDash val="solid"/>
                    </a:lnR>
                    <a:lnB w="6668">
                      <a:solidFill>
                        <a:srgbClr val="E5DED4"/>
                      </a:solidFill>
                      <a:prstDash val="solid"/>
                    </a:lnB>
                    <a:solidFill>
                      <a:srgbClr val="FAF7F1"/>
                    </a:solidFill>
                  </a:tcPr>
                </a:tc>
                <a:tc>
                  <a:txBody>
                    <a:bodyPr lIns="104775" tIns="104775" rIns="104775" bIns="104775"/>
                    <a:lstStyle/>
                    <a:p>
                      <a:r>
                        <a:rPr sz="1800" b="0">
                          <a:solidFill>
                            <a:srgbClr val="292622"/>
                          </a:solidFill>
                          <a:latin typeface="Arial"/>
                          <a:ea typeface="Arial"/>
                          <a:cs typeface="Arial"/>
                        </a:rPr>
                        <a:t>38,8%</a:t>
                      </a:r>
                    </a:p>
                  </a:txBody>
                  <a:tcPr marL="91440" marR="91440" marT="45720" marB="45720" anchor="ctr">
                    <a:lnR w="6668">
                      <a:solidFill>
                        <a:srgbClr val="E5DED4"/>
                      </a:solidFill>
                      <a:prstDash val="solid"/>
                    </a:lnR>
                    <a:lnB w="6668">
                      <a:solidFill>
                        <a:srgbClr val="E5DED4"/>
                      </a:solidFill>
                      <a:prstDash val="solid"/>
                    </a:lnB>
                    <a:solidFill>
                      <a:srgbClr val="FAF7F1"/>
                    </a:solidFill>
                  </a:tcPr>
                </a:tc>
                <a:tc>
                  <a:txBody>
                    <a:bodyPr lIns="104775" tIns="104775" rIns="104775" bIns="104775"/>
                    <a:lstStyle/>
                    <a:p>
                      <a:r>
                        <a:rPr sz="1800" b="0">
                          <a:solidFill>
                            <a:srgbClr val="292622"/>
                          </a:solidFill>
                          <a:latin typeface="Arial"/>
                          <a:ea typeface="Arial"/>
                          <a:cs typeface="Arial"/>
                        </a:rPr>
                        <a:t>36,7%</a:t>
                      </a:r>
                    </a:p>
                  </a:txBody>
                  <a:tcPr marL="91440" marR="91440" marT="45720" marB="45720" anchor="ctr">
                    <a:lnR w="6668">
                      <a:solidFill>
                        <a:srgbClr val="E5DED4"/>
                      </a:solidFill>
                      <a:prstDash val="solid"/>
                    </a:lnR>
                    <a:lnB w="6668">
                      <a:solidFill>
                        <a:srgbClr val="E5DED4"/>
                      </a:solidFill>
                      <a:prstDash val="solid"/>
                    </a:lnB>
                    <a:solidFill>
                      <a:srgbClr val="FAF7F1"/>
                    </a:solidFill>
                  </a:tcPr>
                </a:tc>
                <a:tc>
                  <a:txBody>
                    <a:bodyPr lIns="104775" tIns="104775" rIns="104775" bIns="104775"/>
                    <a:lstStyle/>
                    <a:p>
                      <a:r>
                        <a:rPr sz="1800" b="0">
                          <a:solidFill>
                            <a:srgbClr val="292622"/>
                          </a:solidFill>
                          <a:latin typeface="Arial"/>
                          <a:ea typeface="Arial"/>
                          <a:cs typeface="Arial"/>
                        </a:rPr>
                        <a:t>36,7%</a:t>
                      </a:r>
                    </a:p>
                  </a:txBody>
                  <a:tcPr marL="91440" marR="91440" marT="45720" marB="45720" anchor="ctr">
                    <a:lnR w="6668">
                      <a:solidFill>
                        <a:srgbClr val="E5DED4"/>
                      </a:solidFill>
                      <a:prstDash val="solid"/>
                    </a:lnR>
                    <a:lnB w="6668">
                      <a:solidFill>
                        <a:srgbClr val="E5DED4"/>
                      </a:solidFill>
                      <a:prstDash val="solid"/>
                    </a:lnB>
                    <a:solidFill>
                      <a:srgbClr val="FAF7F1"/>
                    </a:solidFill>
                  </a:tcPr>
                </a:tc>
              </a:tr>
            </a:tbl>
          </a:graphicData>
        </a:graphic>
      </p:graphicFrame>
      <p:sp>
        <p:nvSpPr>
          <p:cNvPr id="3" name="">
            <a:extLst xmlns:a="http://schemas.openxmlformats.org/drawingml/2006/main">
              <a:ext uri="{FF2B5EF4-FFF2-40B4-BE49-F238E27FC236}">
                <a16:creationId xmlns:a16="http://schemas.microsoft.com/office/drawing/2014/main" id="{AC81A71E-12CD-454B-8D2E-E0A78B2FC80F}"/>
              </a:ext>
            </a:extLst>
          </p:cNvPr>
          <p:cNvSpPr>
            <a:spLocks xmlns:a="http://schemas.openxmlformats.org/drawingml/2006/main" noGrp="1"/>
          </p:cNvSpPr>
          <p:nvPr/>
        </p:nvSpPr>
        <p:spPr>
          <a:xfrm xmlns:a="http://schemas.openxmlformats.org/drawingml/2006/main">
            <a:off x="714375" y="54864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A65332"/>
                </a:solidFill>
                <a:latin typeface="Arial"/>
                <a:ea typeface="Arial"/>
                <a:cs typeface="Arial"/>
              </a:defRPr>
            </a:defPPr>
          </a:lstStyle>
          <a:p xmlns:a="http://schemas.openxmlformats.org/drawingml/2006/main">
            <a:pPr>
              <a:buNone/>
              <a:defRPr sz="2100" b="1">
                <a:solidFill>
                  <a:srgbClr val="A65332"/>
                </a:solidFill>
                <a:latin typeface="Arial"/>
                <a:ea typeface="Arial"/>
                <a:cs typeface="Arial"/>
              </a:defRPr>
            </a:pPr>
            <a:r>
              <a:rPr sz="2100" b="1">
                <a:solidFill>
                  <a:srgbClr val="A65332"/>
                </a:solidFill>
                <a:latin typeface="Arial"/>
                <a:ea typeface="Arial"/>
                <a:cs typeface="Arial"/>
              </a:rPr>
              <a:t>Chọn A cho phân tích chính. B và C dùng kiểm tra độ nhạy</a:t>
            </a:r>
          </a:p>
        </p:txBody>
      </p:sp>
      <p:sp>
        <p:nvSpPr>
          <p:cNvPr id="4" name="">
            <a:extLst xmlns:a="http://schemas.openxmlformats.org/drawingml/2006/main">
              <a:ext uri="{FF2B5EF4-FFF2-40B4-BE49-F238E27FC236}">
                <a16:creationId xmlns:a16="http://schemas.microsoft.com/office/drawing/2014/main" id="{9F637ACC-0E18-4F9F-828E-086D3525F542}"/>
              </a:ext>
            </a:extLst>
          </p:cNvPr>
          <p:cNvSpPr>
            <a:spLocks xmlns:a="http://schemas.openxmlformats.org/drawingml/2006/main" noGrp="1"/>
          </p:cNvSpPr>
          <p:nvPr/>
        </p:nvSpPr>
        <p:spPr>
          <a:xfrm xmlns:a="http://schemas.openxmlformats.org/drawingml/2006/main">
            <a:off x="714375" y="59817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71675E"/>
                </a:solidFill>
                <a:latin typeface="Arial"/>
                <a:ea typeface="Arial"/>
                <a:cs typeface="Arial"/>
              </a:defRPr>
            </a:defPPr>
          </a:lstStyle>
          <a:p xmlns:a="http://schemas.openxmlformats.org/drawingml/2006/main">
            <a:pPr>
              <a:buNone/>
              <a:defRPr sz="1725" b="0">
                <a:solidFill>
                  <a:srgbClr val="71675E"/>
                </a:solidFill>
                <a:latin typeface="Arial"/>
                <a:ea typeface="Arial"/>
                <a:cs typeface="Arial"/>
              </a:defRPr>
            </a:pPr>
            <a:r>
              <a:rPr sz="1725" b="0">
                <a:solidFill>
                  <a:srgbClr val="71675E"/>
                </a:solidFill>
                <a:latin typeface="Arial"/>
                <a:ea typeface="Arial"/>
                <a:cs typeface="Arial"/>
              </a:rPr>
              <a:t>Điền tuổi thay đổi mẫu số, giảm độ phân tán nhưng không khôi phục tuổi thật</a:t>
            </a:r>
          </a:p>
        </p:txBody>
      </p:sp>
      <p:sp>
        <p:nvSpPr>
          <p:cNvPr id="5" name="">
            <a:extLst xmlns:a="http://schemas.openxmlformats.org/drawingml/2006/main">
              <a:ext uri="{FF2B5EF4-FFF2-40B4-BE49-F238E27FC236}">
                <a16:creationId xmlns:a16="http://schemas.microsoft.com/office/drawing/2014/main" id="{11A0F577-188D-4FAE-87AF-780478D84179}"/>
              </a:ext>
            </a:extLst>
          </p:cNvPr>
          <p:cNvSpPr>
            <a:spLocks xmlns:a="http://schemas.openxmlformats.org/drawingml/2006/main" noGrp="1"/>
          </p:cNvSpPr>
          <p:nvPr/>
        </p:nvSpPr>
        <p:spPr>
          <a:xfrm xmlns:a="http://schemas.openxmlformats.org/drawingml/2006/main">
            <a:off x="609600" y="64198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71675E"/>
                </a:solidFill>
                <a:latin typeface="Arial"/>
                <a:ea typeface="Arial"/>
                <a:cs typeface="Arial"/>
              </a:defRPr>
            </a:defPPr>
          </a:lstStyle>
          <a:p xmlns:a="http://schemas.openxmlformats.org/drawingml/2006/main">
            <a:pPr>
              <a:buNone/>
              <a:defRPr sz="1425" b="0">
                <a:solidFill>
                  <a:srgbClr val="71675E"/>
                </a:solidFill>
                <a:latin typeface="Arial"/>
                <a:ea typeface="Arial"/>
                <a:cs typeface="Arial"/>
              </a:defRPr>
            </a:pPr>
            <a:r>
              <a:rPr sz="1425" b="0">
                <a:solidFill>
                  <a:srgbClr val="71675E"/>
                </a:solidFill>
                <a:latin typeface="Arial"/>
                <a:ea typeface="Arial"/>
                <a:cs typeface="Arial"/>
              </a:rPr>
              <a:t>Phụ lục hỏi đáp</a:t>
            </a:r>
          </a:p>
        </p:txBody>
      </p:sp>
      <p:sp>
        <p:nvSpPr>
          <p:cNvPr id="6" name="">
            <a:extLst xmlns:a="http://schemas.openxmlformats.org/drawingml/2006/main">
              <a:ext uri="{FF2B5EF4-FFF2-40B4-BE49-F238E27FC236}">
                <a16:creationId xmlns:a16="http://schemas.microsoft.com/office/drawing/2014/main" id="{8584530A-F90B-4062-A742-8512B681856C}"/>
              </a:ext>
            </a:extLst>
          </p:cNvPr>
          <p:cNvSpPr>
            <a:spLocks xmlns:a="http://schemas.openxmlformats.org/drawingml/2006/main" noGrp="1"/>
          </p:cNvSpPr>
          <p:nvPr/>
        </p:nvSpPr>
        <p:spPr>
          <a:xfrm xmlns:a="http://schemas.openxmlformats.org/drawingml/2006/main">
            <a:off x="11068050" y="638175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A65332"/>
                </a:solidFill>
                <a:latin typeface="Arial"/>
                <a:ea typeface="Arial"/>
                <a:cs typeface="Arial"/>
              </a:defRPr>
            </a:defPPr>
          </a:lstStyle>
          <a:p xmlns:a="http://schemas.openxmlformats.org/drawingml/2006/main">
            <a:pPr>
              <a:buNone/>
              <a:defRPr sz="1650" b="1">
                <a:solidFill>
                  <a:srgbClr val="A65332"/>
                </a:solidFill>
                <a:latin typeface="Arial"/>
                <a:ea typeface="Arial"/>
                <a:cs typeface="Arial"/>
              </a:defRPr>
            </a:pPr>
            <a:r>
              <a:rPr sz="1650" b="1">
                <a:solidFill>
                  <a:srgbClr val="A65332"/>
                </a:solidFill>
                <a:latin typeface="Arial"/>
                <a:ea typeface="Arial"/>
                <a:cs typeface="Arial"/>
              </a:rPr>
              <a:t>09</a:t>
            </a:r>
          </a:p>
        </p:txBody>
      </p:sp>
    </p:spTree>
    <p:extLst>
      <p:ext uri="{BB962C8B-B14F-4D97-AF65-F5344CB8AC3E}">
        <p14:creationId xmlns:p14="http://schemas.microsoft.com/office/powerpoint/2010/main" val="18883226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3AC341-2F1E-46B8-8A27-8F8851FE34C0}"/>
              </a:ext>
            </a:extLst>
          </p:cNvPr>
          <p:cNvSpPr>
            <a:spLocks xmlns:a="http://schemas.openxmlformats.org/drawingml/2006/main" noGrp="1"/>
          </p:cNvSpPr>
          <p:nvPr/>
        </p:nvSpPr>
        <p:spPr>
          <a:xfrm xmlns:a="http://schemas.openxmlformats.org/drawingml/2006/main">
            <a:off x="609600" y="42862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92622"/>
                </a:solidFill>
                <a:latin typeface="Arial"/>
                <a:ea typeface="Arial"/>
                <a:cs typeface="Arial"/>
              </a:defRPr>
            </a:defPPr>
          </a:lstStyle>
          <a:p xmlns:a="http://schemas.openxmlformats.org/drawingml/2006/main">
            <a:pPr>
              <a:buNone/>
              <a:defRPr sz="3300" b="1">
                <a:solidFill>
                  <a:srgbClr val="292622"/>
                </a:solidFill>
                <a:latin typeface="Arial"/>
                <a:ea typeface="Arial"/>
                <a:cs typeface="Arial"/>
              </a:defRPr>
            </a:pPr>
            <a:r>
              <a:rPr sz="3300" b="1">
                <a:solidFill>
                  <a:srgbClr val="292622"/>
                </a:solidFill>
                <a:latin typeface="Arial"/>
                <a:ea typeface="Arial"/>
                <a:cs typeface="Arial"/>
              </a:rPr>
              <a:t>Phụ lục: Vì sao nhóm 4 có tỷ lệ cao nhất?</a:t>
            </a:r>
          </a:p>
        </p:txBody>
      </p:sp>
      <p:graphicFrame>
        <p:nvGraphicFramePr>
          <p:cNvPr id="2" name="">
            <a:extLst xmlns:a="http://schemas.openxmlformats.org/drawingml/2006/main">
              <a:ext uri="{FF2B5EF4-FFF2-40B4-BE49-F238E27FC236}">
                <a16:creationId xmlns:a16="http://schemas.microsoft.com/office/drawing/2014/main" id="{A186A031-65CD-42A1-8274-D34D6F07ED32}"/>
              </a:ext>
            </a:extLst>
          </p:cNvPr>
          <p:cNvGraphicFramePr/>
          <p:nvPr/>
        </p:nvGraphicFramePr>
        <p:xfrm>
          <a:off xmlns:a="http://schemas.openxmlformats.org/drawingml/2006/main" x="666750" y="2009775"/>
          <a:ext xmlns:a="http://schemas.openxmlformats.org/drawingml/2006/main" cx="10763250" cy="3143250"/>
        </p:xfrm>
        <a:graphic xmlns:a="http://schemas.openxmlformats.org/drawingml/2006/main">
          <a:graphicData uri="http://schemas.openxmlformats.org/drawingml/2006/table">
            <a:tbl>
              <a:tblPr/>
              <a:tblGrid>
                <a:gridCol w="3048000"/>
                <a:gridCol w="2571750"/>
                <a:gridCol w="2571750"/>
                <a:gridCol w="2571750"/>
              </a:tblGrid>
              <a:tr h="628650">
                <a:tc>
                  <a:txBody>
                    <a:bodyPr lIns="104775" tIns="104775" rIns="104775" bIns="104775"/>
                    <a:lstStyle/>
                    <a:p>
                      <a:r>
                        <a:rPr sz="1875" b="1">
                          <a:solidFill>
                            <a:srgbClr val="FFFFFF"/>
                          </a:solidFill>
                          <a:latin typeface="Arial"/>
                          <a:ea typeface="Arial"/>
                          <a:cs typeface="Arial"/>
                        </a:rPr>
                        <a:t>Chỉ tiêu</a:t>
                      </a:r>
                    </a:p>
                  </a:txBody>
                  <a:tcPr marL="91440" marR="91440" marT="45720" marB="45720" anchor="ctr">
                    <a:lnL w="6668">
                      <a:solidFill>
                        <a:srgbClr val="E5DED4"/>
                      </a:solidFill>
                      <a:prstDash val="solid"/>
                    </a:lnL>
                    <a:lnR w="6668">
                      <a:solidFill>
                        <a:srgbClr val="E5DED4"/>
                      </a:solidFill>
                      <a:prstDash val="solid"/>
                    </a:lnR>
                    <a:lnT w="6668">
                      <a:solidFill>
                        <a:srgbClr val="E5DED4"/>
                      </a:solidFill>
                      <a:prstDash val="solid"/>
                    </a:lnT>
                    <a:lnB w="6668">
                      <a:solidFill>
                        <a:srgbClr val="E5DED4"/>
                      </a:solidFill>
                      <a:prstDash val="solid"/>
                    </a:lnB>
                    <a:solidFill>
                      <a:srgbClr val="493A2E"/>
                    </a:solidFill>
                  </a:tcPr>
                </a:tc>
                <a:tc>
                  <a:txBody>
                    <a:bodyPr lIns="104775" tIns="104775" rIns="104775" bIns="104775"/>
                    <a:lstStyle/>
                    <a:p>
                      <a:r>
                        <a:rPr sz="1875" b="1">
                          <a:solidFill>
                            <a:srgbClr val="FFFFFF"/>
                          </a:solidFill>
                          <a:latin typeface="Arial"/>
                          <a:ea typeface="Arial"/>
                          <a:cs typeface="Arial"/>
                        </a:rPr>
                        <a:t>Đi một mình</a:t>
                      </a:r>
                    </a:p>
                  </a:txBody>
                  <a:tcPr marL="91440" marR="91440" marT="45720" marB="45720" anchor="ctr">
                    <a:lnR w="6668">
                      <a:solidFill>
                        <a:srgbClr val="E5DED4"/>
                      </a:solidFill>
                      <a:prstDash val="solid"/>
                    </a:lnR>
                    <a:lnT w="6668">
                      <a:solidFill>
                        <a:srgbClr val="E5DED4"/>
                      </a:solidFill>
                      <a:prstDash val="solid"/>
                    </a:lnT>
                    <a:lnB w="6668">
                      <a:solidFill>
                        <a:srgbClr val="E5DED4"/>
                      </a:solidFill>
                      <a:prstDash val="solid"/>
                    </a:lnB>
                    <a:solidFill>
                      <a:srgbClr val="493A2E"/>
                    </a:solidFill>
                  </a:tcPr>
                </a:tc>
                <a:tc>
                  <a:txBody>
                    <a:bodyPr lIns="104775" tIns="104775" rIns="104775" bIns="104775"/>
                    <a:lstStyle/>
                    <a:p>
                      <a:r>
                        <a:rPr sz="1875" b="1">
                          <a:solidFill>
                            <a:srgbClr val="FFFFFF"/>
                          </a:solidFill>
                          <a:latin typeface="Arial"/>
                          <a:ea typeface="Arial"/>
                          <a:cs typeface="Arial"/>
                        </a:rPr>
                        <a:t>Quy mô 4</a:t>
                      </a:r>
                    </a:p>
                  </a:txBody>
                  <a:tcPr marL="91440" marR="91440" marT="45720" marB="45720" anchor="ctr">
                    <a:lnR w="6668">
                      <a:solidFill>
                        <a:srgbClr val="E5DED4"/>
                      </a:solidFill>
                      <a:prstDash val="solid"/>
                    </a:lnR>
                    <a:lnT w="6668">
                      <a:solidFill>
                        <a:srgbClr val="E5DED4"/>
                      </a:solidFill>
                      <a:prstDash val="solid"/>
                    </a:lnT>
                    <a:lnB w="6668">
                      <a:solidFill>
                        <a:srgbClr val="E5DED4"/>
                      </a:solidFill>
                      <a:prstDash val="solid"/>
                    </a:lnB>
                    <a:solidFill>
                      <a:srgbClr val="493A2E"/>
                    </a:solidFill>
                  </a:tcPr>
                </a:tc>
                <a:tc>
                  <a:txBody>
                    <a:bodyPr lIns="104775" tIns="104775" rIns="104775" bIns="104775"/>
                    <a:lstStyle/>
                    <a:p>
                      <a:r>
                        <a:rPr sz="1875" b="1">
                          <a:solidFill>
                            <a:srgbClr val="FFFFFF"/>
                          </a:solidFill>
                          <a:latin typeface="Arial"/>
                          <a:ea typeface="Arial"/>
                          <a:cs typeface="Arial"/>
                        </a:rPr>
                        <a:t>Quy mô 5</a:t>
                      </a:r>
                    </a:p>
                  </a:txBody>
                  <a:tcPr marL="91440" marR="91440" marT="45720" marB="45720" anchor="ctr">
                    <a:lnR w="6668">
                      <a:solidFill>
                        <a:srgbClr val="E5DED4"/>
                      </a:solidFill>
                      <a:prstDash val="solid"/>
                    </a:lnR>
                    <a:lnT w="6668">
                      <a:solidFill>
                        <a:srgbClr val="E5DED4"/>
                      </a:solidFill>
                      <a:prstDash val="solid"/>
                    </a:lnT>
                    <a:lnB w="6668">
                      <a:solidFill>
                        <a:srgbClr val="E5DED4"/>
                      </a:solidFill>
                      <a:prstDash val="solid"/>
                    </a:lnB>
                    <a:solidFill>
                      <a:srgbClr val="493A2E"/>
                    </a:solidFill>
                  </a:tcPr>
                </a:tc>
              </a:tr>
              <a:tr h="628650">
                <a:tc>
                  <a:txBody>
                    <a:bodyPr lIns="104775" tIns="104775" rIns="104775" bIns="104775"/>
                    <a:lstStyle/>
                    <a:p>
                      <a:r>
                        <a:rPr sz="1875" b="0">
                          <a:solidFill>
                            <a:srgbClr val="292622"/>
                          </a:solidFill>
                          <a:latin typeface="Arial"/>
                          <a:ea typeface="Arial"/>
                          <a:cs typeface="Arial"/>
                        </a:rPr>
                        <a:t>Số sống / tổng</a:t>
                      </a:r>
                    </a:p>
                  </a:txBody>
                  <a:tcPr marL="91440" marR="91440" marT="45720" marB="45720" anchor="ctr">
                    <a:lnL w="6668">
                      <a:solidFill>
                        <a:srgbClr val="E5DED4"/>
                      </a:solidFill>
                      <a:prstDash val="solid"/>
                    </a:lnL>
                    <a:lnR w="6668">
                      <a:solidFill>
                        <a:srgbClr val="E5DED4"/>
                      </a:solidFill>
                      <a:prstDash val="solid"/>
                    </a:lnR>
                    <a:lnB w="6668">
                      <a:solidFill>
                        <a:srgbClr val="E5DED4"/>
                      </a:solidFill>
                      <a:prstDash val="solid"/>
                    </a:lnB>
                    <a:solidFill>
                      <a:srgbClr val="FFFFFF"/>
                    </a:solidFill>
                  </a:tcPr>
                </a:tc>
                <a:tc>
                  <a:txBody>
                    <a:bodyPr lIns="104775" tIns="104775" rIns="104775" bIns="104775"/>
                    <a:lstStyle/>
                    <a:p>
                      <a:r>
                        <a:rPr sz="1875" b="0">
                          <a:solidFill>
                            <a:srgbClr val="292622"/>
                          </a:solidFill>
                          <a:latin typeface="Arial"/>
                          <a:ea typeface="Arial"/>
                          <a:cs typeface="Arial"/>
                        </a:rPr>
                        <a:t>163/537</a:t>
                      </a:r>
                    </a:p>
                  </a:txBody>
                  <a:tcPr marL="91440" marR="91440" marT="45720" marB="45720" anchor="ctr">
                    <a:lnR w="6668">
                      <a:solidFill>
                        <a:srgbClr val="E5DED4"/>
                      </a:solidFill>
                      <a:prstDash val="solid"/>
                    </a:lnR>
                    <a:lnB w="6668">
                      <a:solidFill>
                        <a:srgbClr val="E5DED4"/>
                      </a:solidFill>
                      <a:prstDash val="solid"/>
                    </a:lnB>
                    <a:solidFill>
                      <a:srgbClr val="FFFFFF"/>
                    </a:solidFill>
                  </a:tcPr>
                </a:tc>
                <a:tc>
                  <a:txBody>
                    <a:bodyPr lIns="104775" tIns="104775" rIns="104775" bIns="104775"/>
                    <a:lstStyle/>
                    <a:p>
                      <a:r>
                        <a:rPr sz="1875" b="0">
                          <a:solidFill>
                            <a:srgbClr val="292622"/>
                          </a:solidFill>
                          <a:latin typeface="Arial"/>
                          <a:ea typeface="Arial"/>
                          <a:cs typeface="Arial"/>
                        </a:rPr>
                        <a:t>21/29</a:t>
                      </a:r>
                    </a:p>
                  </a:txBody>
                  <a:tcPr marL="91440" marR="91440" marT="45720" marB="45720" anchor="ctr">
                    <a:lnR w="6668">
                      <a:solidFill>
                        <a:srgbClr val="E5DED4"/>
                      </a:solidFill>
                      <a:prstDash val="solid"/>
                    </a:lnR>
                    <a:lnB w="6668">
                      <a:solidFill>
                        <a:srgbClr val="E5DED4"/>
                      </a:solidFill>
                      <a:prstDash val="solid"/>
                    </a:lnB>
                    <a:solidFill>
                      <a:srgbClr val="FFFFFF"/>
                    </a:solidFill>
                  </a:tcPr>
                </a:tc>
                <a:tc>
                  <a:txBody>
                    <a:bodyPr lIns="104775" tIns="104775" rIns="104775" bIns="104775"/>
                    <a:lstStyle/>
                    <a:p>
                      <a:r>
                        <a:rPr sz="1875" b="0">
                          <a:solidFill>
                            <a:srgbClr val="292622"/>
                          </a:solidFill>
                          <a:latin typeface="Arial"/>
                          <a:ea typeface="Arial"/>
                          <a:cs typeface="Arial"/>
                        </a:rPr>
                        <a:t>3/15</a:t>
                      </a:r>
                    </a:p>
                  </a:txBody>
                  <a:tcPr marL="91440" marR="91440" marT="45720" marB="45720" anchor="ctr">
                    <a:lnR w="6668">
                      <a:solidFill>
                        <a:srgbClr val="E5DED4"/>
                      </a:solidFill>
                      <a:prstDash val="solid"/>
                    </a:lnR>
                    <a:lnB w="6668">
                      <a:solidFill>
                        <a:srgbClr val="E5DED4"/>
                      </a:solidFill>
                      <a:prstDash val="solid"/>
                    </a:lnB>
                    <a:solidFill>
                      <a:srgbClr val="FFFFFF"/>
                    </a:solidFill>
                  </a:tcPr>
                </a:tc>
              </a:tr>
              <a:tr h="628650">
                <a:tc>
                  <a:txBody>
                    <a:bodyPr lIns="104775" tIns="104775" rIns="104775" bIns="104775"/>
                    <a:lstStyle/>
                    <a:p>
                      <a:r>
                        <a:rPr sz="1875" b="0">
                          <a:solidFill>
                            <a:srgbClr val="292622"/>
                          </a:solidFill>
                          <a:latin typeface="Arial"/>
                          <a:ea typeface="Arial"/>
                          <a:cs typeface="Arial"/>
                        </a:rPr>
                        <a:t>Tỷ lệ sống</a:t>
                      </a:r>
                    </a:p>
                  </a:txBody>
                  <a:tcPr marL="91440" marR="91440" marT="45720" marB="45720" anchor="ctr">
                    <a:lnL w="6668">
                      <a:solidFill>
                        <a:srgbClr val="E5DED4"/>
                      </a:solidFill>
                      <a:prstDash val="solid"/>
                    </a:lnL>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75" b="0">
                          <a:solidFill>
                            <a:srgbClr val="292622"/>
                          </a:solidFill>
                          <a:latin typeface="Arial"/>
                          <a:ea typeface="Arial"/>
                          <a:cs typeface="Arial"/>
                        </a:rPr>
                        <a:t>30,4%</a:t>
                      </a:r>
                    </a:p>
                  </a:txBody>
                  <a:tcPr marL="91440" marR="91440" marT="45720" marB="45720" anchor="ctr">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75" b="0">
                          <a:solidFill>
                            <a:srgbClr val="292622"/>
                          </a:solidFill>
                          <a:latin typeface="Arial"/>
                          <a:ea typeface="Arial"/>
                          <a:cs typeface="Arial"/>
                        </a:rPr>
                        <a:t>72,4%</a:t>
                      </a:r>
                    </a:p>
                  </a:txBody>
                  <a:tcPr marL="91440" marR="91440" marT="45720" marB="45720" anchor="ctr">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75" b="0">
                          <a:solidFill>
                            <a:srgbClr val="292622"/>
                          </a:solidFill>
                          <a:latin typeface="Arial"/>
                          <a:ea typeface="Arial"/>
                          <a:cs typeface="Arial"/>
                        </a:rPr>
                        <a:t>20,0%</a:t>
                      </a:r>
                    </a:p>
                  </a:txBody>
                  <a:tcPr marL="91440" marR="91440" marT="45720" marB="45720" anchor="ctr">
                    <a:lnR w="6668">
                      <a:solidFill>
                        <a:srgbClr val="E5DED4"/>
                      </a:solidFill>
                      <a:prstDash val="solid"/>
                    </a:lnR>
                    <a:lnB w="6668">
                      <a:solidFill>
                        <a:srgbClr val="E5DED4"/>
                      </a:solidFill>
                      <a:prstDash val="solid"/>
                    </a:lnB>
                    <a:solidFill>
                      <a:srgbClr val="F0E9DD"/>
                    </a:solidFill>
                  </a:tcPr>
                </a:tc>
              </a:tr>
              <a:tr h="628650">
                <a:tc>
                  <a:txBody>
                    <a:bodyPr lIns="104775" tIns="104775" rIns="104775" bIns="104775"/>
                    <a:lstStyle/>
                    <a:p>
                      <a:r>
                        <a:rPr sz="1875" b="0">
                          <a:solidFill>
                            <a:srgbClr val="292622"/>
                          </a:solidFill>
                          <a:latin typeface="Arial"/>
                          <a:ea typeface="Arial"/>
                          <a:cs typeface="Arial"/>
                        </a:rPr>
                        <a:t>Tỷ trọng nữ</a:t>
                      </a:r>
                    </a:p>
                  </a:txBody>
                  <a:tcPr marL="91440" marR="91440" marT="45720" marB="45720" anchor="ctr">
                    <a:lnL w="6668">
                      <a:solidFill>
                        <a:srgbClr val="E5DED4"/>
                      </a:solidFill>
                      <a:prstDash val="solid"/>
                    </a:lnL>
                    <a:lnR w="6668">
                      <a:solidFill>
                        <a:srgbClr val="E5DED4"/>
                      </a:solidFill>
                      <a:prstDash val="solid"/>
                    </a:lnR>
                    <a:lnB w="6668">
                      <a:solidFill>
                        <a:srgbClr val="E5DED4"/>
                      </a:solidFill>
                      <a:prstDash val="solid"/>
                    </a:lnB>
                    <a:solidFill>
                      <a:srgbClr val="FFFFFF"/>
                    </a:solidFill>
                  </a:tcPr>
                </a:tc>
                <a:tc>
                  <a:txBody>
                    <a:bodyPr lIns="104775" tIns="104775" rIns="104775" bIns="104775"/>
                    <a:lstStyle/>
                    <a:p>
                      <a:r>
                        <a:rPr sz="1875" b="0">
                          <a:solidFill>
                            <a:srgbClr val="292622"/>
                          </a:solidFill>
                          <a:latin typeface="Arial"/>
                          <a:ea typeface="Arial"/>
                          <a:cs typeface="Arial"/>
                        </a:rPr>
                        <a:t>23,5%</a:t>
                      </a:r>
                    </a:p>
                  </a:txBody>
                  <a:tcPr marL="91440" marR="91440" marT="45720" marB="45720" anchor="ctr">
                    <a:lnR w="6668">
                      <a:solidFill>
                        <a:srgbClr val="E5DED4"/>
                      </a:solidFill>
                      <a:prstDash val="solid"/>
                    </a:lnR>
                    <a:lnB w="6668">
                      <a:solidFill>
                        <a:srgbClr val="E5DED4"/>
                      </a:solidFill>
                      <a:prstDash val="solid"/>
                    </a:lnB>
                    <a:solidFill>
                      <a:srgbClr val="FFFFFF"/>
                    </a:solidFill>
                  </a:tcPr>
                </a:tc>
                <a:tc>
                  <a:txBody>
                    <a:bodyPr lIns="104775" tIns="104775" rIns="104775" bIns="104775"/>
                    <a:lstStyle/>
                    <a:p>
                      <a:r>
                        <a:rPr sz="1875" b="0">
                          <a:solidFill>
                            <a:srgbClr val="292622"/>
                          </a:solidFill>
                          <a:latin typeface="Arial"/>
                          <a:ea typeface="Arial"/>
                          <a:cs typeface="Arial"/>
                        </a:rPr>
                        <a:t>65,5%</a:t>
                      </a:r>
                    </a:p>
                  </a:txBody>
                  <a:tcPr marL="91440" marR="91440" marT="45720" marB="45720" anchor="ctr">
                    <a:lnR w="6668">
                      <a:solidFill>
                        <a:srgbClr val="E5DED4"/>
                      </a:solidFill>
                      <a:prstDash val="solid"/>
                    </a:lnR>
                    <a:lnB w="6668">
                      <a:solidFill>
                        <a:srgbClr val="E5DED4"/>
                      </a:solidFill>
                      <a:prstDash val="solid"/>
                    </a:lnB>
                    <a:solidFill>
                      <a:srgbClr val="FFFFFF"/>
                    </a:solidFill>
                  </a:tcPr>
                </a:tc>
                <a:tc>
                  <a:txBody>
                    <a:bodyPr lIns="104775" tIns="104775" rIns="104775" bIns="104775"/>
                    <a:lstStyle/>
                    <a:p>
                      <a:r>
                        <a:rPr sz="1875" b="0">
                          <a:solidFill>
                            <a:srgbClr val="292622"/>
                          </a:solidFill>
                          <a:latin typeface="Arial"/>
                          <a:ea typeface="Arial"/>
                          <a:cs typeface="Arial"/>
                        </a:rPr>
                        <a:t>80,0%</a:t>
                      </a:r>
                    </a:p>
                  </a:txBody>
                  <a:tcPr marL="91440" marR="91440" marT="45720" marB="45720" anchor="ctr">
                    <a:lnR w="6668">
                      <a:solidFill>
                        <a:srgbClr val="E5DED4"/>
                      </a:solidFill>
                      <a:prstDash val="solid"/>
                    </a:lnR>
                    <a:lnB w="6668">
                      <a:solidFill>
                        <a:srgbClr val="E5DED4"/>
                      </a:solidFill>
                      <a:prstDash val="solid"/>
                    </a:lnB>
                    <a:solidFill>
                      <a:srgbClr val="FFFFFF"/>
                    </a:solidFill>
                  </a:tcPr>
                </a:tc>
              </a:tr>
              <a:tr h="628650">
                <a:tc>
                  <a:txBody>
                    <a:bodyPr lIns="104775" tIns="104775" rIns="104775" bIns="104775"/>
                    <a:lstStyle/>
                    <a:p>
                      <a:r>
                        <a:rPr sz="1875" b="0">
                          <a:solidFill>
                            <a:srgbClr val="292622"/>
                          </a:solidFill>
                          <a:latin typeface="Arial"/>
                          <a:ea typeface="Arial"/>
                          <a:cs typeface="Arial"/>
                        </a:rPr>
                        <a:t>Tỷ trọng hạng 3</a:t>
                      </a:r>
                    </a:p>
                  </a:txBody>
                  <a:tcPr marL="91440" marR="91440" marT="45720" marB="45720" anchor="ctr">
                    <a:lnL w="6668">
                      <a:solidFill>
                        <a:srgbClr val="E5DED4"/>
                      </a:solidFill>
                      <a:prstDash val="solid"/>
                    </a:lnL>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75" b="0">
                          <a:solidFill>
                            <a:srgbClr val="292622"/>
                          </a:solidFill>
                          <a:latin typeface="Arial"/>
                          <a:ea typeface="Arial"/>
                          <a:cs typeface="Arial"/>
                        </a:rPr>
                        <a:t>60,3%</a:t>
                      </a:r>
                    </a:p>
                  </a:txBody>
                  <a:tcPr marL="91440" marR="91440" marT="45720" marB="45720" anchor="ctr">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75" b="0">
                          <a:solidFill>
                            <a:srgbClr val="292622"/>
                          </a:solidFill>
                          <a:latin typeface="Arial"/>
                          <a:ea typeface="Arial"/>
                          <a:cs typeface="Arial"/>
                        </a:rPr>
                        <a:t>31,0%</a:t>
                      </a:r>
                    </a:p>
                  </a:txBody>
                  <a:tcPr marL="91440" marR="91440" marT="45720" marB="45720" anchor="ctr">
                    <a:lnR w="6668">
                      <a:solidFill>
                        <a:srgbClr val="E5DED4"/>
                      </a:solidFill>
                      <a:prstDash val="solid"/>
                    </a:lnR>
                    <a:lnB w="6668">
                      <a:solidFill>
                        <a:srgbClr val="E5DED4"/>
                      </a:solidFill>
                      <a:prstDash val="solid"/>
                    </a:lnB>
                    <a:solidFill>
                      <a:srgbClr val="F0E9DD"/>
                    </a:solidFill>
                  </a:tcPr>
                </a:tc>
                <a:tc>
                  <a:txBody>
                    <a:bodyPr lIns="104775" tIns="104775" rIns="104775" bIns="104775"/>
                    <a:lstStyle/>
                    <a:p>
                      <a:r>
                        <a:rPr sz="1875" b="0">
                          <a:solidFill>
                            <a:srgbClr val="292622"/>
                          </a:solidFill>
                          <a:latin typeface="Arial"/>
                          <a:ea typeface="Arial"/>
                          <a:cs typeface="Arial"/>
                        </a:rPr>
                        <a:t>80,0%</a:t>
                      </a:r>
                    </a:p>
                  </a:txBody>
                  <a:tcPr marL="91440" marR="91440" marT="45720" marB="45720" anchor="ctr">
                    <a:lnR w="6668">
                      <a:solidFill>
                        <a:srgbClr val="E5DED4"/>
                      </a:solidFill>
                      <a:prstDash val="solid"/>
                    </a:lnR>
                    <a:lnB w="6668">
                      <a:solidFill>
                        <a:srgbClr val="E5DED4"/>
                      </a:solidFill>
                      <a:prstDash val="solid"/>
                    </a:lnB>
                    <a:solidFill>
                      <a:srgbClr val="F0E9DD"/>
                    </a:solidFill>
                  </a:tcPr>
                </a:tc>
              </a:tr>
            </a:tbl>
          </a:graphicData>
        </a:graphic>
      </p:graphicFrame>
      <p:sp>
        <p:nvSpPr>
          <p:cNvPr id="3" name="">
            <a:extLst xmlns:a="http://schemas.openxmlformats.org/drawingml/2006/main">
              <a:ext uri="{FF2B5EF4-FFF2-40B4-BE49-F238E27FC236}">
                <a16:creationId xmlns:a16="http://schemas.microsoft.com/office/drawing/2014/main" id="{845F2DFA-3CEB-483D-9381-86CED70E704A}"/>
              </a:ext>
            </a:extLst>
          </p:cNvPr>
          <p:cNvSpPr>
            <a:spLocks xmlns:a="http://schemas.openxmlformats.org/drawingml/2006/main" noGrp="1"/>
          </p:cNvSpPr>
          <p:nvPr/>
        </p:nvSpPr>
        <p:spPr>
          <a:xfrm xmlns:a="http://schemas.openxmlformats.org/drawingml/2006/main">
            <a:off x="714375" y="5410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A65332"/>
                </a:solidFill>
                <a:latin typeface="Arial"/>
                <a:ea typeface="Arial"/>
                <a:cs typeface="Arial"/>
              </a:defRPr>
            </a:defPPr>
          </a:lstStyle>
          <a:p xmlns:a="http://schemas.openxmlformats.org/drawingml/2006/main">
            <a:pPr>
              <a:buNone/>
              <a:defRPr sz="1950" b="1">
                <a:solidFill>
                  <a:srgbClr val="A65332"/>
                </a:solidFill>
                <a:latin typeface="Arial"/>
                <a:ea typeface="Arial"/>
                <a:cs typeface="Arial"/>
              </a:defRPr>
            </a:pPr>
            <a:r>
              <a:rPr sz="1950" b="1">
                <a:solidFill>
                  <a:srgbClr val="A65332"/>
                </a:solidFill>
                <a:latin typeface="Arial"/>
                <a:ea typeface="Arial"/>
                <a:cs typeface="Arial"/>
              </a:rPr>
              <a:t>Nhóm 4 nhiều nữ hơn nhóm đơn và ít hạng 3 hơn nhóm 5.</a:t>
            </a:r>
          </a:p>
          <a:p xmlns:a="http://schemas.openxmlformats.org/drawingml/2006/main">
            <a:pPr>
              <a:buNone/>
              <a:defRPr sz="1950" b="1">
                <a:solidFill>
                  <a:srgbClr val="A65332"/>
                </a:solidFill>
                <a:latin typeface="Arial"/>
                <a:ea typeface="Arial"/>
                <a:cs typeface="Arial"/>
              </a:defRPr>
            </a:pPr>
            <a:r>
              <a:rPr sz="1950" b="1">
                <a:solidFill>
                  <a:srgbClr val="A65332"/>
                </a:solidFill>
                <a:latin typeface="Arial"/>
                <a:ea typeface="Arial"/>
                <a:cs typeface="Arial"/>
              </a:rPr>
              <a:t>Đây là khác biệt thành phần, chưa giải thích toàn bộ chênh lệch</a:t>
            </a:r>
          </a:p>
        </p:txBody>
      </p:sp>
      <p:sp>
        <p:nvSpPr>
          <p:cNvPr id="4" name="">
            <a:extLst xmlns:a="http://schemas.openxmlformats.org/drawingml/2006/main">
              <a:ext uri="{FF2B5EF4-FFF2-40B4-BE49-F238E27FC236}">
                <a16:creationId xmlns:a16="http://schemas.microsoft.com/office/drawing/2014/main" id="{80C14CD1-2A56-41E2-81F1-D618F57C39BA}"/>
              </a:ext>
            </a:extLst>
          </p:cNvPr>
          <p:cNvSpPr>
            <a:spLocks xmlns:a="http://schemas.openxmlformats.org/drawingml/2006/main" noGrp="1"/>
          </p:cNvSpPr>
          <p:nvPr/>
        </p:nvSpPr>
        <p:spPr>
          <a:xfrm xmlns:a="http://schemas.openxmlformats.org/drawingml/2006/main">
            <a:off x="609600" y="64198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71675E"/>
                </a:solidFill>
                <a:latin typeface="Arial"/>
                <a:ea typeface="Arial"/>
                <a:cs typeface="Arial"/>
              </a:defRPr>
            </a:defPPr>
          </a:lstStyle>
          <a:p xmlns:a="http://schemas.openxmlformats.org/drawingml/2006/main">
            <a:pPr>
              <a:buNone/>
              <a:defRPr sz="1425" b="0">
                <a:solidFill>
                  <a:srgbClr val="71675E"/>
                </a:solidFill>
                <a:latin typeface="Arial"/>
                <a:ea typeface="Arial"/>
                <a:cs typeface="Arial"/>
              </a:defRPr>
            </a:pPr>
            <a:r>
              <a:rPr sz="1425" b="0">
                <a:solidFill>
                  <a:srgbClr val="71675E"/>
                </a:solidFill>
                <a:latin typeface="Arial"/>
                <a:ea typeface="Arial"/>
                <a:cs typeface="Arial"/>
              </a:rPr>
              <a:t>Phụ lục hỏi đáp</a:t>
            </a:r>
          </a:p>
        </p:txBody>
      </p:sp>
      <p:sp>
        <p:nvSpPr>
          <p:cNvPr id="5" name="">
            <a:extLst xmlns:a="http://schemas.openxmlformats.org/drawingml/2006/main">
              <a:ext uri="{FF2B5EF4-FFF2-40B4-BE49-F238E27FC236}">
                <a16:creationId xmlns:a16="http://schemas.microsoft.com/office/drawing/2014/main" id="{8948268A-49D7-4C1B-A10E-071A52AC6501}"/>
              </a:ext>
            </a:extLst>
          </p:cNvPr>
          <p:cNvSpPr>
            <a:spLocks xmlns:a="http://schemas.openxmlformats.org/drawingml/2006/main" noGrp="1"/>
          </p:cNvSpPr>
          <p:nvPr/>
        </p:nvSpPr>
        <p:spPr>
          <a:xfrm xmlns:a="http://schemas.openxmlformats.org/drawingml/2006/main">
            <a:off x="11068050" y="638175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A65332"/>
                </a:solidFill>
                <a:latin typeface="Arial"/>
                <a:ea typeface="Arial"/>
                <a:cs typeface="Arial"/>
              </a:defRPr>
            </a:defPPr>
          </a:lstStyle>
          <a:p xmlns:a="http://schemas.openxmlformats.org/drawingml/2006/main">
            <a:pPr>
              <a:buNone/>
              <a:defRPr sz="1650" b="1">
                <a:solidFill>
                  <a:srgbClr val="A65332"/>
                </a:solidFill>
                <a:latin typeface="Arial"/>
                <a:ea typeface="Arial"/>
                <a:cs typeface="Arial"/>
              </a:defRPr>
            </a:pPr>
            <a:r>
              <a:rPr sz="1650" b="1">
                <a:solidFill>
                  <a:srgbClr val="A65332"/>
                </a:solidFill>
                <a:latin typeface="Arial"/>
                <a:ea typeface="Arial"/>
                <a:cs typeface="Arial"/>
              </a:rPr>
              <a:t>10</a:t>
            </a:r>
          </a:p>
        </p:txBody>
      </p:sp>
    </p:spTree>
    <p:extLst>
      <p:ext uri="{BB962C8B-B14F-4D97-AF65-F5344CB8AC3E}">
        <p14:creationId xmlns:p14="http://schemas.microsoft.com/office/powerpoint/2010/main" val="20674604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2026-10-15T01:38:59.5260000Z</dcterms:created>
  <dcterms:modified xsi:type="dcterms:W3CDTF">2026-10-15T01:38:59.5260000Z</dcterms:modified>
</coreProperties>
</file>